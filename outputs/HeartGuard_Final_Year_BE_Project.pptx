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Accuracy</c:v>
          </c:tx>
          <c:spPr>
            <a:solidFill>
              <a:srgbClr val="0B6EFD"/>
            </a:solidFill>
          </c:spPr>
          <c:invertIfNegative val="1"/>
          <c:dLbls>
            <c:delete val="1"/>
          </c:dLbls>
          <c:cat>
            <c:strLit>
              <c:ptCount val="3"/>
              <c:pt idx="0">
                <c:v>Logistic</c:v>
              </c:pt>
              <c:pt idx="1">
                <c:v>Random Forest</c:v>
              </c:pt>
              <c:pt idx="2">
                <c:v>XGBoost</c:v>
              </c:pt>
            </c:strLit>
          </c:cat>
          <c:val>
            <c:numLit>
              <c:formatCode>0</c:formatCode>
              <c:ptCount val="3"/>
              <c:pt idx="0">
                <c:v>82</c:v>
              </c:pt>
              <c:pt idx="1">
                <c:v>87</c:v>
              </c:pt>
              <c:pt idx="2">
                <c:v>91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A74-48E1-B4A2-C717DB5C87A2}"/>
            </c:ext>
          </c:extLst>
        </c:ser>
        <c:ser>
          <c:idx val="1"/>
          <c:order val="1"/>
          <c:tx>
            <c:v>F1 Score</c:v>
          </c:tx>
          <c:spPr>
            <a:solidFill>
              <a:srgbClr val="10B981"/>
            </a:solidFill>
          </c:spPr>
          <c:invertIfNegative val="1"/>
          <c:dLbls>
            <c:delete val="1"/>
          </c:dLbls>
          <c:cat>
            <c:strLit>
              <c:ptCount val="3"/>
              <c:pt idx="0">
                <c:v>Logistic</c:v>
              </c:pt>
              <c:pt idx="1">
                <c:v>Random Forest</c:v>
              </c:pt>
              <c:pt idx="2">
                <c:v>XGBoost</c:v>
              </c:pt>
            </c:strLit>
          </c:cat>
          <c:val>
            <c:numLit>
              <c:formatCode>0</c:formatCode>
              <c:ptCount val="3"/>
              <c:pt idx="0">
                <c:v>80</c:v>
              </c:pt>
              <c:pt idx="1">
                <c:v>85</c:v>
              </c:pt>
              <c:pt idx="2">
                <c:v>90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A74-48E1-B4A2-C717DB5C87A2}"/>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max val="100"/>
          <c:min val="70"/>
        </c:scaling>
        <c:delete val="0"/>
        <c:axPos val="l"/>
        <c:majorGridlines>
          <c:spPr>
            <a:ln w="9525">
              <a:solidFill>
                <a:srgbClr val="D8E8F4"/>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plotArea>
    <c:legend>
      <c:legendPos val="b"/>
      <c:overlay val="0"/>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col"/>
        <c:grouping val="clustered"/>
        <c:varyColors val="0"/>
        <c:ser>
          <c:idx val="0"/>
          <c:order val="0"/>
          <c:tx>
            <c:v>XGBoost</c:v>
          </c:tx>
          <c:spPr>
            <a:solidFill>
              <a:srgbClr val="0B6EFD"/>
            </a:solidFill>
          </c:spPr>
          <c:invertIfNegative val="1"/>
          <c:dLbls>
            <c:delete val="1"/>
          </c:dLbls>
          <c:cat>
            <c:strLit>
              <c:ptCount val="5"/>
              <c:pt idx="0">
                <c:v>Accuracy</c:v>
              </c:pt>
              <c:pt idx="1">
                <c:v>Precision</c:v>
              </c:pt>
              <c:pt idx="2">
                <c:v>Recall</c:v>
              </c:pt>
              <c:pt idx="3">
                <c:v>F1</c:v>
              </c:pt>
              <c:pt idx="4">
                <c:v>ROC-AUC</c:v>
              </c:pt>
            </c:strLit>
          </c:cat>
          <c:val>
            <c:numLit>
              <c:formatCode>General</c:formatCode>
              <c:ptCount val="5"/>
              <c:pt idx="0">
                <c:v>91</c:v>
              </c:pt>
              <c:pt idx="1">
                <c:v>89</c:v>
              </c:pt>
              <c:pt idx="2">
                <c:v>92</c:v>
              </c:pt>
              <c:pt idx="3">
                <c:v>90</c:v>
              </c:pt>
              <c:pt idx="4">
                <c:v>93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61-44C0-B28D-1A93C617D963}"/>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0"/>
      </c:catAx>
      <c:valAx>
        <c:axId val="48672768"/>
        <c:scaling>
          <c:orientation val="minMax"/>
          <c:max val="100"/>
          <c:min val="70"/>
        </c:scaling>
        <c:delete val="0"/>
        <c:axPos val="l"/>
        <c:majorGridlines>
          <c:spPr>
            <a:ln w="9525">
              <a:solidFill>
                <a:srgbClr val="D8E8F4"/>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respected examiners. We are presenting HeartGuard, a machine learning based healthcare prediction system for forecasting heart failure readmission risk. The aim is to support doctors with early risk signals so preventive actions can be taken before a patient condition worsens.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problem is that heart failure readmission is common and clinically serious. A doctor may have many discharged patients to monitor, and manual analysis of every risk factor is time consuming. HeartGuard addresses this by converting routine health parameters into an early warning score for readmission risk.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objectives are practical and healthcare focused. We are not replacing doctors; we are building a decision-support layer. The system predicts risk, explains important patient factors, and helps doctors prioritize follow-up for high-risk patients.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existing system mainly depends on manual observation, discharge summaries, and periodic checkups. This works for treatment but is weak for early prediction. The gap we identified is the lack of a data-driven risk forecast that can alert doctors before readmission occurs.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system takes structured patient health data, preprocesses it, and sends it to a trained machine learning model. The output is a risk category and probability, presented through a doctor-friendly dashboard. This makes the system useful for preventive action rather than only post-event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has three major layers. First, patient data is collected from form inputs or records. Second, preprocessing and feature engineering prepare the data for the XGBoost model. Finally, the prediction engine sends the result to the doctor dashboard along with preventive 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system uses a simple and maintainable stack. The frontend is built with standard web technologies, </a:t>
            </a:r>
            <a:r>
              <a:rPr dirty="0" err="1"/>
              <a:t>FastAPI</a:t>
            </a:r>
            <a:r>
              <a:rPr dirty="0"/>
              <a:t> handles backend requests, and Python libraries support training and prediction. This stack is appropriate for an engineering project because it is lightweight, scalable, and easy to demonstrate.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contains demographic, clinical, and lifestyle attributes. Important features include ejection fraction, glucose, cholesterol, blood pressure, BMI, and comorbidities such as diabetes and hypertension. These parameters are relevant because they represent cardiac function and associated risk factors.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Preprocessing is essential because machine learning models are sensitive to incomplete or inconsistent data. We handle missing values, clean invalid entries, encode categorical attributes, scale numerical values where required, and detect outliers. This improves both training accuracy and prediction reliability.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compared three models: Logistic Regression as a baseline, Random Forest as a tree ensemble, and XGBoost as a gradient boosting method. XGBoost was selected because it handles nonlinear feature interactions, performs well on tabular healthcare data, and provides feature importance for explainability.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is divided into training and testing portions to evaluate generalization. We train candidate models and tune hyperparameters such as number of estimators, learning rate, depth, and regularization. The final model is chosen based on evaluation metrics rather than training accuracy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evaluate the model using multiple metrics because accuracy alone can be misleading in healthcare. Recall is especially important because missing a high-risk patient can be costly. XGBoost gives the best balance across accuracy, F1 score, and ROC-AUC in our project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Feature importance helps examiners and doctors understand why the model predicts a certain risk. In this analysis, ejection fraction is the most influential because it directly reflects heart pumping efficiency. Glucose, cholesterol, blood pressure, and BMI also contribute because they indicate metabolic and cardiovascular stress.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database is designed around four main entities: Patient, Medical History, Prediction, and Doctor. A patient can have multiple medical-history records and predictions over time. Doctors review prediction outputs and recommendations through the dashboard.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is divided into functional modules. The dashboard gives an overview, the prediction module calculates risk, patient monitoring tracks records, report analysis summarizes results, and the recommendation module supports preventive clinical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dashboard screen summarizes total patients, high-risk cases, and prediction distribution. For the viva, explain that the dashboard is designed for quick scanning by a doctor, so high-risk cases are immediately visible and can be prioritized.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prediction page accepts patient inputs such as BMI, cholesterol, glucose, blood pressure, ejection fraction, and comorbidities. After submission, the backend sends the processed input to the model and returns a risk category with probability.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sample prediction result. For a high-risk patient, the system does not only show a label; it also provides probability, confidence score, and preventive action suggestions. These outputs are useful for planning follow-up and communicating risk.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results show that the model can classify readmission risk effectively in our project setting. The most important discussion point is that HeartGuard improves decision support and monitoring. It should be used as an assistant for doctors, with final decisions remaining clinical.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key advantages are early detection, fast prediction, data-driven decisions, improved healthcare outcomes, and scalability. These points are important from an examiner perspective because they show both technical and social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machine learning healthcare project has limitations. Our system depends on the quality of input data and must be updated regularly. It also uses available structured features, so additional clinical notes, ECG, or imaging data could improve future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scope can make HeartGuard more powerful. IoT devices can provide real-time vitals, a mobile application can improve accessibility, and AI recommendations can personalize preventive actions. Integration with hospital management systems would make the solution practical for real deployments.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HeartGuard is a preventive healthcare decision-support system. It combines patient data, preprocessing, machine learning, and dashboard visualization to predict readmission risk. The project is technically complete and clinically meaningful because it helps doctors act earlier.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examiners and invite questions. If asked for a short summary, focus on the problem, architecture, dataset, XGBoost model, results, and future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0.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sv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7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5EEA15-D0FE-46F5-891E-92A061AD0C1F}"/>
              </a:ext>
            </a:extLst>
          </p:cNvPr>
          <p:cNvSpPr>
            <a:spLocks noGrp="1"/>
          </p:cNvSpPr>
          <p:nvPr/>
        </p:nvSpPr>
        <p:spPr>
          <a:xfrm>
            <a:off x="0" y="0"/>
            <a:ext cx="12192000" cy="6858000"/>
          </a:xfrm>
          <a:prstGeom prst="rect">
            <a:avLst/>
          </a:prstGeom>
          <a:solidFill>
            <a:srgbClr val="EEF7FF"/>
          </a:solidFill>
          <a:ln w="0">
            <a:solidFill>
              <a:srgbClr val="000000">
                <a:alpha val="0"/>
              </a:srgbClr>
            </a:solidFill>
            <a:prstDash val="solid"/>
          </a:ln>
        </p:spPr>
      </p:sp>
      <p:sp>
        <p:nvSpPr>
          <p:cNvPr id="2" name="Oval 1">
            <a:extLst>
              <a:ext uri="{FF2B5EF4-FFF2-40B4-BE49-F238E27FC236}">
                <a16:creationId xmlns:a16="http://schemas.microsoft.com/office/drawing/2014/main" id="{ADB62EF1-8863-4718-9D54-5DE7273DA01C}"/>
              </a:ext>
            </a:extLst>
          </p:cNvPr>
          <p:cNvSpPr>
            <a:spLocks noGrp="1"/>
          </p:cNvSpPr>
          <p:nvPr/>
        </p:nvSpPr>
        <p:spPr>
          <a:xfrm>
            <a:off x="8572500" y="-1238250"/>
            <a:ext cx="4476750" cy="4476750"/>
          </a:xfrm>
          <a:prstGeom prst="ellipse">
            <a:avLst/>
          </a:prstGeom>
          <a:solidFill>
            <a:srgbClr val="DDF3FF"/>
          </a:solidFill>
          <a:ln w="0">
            <a:solidFill>
              <a:srgbClr val="000000">
                <a:alpha val="0"/>
              </a:srgbClr>
            </a:solidFill>
            <a:prstDash val="solid"/>
          </a:ln>
        </p:spPr>
      </p:sp>
      <p:sp>
        <p:nvSpPr>
          <p:cNvPr id="3" name="Oval 2">
            <a:extLst>
              <a:ext uri="{FF2B5EF4-FFF2-40B4-BE49-F238E27FC236}">
                <a16:creationId xmlns:a16="http://schemas.microsoft.com/office/drawing/2014/main" id="{1562AC5B-2EA6-4566-B0E3-6D93A90669D2}"/>
              </a:ext>
            </a:extLst>
          </p:cNvPr>
          <p:cNvSpPr>
            <a:spLocks noGrp="1"/>
          </p:cNvSpPr>
          <p:nvPr/>
        </p:nvSpPr>
        <p:spPr>
          <a:xfrm>
            <a:off x="-1143000" y="4572000"/>
            <a:ext cx="3429000" cy="3429000"/>
          </a:xfrm>
          <a:prstGeom prst="ellipse">
            <a:avLst/>
          </a:prstGeom>
          <a:solidFill>
            <a:srgbClr val="D7F7EF"/>
          </a:solidFill>
          <a:ln w="0">
            <a:solidFill>
              <a:srgbClr val="000000">
                <a:alpha val="0"/>
              </a:srgbClr>
            </a:solidFill>
            <a:prstDash val="solid"/>
          </a:ln>
        </p:spPr>
      </p:sp>
      <p:pic>
        <p:nvPicPr>
          <p:cNvPr id="17" name="Graphic 16"/>
          <p:cNvPicPr>
            <a:picLocks noChangeAspect="1"/>
          </p:cNvPicPr>
          <p:nvPr/>
        </p:nvPicPr>
        <p:blipFill>
          <a:blip>
            <a:extLst>
              <a:ext uri="{96DAC541-7B7A-43D3-8B79-37D633B846F1}">
                <asvg:svgBlip xmlns:asvg="http://schemas.microsoft.com/office/drawing/2016/SVG/main" r:embed="rId3"/>
              </a:ext>
            </a:extLst>
          </a:blip>
          <a:stretch/>
        </p:blipFill>
        <p:spPr>
          <a:xfrm>
            <a:off x="8810625" y="1143000"/>
            <a:ext cx="1428750" cy="1428750"/>
          </a:xfrm>
          <a:prstGeom prst="rect">
            <a:avLst/>
          </a:prstGeom>
        </p:spPr>
      </p:pic>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287000" y="2781300"/>
            <a:ext cx="781050" cy="781050"/>
          </a:xfrm>
          <a:prstGeom prst="rect">
            <a:avLst/>
          </a:prstGeom>
        </p:spPr>
      </p:pic>
      <p:sp>
        <p:nvSpPr>
          <p:cNvPr id="6" name="Rectangle 5">
            <a:extLst>
              <a:ext uri="{FF2B5EF4-FFF2-40B4-BE49-F238E27FC236}">
                <a16:creationId xmlns:a16="http://schemas.microsoft.com/office/drawing/2014/main" id="{B7A961C9-22CB-4612-940C-164D742FF80E}"/>
              </a:ext>
            </a:extLst>
          </p:cNvPr>
          <p:cNvSpPr>
            <a:spLocks noGrp="1"/>
          </p:cNvSpPr>
          <p:nvPr/>
        </p:nvSpPr>
        <p:spPr>
          <a:xfrm>
            <a:off x="723900" y="971550"/>
            <a:ext cx="6191250" cy="609600"/>
          </a:xfrm>
          <a:prstGeom prst="rect">
            <a:avLst/>
          </a:prstGeom>
          <a:solidFill>
            <a:srgbClr val="000000">
              <a:alpha val="0"/>
            </a:srgbClr>
          </a:solidFill>
          <a:ln w="0">
            <a:solidFill>
              <a:srgbClr val="000000">
                <a:alpha val="0"/>
              </a:srgbClr>
            </a:solidFill>
            <a:prstDash val="solid"/>
          </a:ln>
        </p:spPr>
        <p:txBody>
          <a:bodyPr/>
          <a:lstStyle/>
          <a:p>
            <a:pPr algn="l">
              <a:defRPr sz="4200" b="1">
                <a:solidFill>
                  <a:srgbClr val="0B2559"/>
                </a:solidFill>
                <a:latin typeface="Aptos Display"/>
                <a:ea typeface="Aptos Display"/>
                <a:cs typeface="Aptos Display"/>
              </a:defRPr>
            </a:pPr>
            <a:r>
              <a:rPr sz="4200" b="1">
                <a:solidFill>
                  <a:srgbClr val="0B2559"/>
                </a:solidFill>
                <a:latin typeface="Aptos Display"/>
                <a:ea typeface="Aptos Display"/>
                <a:cs typeface="Aptos Display"/>
              </a:rPr>
              <a:t>HEARTGUARD</a:t>
            </a:r>
          </a:p>
        </p:txBody>
      </p:sp>
      <p:sp>
        <p:nvSpPr>
          <p:cNvPr id="7" name="Rectangle 6">
            <a:extLst>
              <a:ext uri="{FF2B5EF4-FFF2-40B4-BE49-F238E27FC236}">
                <a16:creationId xmlns:a16="http://schemas.microsoft.com/office/drawing/2014/main" id="{A07D3523-FF18-4E26-BCE9-CFAC2EB29B68}"/>
              </a:ext>
            </a:extLst>
          </p:cNvPr>
          <p:cNvSpPr>
            <a:spLocks noGrp="1"/>
          </p:cNvSpPr>
          <p:nvPr/>
        </p:nvSpPr>
        <p:spPr>
          <a:xfrm>
            <a:off x="742950" y="1676400"/>
            <a:ext cx="7429500" cy="838200"/>
          </a:xfrm>
          <a:prstGeom prst="rect">
            <a:avLst/>
          </a:prstGeom>
          <a:solidFill>
            <a:srgbClr val="000000">
              <a:alpha val="0"/>
            </a:srgbClr>
          </a:solidFill>
          <a:ln w="0">
            <a:solidFill>
              <a:srgbClr val="000000">
                <a:alpha val="0"/>
              </a:srgbClr>
            </a:solidFill>
            <a:prstDash val="solid"/>
          </a:ln>
        </p:spPr>
        <p:txBody>
          <a:bodyPr/>
          <a:lstStyle/>
          <a:p>
            <a:pPr algn="l">
              <a:defRPr sz="2100" b="1">
                <a:solidFill>
                  <a:srgbClr val="0B6EFD"/>
                </a:solidFill>
                <a:latin typeface="Aptos"/>
                <a:ea typeface="Aptos"/>
                <a:cs typeface="Aptos"/>
              </a:defRPr>
            </a:pPr>
            <a:r>
              <a:rPr sz="2100" b="1">
                <a:solidFill>
                  <a:srgbClr val="0B6EFD"/>
                </a:solidFill>
                <a:latin typeface="Aptos"/>
                <a:ea typeface="Aptos"/>
                <a:cs typeface="Aptos"/>
              </a:rPr>
              <a:t>Preventive Insights for Heart Failure Readmission Forecasting Using Machine Learning</a:t>
            </a:r>
          </a:p>
        </p:txBody>
      </p:sp>
      <p:sp>
        <p:nvSpPr>
          <p:cNvPr id="8" name="Rectangle 7">
            <a:extLst>
              <a:ext uri="{FF2B5EF4-FFF2-40B4-BE49-F238E27FC236}">
                <a16:creationId xmlns:a16="http://schemas.microsoft.com/office/drawing/2014/main" id="{A192FFF2-8BC7-401A-B429-30BCC9825932}"/>
              </a:ext>
            </a:extLst>
          </p:cNvPr>
          <p:cNvSpPr>
            <a:spLocks noGrp="1"/>
          </p:cNvSpPr>
          <p:nvPr/>
        </p:nvSpPr>
        <p:spPr>
          <a:xfrm>
            <a:off x="762000" y="2781300"/>
            <a:ext cx="5334000" cy="304800"/>
          </a:xfrm>
          <a:prstGeom prst="rect">
            <a:avLst/>
          </a:prstGeom>
          <a:solidFill>
            <a:srgbClr val="000000">
              <a:alpha val="0"/>
            </a:srgbClr>
          </a:solidFill>
          <a:ln w="0">
            <a:solidFill>
              <a:srgbClr val="000000">
                <a:alpha val="0"/>
              </a:srgbClr>
            </a:solidFill>
            <a:prstDash val="solid"/>
          </a:ln>
        </p:spPr>
        <p:txBody>
          <a:bodyPr/>
          <a:lstStyle/>
          <a:p>
            <a:pPr algn="l">
              <a:defRPr sz="1575" b="0">
                <a:solidFill>
                  <a:srgbClr val="5B6B7A"/>
                </a:solidFill>
                <a:latin typeface="Aptos"/>
                <a:ea typeface="Aptos"/>
                <a:cs typeface="Aptos"/>
              </a:defRPr>
            </a:pPr>
            <a:r>
              <a:rPr sz="1575" b="0">
                <a:solidFill>
                  <a:srgbClr val="5B6B7A"/>
                </a:solidFill>
                <a:latin typeface="Aptos"/>
                <a:ea typeface="Aptos"/>
                <a:cs typeface="Aptos"/>
              </a:rPr>
              <a:t>Final Year B.E. Computer Engineering Project</a:t>
            </a:r>
          </a:p>
        </p:txBody>
      </p:sp>
      <p:sp>
        <p:nvSpPr>
          <p:cNvPr id="9" name="Rectangle 8">
            <a:extLst>
              <a:ext uri="{FF2B5EF4-FFF2-40B4-BE49-F238E27FC236}">
                <a16:creationId xmlns:a16="http://schemas.microsoft.com/office/drawing/2014/main" id="{BC9A5887-FBE6-4E5B-89BB-8559BFD96030}"/>
              </a:ext>
            </a:extLst>
          </p:cNvPr>
          <p:cNvSpPr>
            <a:spLocks noGrp="1"/>
          </p:cNvSpPr>
          <p:nvPr/>
        </p:nvSpPr>
        <p:spPr>
          <a:xfrm>
            <a:off x="762000" y="3581400"/>
            <a:ext cx="7620000" cy="285750"/>
          </a:xfrm>
          <a:prstGeom prst="rect">
            <a:avLst/>
          </a:prstGeom>
          <a:solidFill>
            <a:srgbClr val="000000">
              <a:alpha val="0"/>
            </a:srgbClr>
          </a:solidFill>
          <a:ln w="0">
            <a:solidFill>
              <a:srgbClr val="000000">
                <a:alpha val="0"/>
              </a:srgbClr>
            </a:solidFill>
            <a:prstDash val="solid"/>
          </a:ln>
        </p:spPr>
        <p:txBody>
          <a:bodyPr/>
          <a:lstStyle/>
          <a:p>
            <a:pPr algn="l">
              <a:defRPr sz="1500" b="1">
                <a:solidFill>
                  <a:srgbClr val="102033"/>
                </a:solidFill>
                <a:latin typeface="Aptos"/>
                <a:ea typeface="Aptos"/>
                <a:cs typeface="Aptos"/>
              </a:defRPr>
            </a:pPr>
            <a:r>
              <a:rPr sz="1500" dirty="0">
                <a:solidFill>
                  <a:srgbClr val="102033"/>
                </a:solidFill>
                <a:latin typeface="Aptos"/>
                <a:ea typeface="Aptos"/>
                <a:cs typeface="Aptos"/>
              </a:rPr>
              <a:t>Team Members</a:t>
            </a:r>
            <a:r>
              <a:rPr sz="1500" b="1" dirty="0">
                <a:solidFill>
                  <a:srgbClr val="102033"/>
                </a:solidFill>
                <a:latin typeface="Aptos"/>
                <a:ea typeface="Aptos"/>
                <a:cs typeface="Aptos"/>
              </a:rPr>
              <a:t>: Harsh </a:t>
            </a:r>
            <a:r>
              <a:rPr sz="1500" b="1" dirty="0" err="1">
                <a:solidFill>
                  <a:srgbClr val="102033"/>
                </a:solidFill>
                <a:latin typeface="Aptos"/>
                <a:ea typeface="Aptos"/>
                <a:cs typeface="Aptos"/>
              </a:rPr>
              <a:t>Bandal</a:t>
            </a:r>
            <a:r>
              <a:rPr sz="1500" b="1" dirty="0">
                <a:solidFill>
                  <a:srgbClr val="102033"/>
                </a:solidFill>
                <a:latin typeface="Aptos"/>
                <a:ea typeface="Aptos"/>
                <a:cs typeface="Aptos"/>
              </a:rPr>
              <a:t> | Pankaj </a:t>
            </a:r>
            <a:r>
              <a:rPr sz="1500" b="1" dirty="0" err="1">
                <a:solidFill>
                  <a:srgbClr val="102033"/>
                </a:solidFill>
                <a:latin typeface="Aptos"/>
                <a:ea typeface="Aptos"/>
                <a:cs typeface="Aptos"/>
              </a:rPr>
              <a:t>Aswale</a:t>
            </a:r>
            <a:r>
              <a:rPr sz="1500" b="1" dirty="0">
                <a:solidFill>
                  <a:srgbClr val="102033"/>
                </a:solidFill>
                <a:latin typeface="Aptos"/>
                <a:ea typeface="Aptos"/>
                <a:cs typeface="Aptos"/>
              </a:rPr>
              <a:t> | Sonali </a:t>
            </a:r>
            <a:r>
              <a:rPr sz="1500" b="1" dirty="0" err="1">
                <a:solidFill>
                  <a:srgbClr val="102033"/>
                </a:solidFill>
                <a:latin typeface="Aptos"/>
                <a:ea typeface="Aptos"/>
                <a:cs typeface="Aptos"/>
              </a:rPr>
              <a:t>Bhojane</a:t>
            </a:r>
            <a:endParaRPr sz="1500" b="1" dirty="0">
              <a:solidFill>
                <a:srgbClr val="102033"/>
              </a:solidFill>
              <a:latin typeface="Aptos"/>
              <a:ea typeface="Aptos"/>
              <a:cs typeface="Aptos"/>
            </a:endParaRPr>
          </a:p>
        </p:txBody>
      </p:sp>
      <p:sp>
        <p:nvSpPr>
          <p:cNvPr id="10" name="Rectangle 9">
            <a:extLst>
              <a:ext uri="{FF2B5EF4-FFF2-40B4-BE49-F238E27FC236}">
                <a16:creationId xmlns:a16="http://schemas.microsoft.com/office/drawing/2014/main" id="{0D9AF5B2-5AF0-4178-96CD-43F72325CA3E}"/>
              </a:ext>
            </a:extLst>
          </p:cNvPr>
          <p:cNvSpPr>
            <a:spLocks noGrp="1"/>
          </p:cNvSpPr>
          <p:nvPr/>
        </p:nvSpPr>
        <p:spPr>
          <a:xfrm>
            <a:off x="762000" y="4000500"/>
            <a:ext cx="4953000" cy="266700"/>
          </a:xfrm>
          <a:prstGeom prst="rect">
            <a:avLst/>
          </a:prstGeom>
          <a:solidFill>
            <a:srgbClr val="000000">
              <a:alpha val="0"/>
            </a:srgbClr>
          </a:solidFill>
          <a:ln w="0">
            <a:solidFill>
              <a:srgbClr val="000000">
                <a:alpha val="0"/>
              </a:srgbClr>
            </a:solidFill>
            <a:prstDash val="solid"/>
          </a:ln>
        </p:spPr>
        <p:txBody>
          <a:bodyPr/>
          <a:lstStyle/>
          <a:p>
            <a:pPr>
              <a:defRPr sz="1425" b="0">
                <a:solidFill>
                  <a:srgbClr val="102033"/>
                </a:solidFill>
                <a:latin typeface="Aptos"/>
                <a:ea typeface="Aptos"/>
                <a:cs typeface="Aptos"/>
              </a:defRPr>
            </a:pPr>
            <a:r>
              <a:rPr sz="1425" b="1" dirty="0">
                <a:solidFill>
                  <a:srgbClr val="102033"/>
                </a:solidFill>
                <a:latin typeface="Aptos"/>
                <a:ea typeface="Aptos"/>
                <a:cs typeface="Aptos"/>
              </a:rPr>
              <a:t>Guide Name: Prof. </a:t>
            </a:r>
            <a:r>
              <a:rPr lang="en-US" sz="1425" b="1" dirty="0"/>
              <a:t>N. G. </a:t>
            </a:r>
            <a:r>
              <a:rPr lang="en-US" sz="1425" b="1" dirty="0" err="1"/>
              <a:t>Bhojne</a:t>
            </a:r>
            <a:r>
              <a:rPr lang="en-US" sz="1425" b="1" dirty="0"/>
              <a:t> </a:t>
            </a:r>
            <a:endParaRPr sz="1425" b="0" dirty="0">
              <a:solidFill>
                <a:srgbClr val="102033"/>
              </a:solidFill>
              <a:latin typeface="Aptos"/>
              <a:ea typeface="Aptos"/>
              <a:cs typeface="Aptos"/>
            </a:endParaRPr>
          </a:p>
        </p:txBody>
      </p:sp>
      <p:sp>
        <p:nvSpPr>
          <p:cNvPr id="11" name="Rectangle 10">
            <a:extLst>
              <a:ext uri="{FF2B5EF4-FFF2-40B4-BE49-F238E27FC236}">
                <a16:creationId xmlns:a16="http://schemas.microsoft.com/office/drawing/2014/main" id="{3CF9C459-22B6-402E-95AD-109736DB95C9}"/>
              </a:ext>
            </a:extLst>
          </p:cNvPr>
          <p:cNvSpPr>
            <a:spLocks noGrp="1"/>
          </p:cNvSpPr>
          <p:nvPr/>
        </p:nvSpPr>
        <p:spPr>
          <a:xfrm>
            <a:off x="762000" y="4419600"/>
            <a:ext cx="4953000" cy="2667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1" dirty="0">
                <a:solidFill>
                  <a:srgbClr val="102033"/>
                </a:solidFill>
                <a:latin typeface="Aptos"/>
                <a:ea typeface="Aptos"/>
                <a:cs typeface="Aptos"/>
              </a:rPr>
              <a:t>Department: Computer Engineering</a:t>
            </a:r>
          </a:p>
        </p:txBody>
      </p:sp>
      <p:sp>
        <p:nvSpPr>
          <p:cNvPr id="12" name="Rectangle 11">
            <a:extLst>
              <a:ext uri="{FF2B5EF4-FFF2-40B4-BE49-F238E27FC236}">
                <a16:creationId xmlns:a16="http://schemas.microsoft.com/office/drawing/2014/main" id="{60218160-EB9F-4EAF-B6E3-D3AECA5E2CBE}"/>
              </a:ext>
            </a:extLst>
          </p:cNvPr>
          <p:cNvSpPr>
            <a:spLocks noGrp="1"/>
          </p:cNvSpPr>
          <p:nvPr/>
        </p:nvSpPr>
        <p:spPr>
          <a:xfrm>
            <a:off x="762000" y="4838700"/>
            <a:ext cx="4953000" cy="2667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1" dirty="0">
                <a:solidFill>
                  <a:srgbClr val="102033"/>
                </a:solidFill>
                <a:latin typeface="Aptos"/>
                <a:ea typeface="Aptos"/>
                <a:cs typeface="Aptos"/>
              </a:rPr>
              <a:t>College Name: </a:t>
            </a:r>
            <a:r>
              <a:rPr lang="en-US" sz="1425" b="1" dirty="0" err="1">
                <a:solidFill>
                  <a:srgbClr val="102033"/>
                </a:solidFill>
                <a:latin typeface="Aptos"/>
                <a:ea typeface="Aptos"/>
                <a:cs typeface="Aptos"/>
              </a:rPr>
              <a:t>Sinhgad</a:t>
            </a:r>
            <a:r>
              <a:rPr lang="en-US" sz="1425" b="1" dirty="0">
                <a:solidFill>
                  <a:srgbClr val="102033"/>
                </a:solidFill>
                <a:latin typeface="Aptos"/>
                <a:ea typeface="Aptos"/>
                <a:cs typeface="Aptos"/>
              </a:rPr>
              <a:t> College of Engineering, Pune</a:t>
            </a:r>
            <a:endParaRPr sz="1425" b="1" dirty="0">
              <a:solidFill>
                <a:srgbClr val="102033"/>
              </a:solidFill>
              <a:latin typeface="Aptos"/>
              <a:ea typeface="Aptos"/>
              <a:cs typeface="Aptos"/>
            </a:endParaRPr>
          </a:p>
        </p:txBody>
      </p:sp>
      <p:sp>
        <p:nvSpPr>
          <p:cNvPr id="13" name="Rectangle 12">
            <a:extLst>
              <a:ext uri="{FF2B5EF4-FFF2-40B4-BE49-F238E27FC236}">
                <a16:creationId xmlns:a16="http://schemas.microsoft.com/office/drawing/2014/main" id="{8B3EA2E7-6C85-46B0-A560-42BBEEE65122}"/>
              </a:ext>
            </a:extLst>
          </p:cNvPr>
          <p:cNvSpPr>
            <a:spLocks noGrp="1"/>
          </p:cNvSpPr>
          <p:nvPr/>
        </p:nvSpPr>
        <p:spPr>
          <a:xfrm>
            <a:off x="762000" y="5257800"/>
            <a:ext cx="4953000" cy="2667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1" dirty="0">
                <a:solidFill>
                  <a:srgbClr val="102033"/>
                </a:solidFill>
                <a:latin typeface="Aptos"/>
                <a:ea typeface="Aptos"/>
                <a:cs typeface="Aptos"/>
              </a:rPr>
              <a:t>Academic Year: 2025-26</a:t>
            </a:r>
          </a:p>
        </p:txBody>
      </p:sp>
    </p:spTree>
    <p:extLst>
      <p:ext uri="{BB962C8B-B14F-4D97-AF65-F5344CB8AC3E}">
        <p14:creationId xmlns:p14="http://schemas.microsoft.com/office/powerpoint/2010/main" val="159849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49B12D9-05BA-41D9-8F91-DB78A0D2EFAA}"/>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28EF212E-D876-44CC-8827-59E686251EEC}"/>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82DABF24-9C08-47E3-B70C-D2A8E8B90BD5}"/>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02</a:t>
            </a:r>
          </a:p>
        </p:txBody>
      </p:sp>
      <p:sp>
        <p:nvSpPr>
          <p:cNvPr id="5" name="Rectangle 4">
            <a:extLst>
              <a:ext uri="{FF2B5EF4-FFF2-40B4-BE49-F238E27FC236}">
                <a16:creationId xmlns:a16="http://schemas.microsoft.com/office/drawing/2014/main" id="{4204756F-DA1C-4A73-96F6-53287E82C1ED}"/>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Problem Statement</a:t>
            </a:r>
          </a:p>
        </p:txBody>
      </p:sp>
      <p:sp>
        <p:nvSpPr>
          <p:cNvPr id="6" name="Straight Connector 5">
            <a:extLst>
              <a:ext uri="{FF2B5EF4-FFF2-40B4-BE49-F238E27FC236}">
                <a16:creationId xmlns:a16="http://schemas.microsoft.com/office/drawing/2014/main" id="{050B40F0-1559-4650-AF4F-DE8E688D86C2}"/>
              </a:ext>
            </a:extLst>
          </p:cNvPr>
          <p:cNvSpPr>
            <a:spLocks noGrp="1"/>
          </p:cNvSpPr>
          <p:nvPr/>
        </p:nvSpPr>
        <p:spPr>
          <a:xfrm>
            <a:off x="581945" y="990600"/>
            <a:ext cx="2996995" cy="9525"/>
          </a:xfrm>
          <a:prstGeom prst="line">
            <a:avLst/>
          </a:prstGeom>
          <a:solidFill>
            <a:srgbClr val="000000">
              <a:alpha val="0"/>
            </a:srgbClr>
          </a:solidFill>
          <a:ln w="28575">
            <a:solidFill>
              <a:srgbClr val="2CB7D5"/>
            </a:solidFill>
            <a:prstDash val="solid"/>
          </a:ln>
        </p:spPr>
      </p:sp>
      <p:pic>
        <p:nvPicPr>
          <p:cNvPr id="30" name="Graphic 29"/>
          <p:cNvPicPr>
            <a:picLocks noChangeAspect="1"/>
          </p:cNvPicPr>
          <p:nvPr/>
        </p:nvPicPr>
        <p:blipFill>
          <a:blip>
            <a:extLst>
              <a:ext uri="{96DAC541-7B7A-43D3-8B79-37D633B846F1}">
                <asvg:svgBlip xmlns:asvg="http://schemas.microsoft.com/office/drawing/2016/SVG/main" r:embed="rId3"/>
              </a:ext>
            </a:extLst>
          </a:blip>
          <a:stretch/>
        </p:blipFill>
        <p:spPr>
          <a:xfrm>
            <a:off x="9620250" y="514350"/>
            <a:ext cx="438150" cy="438150"/>
          </a:xfrm>
          <a:prstGeom prst="rect">
            <a:avLst/>
          </a:prstGeom>
        </p:spPr>
      </p:pic>
      <p:sp>
        <p:nvSpPr>
          <p:cNvPr id="8" name="Rectangle: Rounded Corners 7">
            <a:extLst>
              <a:ext uri="{FF2B5EF4-FFF2-40B4-BE49-F238E27FC236}">
                <a16:creationId xmlns:a16="http://schemas.microsoft.com/office/drawing/2014/main" id="{4AE20C26-1FA3-4D28-9B78-4CE88E491692}"/>
              </a:ext>
            </a:extLst>
          </p:cNvPr>
          <p:cNvSpPr>
            <a:spLocks noGrp="1"/>
          </p:cNvSpPr>
          <p:nvPr/>
        </p:nvSpPr>
        <p:spPr>
          <a:xfrm>
            <a:off x="666750" y="1381125"/>
            <a:ext cx="4953000" cy="3000375"/>
          </a:xfrm>
          <a:prstGeom prst="roundRect">
            <a:avLst>
              <a:gd name="adj" fmla="val 2540"/>
            </a:avLst>
          </a:prstGeom>
          <a:solidFill>
            <a:srgbClr val="FFFFFF"/>
          </a:solidFill>
          <a:ln w="9525">
            <a:solidFill>
              <a:srgbClr val="D8E8F4"/>
            </a:solidFill>
            <a:prstDash val="solid"/>
          </a:ln>
        </p:spPr>
      </p:sp>
      <p:sp>
        <p:nvSpPr>
          <p:cNvPr id="9" name="Rectangle 8">
            <a:extLst>
              <a:ext uri="{FF2B5EF4-FFF2-40B4-BE49-F238E27FC236}">
                <a16:creationId xmlns:a16="http://schemas.microsoft.com/office/drawing/2014/main" id="{C2898893-0591-4B08-9E48-329946DE2B3D}"/>
              </a:ext>
            </a:extLst>
          </p:cNvPr>
          <p:cNvSpPr>
            <a:spLocks noGrp="1"/>
          </p:cNvSpPr>
          <p:nvPr/>
        </p:nvSpPr>
        <p:spPr>
          <a:xfrm>
            <a:off x="666750" y="1381125"/>
            <a:ext cx="66675" cy="3000375"/>
          </a:xfrm>
          <a:prstGeom prst="rect">
            <a:avLst/>
          </a:prstGeom>
          <a:solidFill>
            <a:srgbClr val="EF4444"/>
          </a:solidFill>
          <a:ln w="0">
            <a:solidFill>
              <a:srgbClr val="000000">
                <a:alpha val="0"/>
              </a:srgbClr>
            </a:solidFill>
            <a:prstDash val="solid"/>
          </a:ln>
        </p:spPr>
      </p:sp>
      <p:sp>
        <p:nvSpPr>
          <p:cNvPr id="10" name="Rectangle 9">
            <a:extLst>
              <a:ext uri="{FF2B5EF4-FFF2-40B4-BE49-F238E27FC236}">
                <a16:creationId xmlns:a16="http://schemas.microsoft.com/office/drawing/2014/main" id="{8D7D6724-14FE-44B0-A7DE-14074760B812}"/>
              </a:ext>
            </a:extLst>
          </p:cNvPr>
          <p:cNvSpPr>
            <a:spLocks noGrp="1"/>
          </p:cNvSpPr>
          <p:nvPr/>
        </p:nvSpPr>
        <p:spPr>
          <a:xfrm>
            <a:off x="876300" y="1552575"/>
            <a:ext cx="45720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Why this matters</a:t>
            </a:r>
          </a:p>
        </p:txBody>
      </p:sp>
      <p:sp>
        <p:nvSpPr>
          <p:cNvPr id="11" name="Rectangle 10">
            <a:extLst>
              <a:ext uri="{FF2B5EF4-FFF2-40B4-BE49-F238E27FC236}">
                <a16:creationId xmlns:a16="http://schemas.microsoft.com/office/drawing/2014/main" id="{E26B176E-E880-4409-880B-48FE021A292B}"/>
              </a:ext>
            </a:extLst>
          </p:cNvPr>
          <p:cNvSpPr>
            <a:spLocks noGrp="1"/>
          </p:cNvSpPr>
          <p:nvPr/>
        </p:nvSpPr>
        <p:spPr>
          <a:xfrm>
            <a:off x="876300" y="1914525"/>
            <a:ext cx="4572000" cy="2371725"/>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Heart failure patients often require repeated hospitalization. Manual monitoring after discharge is difficult, and delayed risk identification can increase complications and mortality.</a:t>
            </a:r>
          </a:p>
        </p:txBody>
      </p:sp>
      <p:sp>
        <p:nvSpPr>
          <p:cNvPr id="12" name="Oval 11">
            <a:extLst>
              <a:ext uri="{FF2B5EF4-FFF2-40B4-BE49-F238E27FC236}">
                <a16:creationId xmlns:a16="http://schemas.microsoft.com/office/drawing/2014/main" id="{4C609B31-91A0-45F1-B71C-2D1AC0E93C79}"/>
              </a:ext>
            </a:extLst>
          </p:cNvPr>
          <p:cNvSpPr>
            <a:spLocks noGrp="1"/>
          </p:cNvSpPr>
          <p:nvPr/>
        </p:nvSpPr>
        <p:spPr>
          <a:xfrm>
            <a:off x="6191250" y="1581150"/>
            <a:ext cx="133350" cy="133350"/>
          </a:xfrm>
          <a:prstGeom prst="ellipse">
            <a:avLst/>
          </a:prstGeom>
          <a:solidFill>
            <a:srgbClr val="0B6EFD"/>
          </a:solidFill>
          <a:ln w="0">
            <a:solidFill>
              <a:srgbClr val="000000">
                <a:alpha val="0"/>
              </a:srgbClr>
            </a:solidFill>
            <a:prstDash val="solid"/>
          </a:ln>
        </p:spPr>
      </p:sp>
      <p:sp>
        <p:nvSpPr>
          <p:cNvPr id="13" name="Rectangle 12">
            <a:extLst>
              <a:ext uri="{FF2B5EF4-FFF2-40B4-BE49-F238E27FC236}">
                <a16:creationId xmlns:a16="http://schemas.microsoft.com/office/drawing/2014/main" id="{ADEB702A-71B7-492D-ADF1-D4DEF51BAF73}"/>
              </a:ext>
            </a:extLst>
          </p:cNvPr>
          <p:cNvSpPr>
            <a:spLocks noGrp="1"/>
          </p:cNvSpPr>
          <p:nvPr/>
        </p:nvSpPr>
        <p:spPr>
          <a:xfrm>
            <a:off x="6457950" y="1504950"/>
            <a:ext cx="4495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Frequent hospital readmissions</a:t>
            </a:r>
          </a:p>
        </p:txBody>
      </p:sp>
      <p:sp>
        <p:nvSpPr>
          <p:cNvPr id="14" name="Oval 13">
            <a:extLst>
              <a:ext uri="{FF2B5EF4-FFF2-40B4-BE49-F238E27FC236}">
                <a16:creationId xmlns:a16="http://schemas.microsoft.com/office/drawing/2014/main" id="{58E12854-0FE0-477D-845A-428B7047E558}"/>
              </a:ext>
            </a:extLst>
          </p:cNvPr>
          <p:cNvSpPr>
            <a:spLocks noGrp="1"/>
          </p:cNvSpPr>
          <p:nvPr/>
        </p:nvSpPr>
        <p:spPr>
          <a:xfrm>
            <a:off x="6191250" y="2114550"/>
            <a:ext cx="133350" cy="133350"/>
          </a:xfrm>
          <a:prstGeom prst="ellipse">
            <a:avLst/>
          </a:prstGeom>
          <a:solidFill>
            <a:srgbClr val="0B6EFD"/>
          </a:solidFill>
          <a:ln w="0">
            <a:solidFill>
              <a:srgbClr val="000000">
                <a:alpha val="0"/>
              </a:srgbClr>
            </a:solidFill>
            <a:prstDash val="solid"/>
          </a:ln>
        </p:spPr>
      </p:sp>
      <p:sp>
        <p:nvSpPr>
          <p:cNvPr id="15" name="Rectangle 14">
            <a:extLst>
              <a:ext uri="{FF2B5EF4-FFF2-40B4-BE49-F238E27FC236}">
                <a16:creationId xmlns:a16="http://schemas.microsoft.com/office/drawing/2014/main" id="{E636A428-487C-4A2A-8A5F-1553B807182C}"/>
              </a:ext>
            </a:extLst>
          </p:cNvPr>
          <p:cNvSpPr>
            <a:spLocks noGrp="1"/>
          </p:cNvSpPr>
          <p:nvPr/>
        </p:nvSpPr>
        <p:spPr>
          <a:xfrm>
            <a:off x="6457950" y="2038350"/>
            <a:ext cx="4495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Manual follow-up is slow and inconsistent</a:t>
            </a:r>
          </a:p>
        </p:txBody>
      </p:sp>
      <p:sp>
        <p:nvSpPr>
          <p:cNvPr id="16" name="Oval 15">
            <a:extLst>
              <a:ext uri="{FF2B5EF4-FFF2-40B4-BE49-F238E27FC236}">
                <a16:creationId xmlns:a16="http://schemas.microsoft.com/office/drawing/2014/main" id="{4D037F7D-E651-48D4-A1E7-A0811832DB18}"/>
              </a:ext>
            </a:extLst>
          </p:cNvPr>
          <p:cNvSpPr>
            <a:spLocks noGrp="1"/>
          </p:cNvSpPr>
          <p:nvPr/>
        </p:nvSpPr>
        <p:spPr>
          <a:xfrm>
            <a:off x="6191250" y="2647950"/>
            <a:ext cx="133350" cy="133350"/>
          </a:xfrm>
          <a:prstGeom prst="ellipse">
            <a:avLst/>
          </a:prstGeom>
          <a:solidFill>
            <a:srgbClr val="0B6EFD"/>
          </a:solidFill>
          <a:ln w="0">
            <a:solidFill>
              <a:srgbClr val="000000">
                <a:alpha val="0"/>
              </a:srgbClr>
            </a:solidFill>
            <a:prstDash val="solid"/>
          </a:ln>
        </p:spPr>
      </p:sp>
      <p:sp>
        <p:nvSpPr>
          <p:cNvPr id="17" name="Rectangle 16">
            <a:extLst>
              <a:ext uri="{FF2B5EF4-FFF2-40B4-BE49-F238E27FC236}">
                <a16:creationId xmlns:a16="http://schemas.microsoft.com/office/drawing/2014/main" id="{0FFB7ACA-FED1-43DC-B327-2686F270A999}"/>
              </a:ext>
            </a:extLst>
          </p:cNvPr>
          <p:cNvSpPr>
            <a:spLocks noGrp="1"/>
          </p:cNvSpPr>
          <p:nvPr/>
        </p:nvSpPr>
        <p:spPr>
          <a:xfrm>
            <a:off x="6457950" y="2571750"/>
            <a:ext cx="4495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Early prediction enables preventive care</a:t>
            </a:r>
          </a:p>
        </p:txBody>
      </p:sp>
      <p:sp>
        <p:nvSpPr>
          <p:cNvPr id="18" name="Oval 17">
            <a:extLst>
              <a:ext uri="{FF2B5EF4-FFF2-40B4-BE49-F238E27FC236}">
                <a16:creationId xmlns:a16="http://schemas.microsoft.com/office/drawing/2014/main" id="{F3ACE321-FDCE-48A8-9CE0-274FEC9C3B8F}"/>
              </a:ext>
            </a:extLst>
          </p:cNvPr>
          <p:cNvSpPr>
            <a:spLocks noGrp="1"/>
          </p:cNvSpPr>
          <p:nvPr/>
        </p:nvSpPr>
        <p:spPr>
          <a:xfrm>
            <a:off x="6191250" y="3181350"/>
            <a:ext cx="133350" cy="133350"/>
          </a:xfrm>
          <a:prstGeom prst="ellipse">
            <a:avLst/>
          </a:prstGeom>
          <a:solidFill>
            <a:srgbClr val="0B6EFD"/>
          </a:solidFill>
          <a:ln w="0">
            <a:solidFill>
              <a:srgbClr val="000000">
                <a:alpha val="0"/>
              </a:srgbClr>
            </a:solidFill>
            <a:prstDash val="solid"/>
          </a:ln>
        </p:spPr>
      </p:sp>
      <p:sp>
        <p:nvSpPr>
          <p:cNvPr id="19" name="Rectangle 18">
            <a:extLst>
              <a:ext uri="{FF2B5EF4-FFF2-40B4-BE49-F238E27FC236}">
                <a16:creationId xmlns:a16="http://schemas.microsoft.com/office/drawing/2014/main" id="{AFABF612-D9F6-4433-9F26-9B0C901F35AE}"/>
              </a:ext>
            </a:extLst>
          </p:cNvPr>
          <p:cNvSpPr>
            <a:spLocks noGrp="1"/>
          </p:cNvSpPr>
          <p:nvPr/>
        </p:nvSpPr>
        <p:spPr>
          <a:xfrm>
            <a:off x="6457950" y="3105150"/>
            <a:ext cx="4495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Need for intelligent clinical decision support</a:t>
            </a:r>
          </a:p>
        </p:txBody>
      </p:sp>
      <p:sp>
        <p:nvSpPr>
          <p:cNvPr id="20" name="Rectangle: Rounded Corners 19">
            <a:extLst>
              <a:ext uri="{FF2B5EF4-FFF2-40B4-BE49-F238E27FC236}">
                <a16:creationId xmlns:a16="http://schemas.microsoft.com/office/drawing/2014/main" id="{3AF9C34C-EC04-44B4-B9A7-E7A106451FCC}"/>
              </a:ext>
            </a:extLst>
          </p:cNvPr>
          <p:cNvSpPr>
            <a:spLocks noGrp="1"/>
          </p:cNvSpPr>
          <p:nvPr/>
        </p:nvSpPr>
        <p:spPr>
          <a:xfrm>
            <a:off x="6191250" y="4333875"/>
            <a:ext cx="4762500" cy="1276350"/>
          </a:xfrm>
          <a:prstGeom prst="roundRect">
            <a:avLst>
              <a:gd name="adj" fmla="val 7273"/>
            </a:avLst>
          </a:prstGeom>
          <a:solidFill>
            <a:srgbClr val="EAF6FF"/>
          </a:solidFill>
          <a:ln w="9525">
            <a:solidFill>
              <a:srgbClr val="D8E8F4"/>
            </a:solidFill>
            <a:prstDash val="solid"/>
          </a:ln>
        </p:spPr>
      </p:sp>
      <p:sp>
        <p:nvSpPr>
          <p:cNvPr id="21" name="Rectangle 20">
            <a:extLst>
              <a:ext uri="{FF2B5EF4-FFF2-40B4-BE49-F238E27FC236}">
                <a16:creationId xmlns:a16="http://schemas.microsoft.com/office/drawing/2014/main" id="{79401235-CBE5-4B9E-9AB7-829BF0735F21}"/>
              </a:ext>
            </a:extLst>
          </p:cNvPr>
          <p:cNvSpPr>
            <a:spLocks noGrp="1"/>
          </p:cNvSpPr>
          <p:nvPr/>
        </p:nvSpPr>
        <p:spPr>
          <a:xfrm>
            <a:off x="6419850" y="4514850"/>
            <a:ext cx="2095500" cy="266700"/>
          </a:xfrm>
          <a:prstGeom prst="rect">
            <a:avLst/>
          </a:prstGeom>
          <a:solidFill>
            <a:srgbClr val="000000">
              <a:alpha val="0"/>
            </a:srgbClr>
          </a:solidFill>
          <a:ln w="0">
            <a:solidFill>
              <a:srgbClr val="000000">
                <a:alpha val="0"/>
              </a:srgbClr>
            </a:solidFill>
            <a:prstDash val="solid"/>
          </a:ln>
        </p:spPr>
        <p:txBody>
          <a:bodyPr/>
          <a:lstStyle/>
          <a:p>
            <a:pPr algn="l">
              <a:defRPr sz="1500" b="1">
                <a:solidFill>
                  <a:srgbClr val="0B2559"/>
                </a:solidFill>
                <a:latin typeface="Aptos"/>
                <a:ea typeface="Aptos"/>
                <a:cs typeface="Aptos"/>
              </a:defRPr>
            </a:pPr>
            <a:r>
              <a:rPr sz="1500" b="1">
                <a:solidFill>
                  <a:srgbClr val="0B2559"/>
                </a:solidFill>
                <a:latin typeface="Aptos"/>
                <a:ea typeface="Aptos"/>
                <a:cs typeface="Aptos"/>
              </a:rPr>
              <a:t>Reference context</a:t>
            </a:r>
          </a:p>
        </p:txBody>
      </p:sp>
      <p:sp>
        <p:nvSpPr>
          <p:cNvPr id="22" name="Rectangle 21">
            <a:extLst>
              <a:ext uri="{FF2B5EF4-FFF2-40B4-BE49-F238E27FC236}">
                <a16:creationId xmlns:a16="http://schemas.microsoft.com/office/drawing/2014/main" id="{3B40AE50-00DA-4E29-A4E4-DD365859B3BB}"/>
              </a:ext>
            </a:extLst>
          </p:cNvPr>
          <p:cNvSpPr>
            <a:spLocks noGrp="1"/>
          </p:cNvSpPr>
          <p:nvPr/>
        </p:nvSpPr>
        <p:spPr>
          <a:xfrm>
            <a:off x="6419850" y="4838700"/>
            <a:ext cx="4114800" cy="419100"/>
          </a:xfrm>
          <a:prstGeom prst="rect">
            <a:avLst/>
          </a:prstGeom>
          <a:solidFill>
            <a:srgbClr val="000000">
              <a:alpha val="0"/>
            </a:srgbClr>
          </a:solidFill>
          <a:ln w="0">
            <a:solidFill>
              <a:srgbClr val="000000">
                <a:alpha val="0"/>
              </a:srgbClr>
            </a:solidFill>
            <a:prstDash val="solid"/>
          </a:ln>
        </p:spPr>
        <p:txBody>
          <a:bodyPr/>
          <a:lstStyle/>
          <a:p>
            <a:pPr algn="l">
              <a:defRPr sz="1350" b="0">
                <a:solidFill>
                  <a:srgbClr val="102033"/>
                </a:solidFill>
                <a:latin typeface="Aptos"/>
                <a:ea typeface="Aptos"/>
                <a:cs typeface="Aptos"/>
              </a:defRPr>
            </a:pPr>
            <a:r>
              <a:rPr sz="1350" b="0" dirty="0">
                <a:solidFill>
                  <a:srgbClr val="102033"/>
                </a:solidFill>
                <a:latin typeface="Aptos"/>
                <a:ea typeface="Aptos"/>
                <a:cs typeface="Aptos"/>
              </a:rPr>
              <a:t>Published HF studies report approximately 23-24% 30-day all-cause readmission after heart failure hospitalization.</a:t>
            </a:r>
          </a:p>
        </p:txBody>
      </p:sp>
    </p:spTree>
    <p:extLst>
      <p:ext uri="{BB962C8B-B14F-4D97-AF65-F5344CB8AC3E}">
        <p14:creationId xmlns:p14="http://schemas.microsoft.com/office/powerpoint/2010/main" val="421188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46EA01F-3E50-41BA-8962-23A4926EAAA4}"/>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9175727E-A166-4B76-B1AB-8D90C560D10D}"/>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7212AB45-E962-45C7-8E19-42DC9E979534}"/>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03</a:t>
            </a:r>
          </a:p>
        </p:txBody>
      </p:sp>
      <p:sp>
        <p:nvSpPr>
          <p:cNvPr id="5" name="Rectangle 4">
            <a:extLst>
              <a:ext uri="{FF2B5EF4-FFF2-40B4-BE49-F238E27FC236}">
                <a16:creationId xmlns:a16="http://schemas.microsoft.com/office/drawing/2014/main" id="{113DEA8E-945A-440D-9C62-420D5B86577A}"/>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Project Objectives</a:t>
            </a:r>
          </a:p>
        </p:txBody>
      </p:sp>
      <p:sp>
        <p:nvSpPr>
          <p:cNvPr id="6" name="Straight Connector 5">
            <a:extLst>
              <a:ext uri="{FF2B5EF4-FFF2-40B4-BE49-F238E27FC236}">
                <a16:creationId xmlns:a16="http://schemas.microsoft.com/office/drawing/2014/main" id="{3ADCC6AB-8071-4033-B3E9-8A35D0A8CB1C}"/>
              </a:ext>
            </a:extLst>
          </p:cNvPr>
          <p:cNvSpPr>
            <a:spLocks noGrp="1"/>
          </p:cNvSpPr>
          <p:nvPr/>
        </p:nvSpPr>
        <p:spPr>
          <a:xfrm flipV="1">
            <a:off x="552450" y="990600"/>
            <a:ext cx="2879008" cy="1"/>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8A4379A2-CDAF-4C89-874C-C28EEB822A85}"/>
              </a:ext>
            </a:extLst>
          </p:cNvPr>
          <p:cNvSpPr>
            <a:spLocks noGrp="1"/>
          </p:cNvSpPr>
          <p:nvPr/>
        </p:nvSpPr>
        <p:spPr>
          <a:xfrm>
            <a:off x="914400" y="1524000"/>
            <a:ext cx="2952750" cy="1381125"/>
          </a:xfrm>
          <a:prstGeom prst="roundRect">
            <a:avLst>
              <a:gd name="adj" fmla="val 5517"/>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29DE1771-DE8E-46A1-A8C5-908E64309CFE}"/>
              </a:ext>
            </a:extLst>
          </p:cNvPr>
          <p:cNvSpPr>
            <a:spLocks noGrp="1"/>
          </p:cNvSpPr>
          <p:nvPr/>
        </p:nvSpPr>
        <p:spPr>
          <a:xfrm>
            <a:off x="914400" y="1524000"/>
            <a:ext cx="66675" cy="1381125"/>
          </a:xfrm>
          <a:prstGeom prst="rect">
            <a:avLst/>
          </a:prstGeom>
          <a:solidFill>
            <a:srgbClr val="0B6EFD"/>
          </a:solidFill>
          <a:ln w="0">
            <a:solidFill>
              <a:srgbClr val="000000">
                <a:alpha val="0"/>
              </a:srgbClr>
            </a:solidFill>
            <a:prstDash val="solid"/>
          </a:ln>
        </p:spPr>
      </p:sp>
      <p:sp>
        <p:nvSpPr>
          <p:cNvPr id="9" name="Rectangle 8">
            <a:extLst>
              <a:ext uri="{FF2B5EF4-FFF2-40B4-BE49-F238E27FC236}">
                <a16:creationId xmlns:a16="http://schemas.microsoft.com/office/drawing/2014/main" id="{C26FF30D-5B70-4B59-8743-5BC97B554383}"/>
              </a:ext>
            </a:extLst>
          </p:cNvPr>
          <p:cNvSpPr>
            <a:spLocks noGrp="1"/>
          </p:cNvSpPr>
          <p:nvPr/>
        </p:nvSpPr>
        <p:spPr>
          <a:xfrm>
            <a:off x="1123950" y="1695450"/>
            <a:ext cx="257175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Predict readmission risk</a:t>
            </a:r>
          </a:p>
        </p:txBody>
      </p:sp>
      <p:sp>
        <p:nvSpPr>
          <p:cNvPr id="10" name="Rectangle 9">
            <a:extLst>
              <a:ext uri="{FF2B5EF4-FFF2-40B4-BE49-F238E27FC236}">
                <a16:creationId xmlns:a16="http://schemas.microsoft.com/office/drawing/2014/main" id="{90060DD9-F242-46FB-844D-1B0975FBFBC9}"/>
              </a:ext>
            </a:extLst>
          </p:cNvPr>
          <p:cNvSpPr>
            <a:spLocks noGrp="1"/>
          </p:cNvSpPr>
          <p:nvPr/>
        </p:nvSpPr>
        <p:spPr>
          <a:xfrm>
            <a:off x="1123950" y="2057400"/>
            <a:ext cx="2571750" cy="752475"/>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Estimate whether a patient is low, medium, or high risk.</a:t>
            </a:r>
          </a:p>
        </p:txBody>
      </p:sp>
      <p:sp>
        <p:nvSpPr>
          <p:cNvPr id="11" name="Rectangle: Rounded Corners 10">
            <a:extLst>
              <a:ext uri="{FF2B5EF4-FFF2-40B4-BE49-F238E27FC236}">
                <a16:creationId xmlns:a16="http://schemas.microsoft.com/office/drawing/2014/main" id="{CF3015F6-857B-4BE8-A770-07D3C0A437DC}"/>
              </a:ext>
            </a:extLst>
          </p:cNvPr>
          <p:cNvSpPr>
            <a:spLocks noGrp="1"/>
          </p:cNvSpPr>
          <p:nvPr/>
        </p:nvSpPr>
        <p:spPr>
          <a:xfrm>
            <a:off x="4391025" y="1524000"/>
            <a:ext cx="2952750" cy="1381125"/>
          </a:xfrm>
          <a:prstGeom prst="roundRect">
            <a:avLst>
              <a:gd name="adj" fmla="val 5517"/>
            </a:avLst>
          </a:prstGeom>
          <a:solidFill>
            <a:srgbClr val="FFFFFF"/>
          </a:solidFill>
          <a:ln w="9525">
            <a:solidFill>
              <a:srgbClr val="D8E8F4"/>
            </a:solidFill>
            <a:prstDash val="solid"/>
          </a:ln>
        </p:spPr>
      </p:sp>
      <p:sp>
        <p:nvSpPr>
          <p:cNvPr id="12" name="Rectangle 11">
            <a:extLst>
              <a:ext uri="{FF2B5EF4-FFF2-40B4-BE49-F238E27FC236}">
                <a16:creationId xmlns:a16="http://schemas.microsoft.com/office/drawing/2014/main" id="{D5771DF9-562B-4702-A6CF-BF57CE53370A}"/>
              </a:ext>
            </a:extLst>
          </p:cNvPr>
          <p:cNvSpPr>
            <a:spLocks noGrp="1"/>
          </p:cNvSpPr>
          <p:nvPr/>
        </p:nvSpPr>
        <p:spPr>
          <a:xfrm>
            <a:off x="4391025" y="1524000"/>
            <a:ext cx="66675" cy="1381125"/>
          </a:xfrm>
          <a:prstGeom prst="rect">
            <a:avLst/>
          </a:prstGeom>
          <a:solidFill>
            <a:srgbClr val="10B981"/>
          </a:solidFill>
          <a:ln w="0">
            <a:solidFill>
              <a:srgbClr val="000000">
                <a:alpha val="0"/>
              </a:srgbClr>
            </a:solidFill>
            <a:prstDash val="solid"/>
          </a:ln>
        </p:spPr>
      </p:sp>
      <p:sp>
        <p:nvSpPr>
          <p:cNvPr id="13" name="Rectangle 12">
            <a:extLst>
              <a:ext uri="{FF2B5EF4-FFF2-40B4-BE49-F238E27FC236}">
                <a16:creationId xmlns:a16="http://schemas.microsoft.com/office/drawing/2014/main" id="{0A379624-8618-49C9-85CE-1C0959B8E962}"/>
              </a:ext>
            </a:extLst>
          </p:cNvPr>
          <p:cNvSpPr>
            <a:spLocks noGrp="1"/>
          </p:cNvSpPr>
          <p:nvPr/>
        </p:nvSpPr>
        <p:spPr>
          <a:xfrm>
            <a:off x="4600575" y="1695450"/>
            <a:ext cx="27432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dirty="0">
                <a:solidFill>
                  <a:srgbClr val="0B2559"/>
                </a:solidFill>
                <a:latin typeface="Aptos"/>
                <a:ea typeface="Aptos"/>
                <a:cs typeface="Aptos"/>
              </a:rPr>
              <a:t>Analyze health parameters</a:t>
            </a:r>
          </a:p>
        </p:txBody>
      </p:sp>
      <p:sp>
        <p:nvSpPr>
          <p:cNvPr id="14" name="Rectangle 13">
            <a:extLst>
              <a:ext uri="{FF2B5EF4-FFF2-40B4-BE49-F238E27FC236}">
                <a16:creationId xmlns:a16="http://schemas.microsoft.com/office/drawing/2014/main" id="{65031BD9-7C34-4935-A11A-2440BBE41FCB}"/>
              </a:ext>
            </a:extLst>
          </p:cNvPr>
          <p:cNvSpPr>
            <a:spLocks noGrp="1"/>
          </p:cNvSpPr>
          <p:nvPr/>
        </p:nvSpPr>
        <p:spPr>
          <a:xfrm>
            <a:off x="4600575" y="2057400"/>
            <a:ext cx="2571750" cy="752475"/>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dirty="0">
                <a:solidFill>
                  <a:srgbClr val="5B6B7A"/>
                </a:solidFill>
                <a:latin typeface="Aptos"/>
                <a:ea typeface="Aptos"/>
                <a:cs typeface="Aptos"/>
              </a:rPr>
              <a:t>Use clinical and lifestyle attributes as model inputs.</a:t>
            </a:r>
          </a:p>
        </p:txBody>
      </p:sp>
      <p:sp>
        <p:nvSpPr>
          <p:cNvPr id="15" name="Rectangle: Rounded Corners 14">
            <a:extLst>
              <a:ext uri="{FF2B5EF4-FFF2-40B4-BE49-F238E27FC236}">
                <a16:creationId xmlns:a16="http://schemas.microsoft.com/office/drawing/2014/main" id="{9BC4D749-A851-4681-8521-209ADC37227F}"/>
              </a:ext>
            </a:extLst>
          </p:cNvPr>
          <p:cNvSpPr>
            <a:spLocks noGrp="1"/>
          </p:cNvSpPr>
          <p:nvPr/>
        </p:nvSpPr>
        <p:spPr>
          <a:xfrm>
            <a:off x="7867650" y="1524000"/>
            <a:ext cx="2952750" cy="1381125"/>
          </a:xfrm>
          <a:prstGeom prst="roundRect">
            <a:avLst>
              <a:gd name="adj" fmla="val 5517"/>
            </a:avLst>
          </a:prstGeom>
          <a:solidFill>
            <a:srgbClr val="FFFFFF"/>
          </a:solidFill>
          <a:ln w="9525">
            <a:solidFill>
              <a:srgbClr val="D8E8F4"/>
            </a:solidFill>
            <a:prstDash val="solid"/>
          </a:ln>
        </p:spPr>
      </p:sp>
      <p:sp>
        <p:nvSpPr>
          <p:cNvPr id="16" name="Rectangle 15">
            <a:extLst>
              <a:ext uri="{FF2B5EF4-FFF2-40B4-BE49-F238E27FC236}">
                <a16:creationId xmlns:a16="http://schemas.microsoft.com/office/drawing/2014/main" id="{D15840DE-C788-40B6-B550-5C00AEBB6B0E}"/>
              </a:ext>
            </a:extLst>
          </p:cNvPr>
          <p:cNvSpPr>
            <a:spLocks noGrp="1"/>
          </p:cNvSpPr>
          <p:nvPr/>
        </p:nvSpPr>
        <p:spPr>
          <a:xfrm>
            <a:off x="7867650" y="1524000"/>
            <a:ext cx="66675" cy="1381125"/>
          </a:xfrm>
          <a:prstGeom prst="rect">
            <a:avLst/>
          </a:prstGeom>
          <a:solidFill>
            <a:srgbClr val="2CB7D5"/>
          </a:solidFill>
          <a:ln w="0">
            <a:solidFill>
              <a:srgbClr val="000000">
                <a:alpha val="0"/>
              </a:srgbClr>
            </a:solidFill>
            <a:prstDash val="solid"/>
          </a:ln>
        </p:spPr>
      </p:sp>
      <p:sp>
        <p:nvSpPr>
          <p:cNvPr id="17" name="Rectangle 16">
            <a:extLst>
              <a:ext uri="{FF2B5EF4-FFF2-40B4-BE49-F238E27FC236}">
                <a16:creationId xmlns:a16="http://schemas.microsoft.com/office/drawing/2014/main" id="{76C576C0-71DA-46B7-8723-8AFEE87E9AAE}"/>
              </a:ext>
            </a:extLst>
          </p:cNvPr>
          <p:cNvSpPr>
            <a:spLocks noGrp="1"/>
          </p:cNvSpPr>
          <p:nvPr/>
        </p:nvSpPr>
        <p:spPr>
          <a:xfrm>
            <a:off x="8077200" y="1695450"/>
            <a:ext cx="257175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Assist doctors</a:t>
            </a:r>
          </a:p>
        </p:txBody>
      </p:sp>
      <p:sp>
        <p:nvSpPr>
          <p:cNvPr id="18" name="Rectangle 17">
            <a:extLst>
              <a:ext uri="{FF2B5EF4-FFF2-40B4-BE49-F238E27FC236}">
                <a16:creationId xmlns:a16="http://schemas.microsoft.com/office/drawing/2014/main" id="{132A1CB1-2389-4689-8C9C-608852CDE0C3}"/>
              </a:ext>
            </a:extLst>
          </p:cNvPr>
          <p:cNvSpPr>
            <a:spLocks noGrp="1"/>
          </p:cNvSpPr>
          <p:nvPr/>
        </p:nvSpPr>
        <p:spPr>
          <a:xfrm>
            <a:off x="8077200" y="2057400"/>
            <a:ext cx="2571750" cy="752475"/>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Support preventive decision-making after discharge.</a:t>
            </a:r>
          </a:p>
        </p:txBody>
      </p:sp>
      <p:sp>
        <p:nvSpPr>
          <p:cNvPr id="19" name="Rectangle: Rounded Corners 18">
            <a:extLst>
              <a:ext uri="{FF2B5EF4-FFF2-40B4-BE49-F238E27FC236}">
                <a16:creationId xmlns:a16="http://schemas.microsoft.com/office/drawing/2014/main" id="{6B7C7921-7034-4B36-B515-AF19F86E0801}"/>
              </a:ext>
            </a:extLst>
          </p:cNvPr>
          <p:cNvSpPr>
            <a:spLocks noGrp="1"/>
          </p:cNvSpPr>
          <p:nvPr/>
        </p:nvSpPr>
        <p:spPr>
          <a:xfrm>
            <a:off x="914400" y="3752850"/>
            <a:ext cx="2952750" cy="1381125"/>
          </a:xfrm>
          <a:prstGeom prst="roundRect">
            <a:avLst>
              <a:gd name="adj" fmla="val 5517"/>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26B02C1B-1F23-4258-A466-9CD76AA4BBB4}"/>
              </a:ext>
            </a:extLst>
          </p:cNvPr>
          <p:cNvSpPr>
            <a:spLocks noGrp="1"/>
          </p:cNvSpPr>
          <p:nvPr/>
        </p:nvSpPr>
        <p:spPr>
          <a:xfrm>
            <a:off x="914400" y="3752850"/>
            <a:ext cx="66675" cy="1381125"/>
          </a:xfrm>
          <a:prstGeom prst="rect">
            <a:avLst/>
          </a:prstGeom>
          <a:solidFill>
            <a:srgbClr val="F59E0B"/>
          </a:solidFill>
          <a:ln w="0">
            <a:solidFill>
              <a:srgbClr val="000000">
                <a:alpha val="0"/>
              </a:srgbClr>
            </a:solidFill>
            <a:prstDash val="solid"/>
          </a:ln>
        </p:spPr>
      </p:sp>
      <p:sp>
        <p:nvSpPr>
          <p:cNvPr id="21" name="Rectangle 20">
            <a:extLst>
              <a:ext uri="{FF2B5EF4-FFF2-40B4-BE49-F238E27FC236}">
                <a16:creationId xmlns:a16="http://schemas.microsoft.com/office/drawing/2014/main" id="{01FB6253-95FF-422B-BB4B-6A6DBDF3287C}"/>
              </a:ext>
            </a:extLst>
          </p:cNvPr>
          <p:cNvSpPr>
            <a:spLocks noGrp="1"/>
          </p:cNvSpPr>
          <p:nvPr/>
        </p:nvSpPr>
        <p:spPr>
          <a:xfrm>
            <a:off x="1123950" y="3924300"/>
            <a:ext cx="257175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Improve monitoring</a:t>
            </a:r>
          </a:p>
        </p:txBody>
      </p:sp>
      <p:sp>
        <p:nvSpPr>
          <p:cNvPr id="22" name="Rectangle 21">
            <a:extLst>
              <a:ext uri="{FF2B5EF4-FFF2-40B4-BE49-F238E27FC236}">
                <a16:creationId xmlns:a16="http://schemas.microsoft.com/office/drawing/2014/main" id="{8A821026-37CA-4F2D-B719-793CD46924FC}"/>
              </a:ext>
            </a:extLst>
          </p:cNvPr>
          <p:cNvSpPr>
            <a:spLocks noGrp="1"/>
          </p:cNvSpPr>
          <p:nvPr/>
        </p:nvSpPr>
        <p:spPr>
          <a:xfrm>
            <a:off x="1123950" y="4286250"/>
            <a:ext cx="2571750" cy="752475"/>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Track patients and summarize risk patterns.</a:t>
            </a:r>
          </a:p>
        </p:txBody>
      </p:sp>
      <p:sp>
        <p:nvSpPr>
          <p:cNvPr id="23" name="Rectangle: Rounded Corners 22">
            <a:extLst>
              <a:ext uri="{FF2B5EF4-FFF2-40B4-BE49-F238E27FC236}">
                <a16:creationId xmlns:a16="http://schemas.microsoft.com/office/drawing/2014/main" id="{5D48FBC9-6EB6-4C76-99E3-5F76BE505EA9}"/>
              </a:ext>
            </a:extLst>
          </p:cNvPr>
          <p:cNvSpPr>
            <a:spLocks noGrp="1"/>
          </p:cNvSpPr>
          <p:nvPr/>
        </p:nvSpPr>
        <p:spPr>
          <a:xfrm>
            <a:off x="4391025" y="3752850"/>
            <a:ext cx="2952750" cy="1381125"/>
          </a:xfrm>
          <a:prstGeom prst="roundRect">
            <a:avLst>
              <a:gd name="adj" fmla="val 5517"/>
            </a:avLst>
          </a:prstGeom>
          <a:solidFill>
            <a:srgbClr val="FFFFFF"/>
          </a:solidFill>
          <a:ln w="9525">
            <a:solidFill>
              <a:srgbClr val="D8E8F4"/>
            </a:solidFill>
            <a:prstDash val="solid"/>
          </a:ln>
        </p:spPr>
      </p:sp>
      <p:sp>
        <p:nvSpPr>
          <p:cNvPr id="24" name="Rectangle 23">
            <a:extLst>
              <a:ext uri="{FF2B5EF4-FFF2-40B4-BE49-F238E27FC236}">
                <a16:creationId xmlns:a16="http://schemas.microsoft.com/office/drawing/2014/main" id="{235E2095-5C52-45A3-BCCA-EAF07722B9FC}"/>
              </a:ext>
            </a:extLst>
          </p:cNvPr>
          <p:cNvSpPr>
            <a:spLocks noGrp="1"/>
          </p:cNvSpPr>
          <p:nvPr/>
        </p:nvSpPr>
        <p:spPr>
          <a:xfrm>
            <a:off x="4391025" y="3752850"/>
            <a:ext cx="66675" cy="1381125"/>
          </a:xfrm>
          <a:prstGeom prst="rect">
            <a:avLst/>
          </a:prstGeom>
          <a:solidFill>
            <a:srgbClr val="EF4444"/>
          </a:solidFill>
          <a:ln w="0">
            <a:solidFill>
              <a:srgbClr val="000000">
                <a:alpha val="0"/>
              </a:srgbClr>
            </a:solidFill>
            <a:prstDash val="solid"/>
          </a:ln>
        </p:spPr>
      </p:sp>
      <p:sp>
        <p:nvSpPr>
          <p:cNvPr id="25" name="Rectangle 24">
            <a:extLst>
              <a:ext uri="{FF2B5EF4-FFF2-40B4-BE49-F238E27FC236}">
                <a16:creationId xmlns:a16="http://schemas.microsoft.com/office/drawing/2014/main" id="{91FB5826-690B-4974-9CA1-51C3CB6A74D2}"/>
              </a:ext>
            </a:extLst>
          </p:cNvPr>
          <p:cNvSpPr>
            <a:spLocks noGrp="1"/>
          </p:cNvSpPr>
          <p:nvPr/>
        </p:nvSpPr>
        <p:spPr>
          <a:xfrm>
            <a:off x="4600575" y="3924300"/>
            <a:ext cx="257175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Reduce readmissions</a:t>
            </a:r>
          </a:p>
        </p:txBody>
      </p:sp>
      <p:sp>
        <p:nvSpPr>
          <p:cNvPr id="26" name="Rectangle 25">
            <a:extLst>
              <a:ext uri="{FF2B5EF4-FFF2-40B4-BE49-F238E27FC236}">
                <a16:creationId xmlns:a16="http://schemas.microsoft.com/office/drawing/2014/main" id="{2BAAD862-EB78-4F2D-BCB7-4B8B6E84A7FD}"/>
              </a:ext>
            </a:extLst>
          </p:cNvPr>
          <p:cNvSpPr>
            <a:spLocks noGrp="1"/>
          </p:cNvSpPr>
          <p:nvPr/>
        </p:nvSpPr>
        <p:spPr>
          <a:xfrm>
            <a:off x="4600575" y="4286250"/>
            <a:ext cx="2571750" cy="752475"/>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Enable timely care plans and follow-up actions.</a:t>
            </a:r>
          </a:p>
        </p:txBody>
      </p:sp>
      <p:pic>
        <p:nvPicPr>
          <p:cNvPr id="54" name="Graphic 53"/>
          <p:cNvPicPr>
            <a:picLocks noChangeAspect="1"/>
          </p:cNvPicPr>
          <p:nvPr/>
        </p:nvPicPr>
        <p:blipFill>
          <a:blip>
            <a:extLst>
              <a:ext uri="{96DAC541-7B7A-43D3-8B79-37D633B846F1}">
                <asvg:svgBlip xmlns:asvg="http://schemas.microsoft.com/office/drawing/2016/SVG/main" r:embed="rId3"/>
              </a:ext>
            </a:extLst>
          </a:blip>
          <a:stretch/>
        </p:blipFill>
        <p:spPr>
          <a:xfrm>
            <a:off x="10001250" y="476250"/>
            <a:ext cx="419100" cy="419100"/>
          </a:xfrm>
          <a:prstGeom prst="rect">
            <a:avLst/>
          </a:prstGeom>
        </p:spPr>
      </p:pic>
    </p:spTree>
    <p:extLst>
      <p:ext uri="{BB962C8B-B14F-4D97-AF65-F5344CB8AC3E}">
        <p14:creationId xmlns:p14="http://schemas.microsoft.com/office/powerpoint/2010/main" val="2021446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CAF8D89-6FF2-45B2-A7E4-23E77F395DD3}"/>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333F2C24-A5B9-4106-9B40-481A1E0FA241}"/>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4AFCF690-1B9C-4409-B4D3-E98E57D505DA}"/>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04</a:t>
            </a:r>
          </a:p>
        </p:txBody>
      </p:sp>
      <p:sp>
        <p:nvSpPr>
          <p:cNvPr id="5" name="Rectangle 4">
            <a:extLst>
              <a:ext uri="{FF2B5EF4-FFF2-40B4-BE49-F238E27FC236}">
                <a16:creationId xmlns:a16="http://schemas.microsoft.com/office/drawing/2014/main" id="{FA6B4F8A-2C7E-47FF-A33A-C1CC393854BC}"/>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Existing System</a:t>
            </a:r>
          </a:p>
        </p:txBody>
      </p:sp>
      <p:sp>
        <p:nvSpPr>
          <p:cNvPr id="6" name="Straight Connector 5">
            <a:extLst>
              <a:ext uri="{FF2B5EF4-FFF2-40B4-BE49-F238E27FC236}">
                <a16:creationId xmlns:a16="http://schemas.microsoft.com/office/drawing/2014/main" id="{52FE50BC-6A4B-4C21-801E-18318F3E624E}"/>
              </a:ext>
            </a:extLst>
          </p:cNvPr>
          <p:cNvSpPr>
            <a:spLocks noGrp="1"/>
          </p:cNvSpPr>
          <p:nvPr/>
        </p:nvSpPr>
        <p:spPr>
          <a:xfrm flipV="1">
            <a:off x="552450" y="971550"/>
            <a:ext cx="2476500" cy="19050"/>
          </a:xfrm>
          <a:prstGeom prst="line">
            <a:avLst/>
          </a:prstGeom>
          <a:solidFill>
            <a:srgbClr val="000000">
              <a:alpha val="0"/>
            </a:srgbClr>
          </a:solidFill>
          <a:ln w="28575">
            <a:solidFill>
              <a:srgbClr val="2CB7D5"/>
            </a:solidFill>
            <a:prstDash val="solid"/>
          </a:ln>
        </p:spPr>
      </p:sp>
      <p:graphicFrame>
        <p:nvGraphicFramePr>
          <p:cNvPr id="15" name="Table 14"/>
          <p:cNvGraphicFramePr/>
          <p:nvPr/>
        </p:nvGraphicFramePr>
        <p:xfrm>
          <a:off x="857250" y="1428750"/>
          <a:ext cx="10096500" cy="3429000"/>
        </p:xfrm>
        <a:graphic>
          <a:graphicData uri="http://schemas.openxmlformats.org/drawingml/2006/table">
            <a:tbl>
              <a:tblPr firstRow="1" bandRow="1"/>
              <a:tblGrid>
                <a:gridCol w="3365500">
                  <a:extLst>
                    <a:ext uri="{9D8B030D-6E8A-4147-A177-3AD203B41FA5}">
                      <a16:colId xmlns:a16="http://schemas.microsoft.com/office/drawing/2014/main" val="20000"/>
                    </a:ext>
                  </a:extLst>
                </a:gridCol>
                <a:gridCol w="3365500">
                  <a:extLst>
                    <a:ext uri="{9D8B030D-6E8A-4147-A177-3AD203B41FA5}">
                      <a16:colId xmlns:a16="http://schemas.microsoft.com/office/drawing/2014/main" val="20001"/>
                    </a:ext>
                  </a:extLst>
                </a:gridCol>
                <a:gridCol w="3365500">
                  <a:extLst>
                    <a:ext uri="{9D8B030D-6E8A-4147-A177-3AD203B41FA5}">
                      <a16:colId xmlns:a16="http://schemas.microsoft.com/office/drawing/2014/main" val="20002"/>
                    </a:ext>
                  </a:extLst>
                </a:gridCol>
              </a:tblGrid>
              <a:tr h="685800">
                <a:tc>
                  <a:txBody>
                    <a:bodyPr/>
                    <a:lstStyle/>
                    <a:p>
                      <a:r>
                        <a:rPr sz="1350" b="1">
                          <a:solidFill>
                            <a:srgbClr val="FFFFFF"/>
                          </a:solidFill>
                        </a:rPr>
                        <a:t>Aspect</a:t>
                      </a:r>
                    </a:p>
                  </a:txBody>
                  <a:tcPr>
                    <a:solidFill>
                      <a:srgbClr val="0B2559"/>
                    </a:solidFill>
                  </a:tcPr>
                </a:tc>
                <a:tc>
                  <a:txBody>
                    <a:bodyPr/>
                    <a:lstStyle/>
                    <a:p>
                      <a:r>
                        <a:rPr sz="1350" b="1">
                          <a:solidFill>
                            <a:srgbClr val="FFFFFF"/>
                          </a:solidFill>
                        </a:rPr>
                        <a:t>Existing Practice</a:t>
                      </a:r>
                    </a:p>
                  </a:txBody>
                  <a:tcPr>
                    <a:solidFill>
                      <a:srgbClr val="0B2559"/>
                    </a:solidFill>
                  </a:tcPr>
                </a:tc>
                <a:tc>
                  <a:txBody>
                    <a:bodyPr/>
                    <a:lstStyle/>
                    <a:p>
                      <a:r>
                        <a:rPr sz="1350" b="1">
                          <a:solidFill>
                            <a:srgbClr val="FFFFFF"/>
                          </a:solidFill>
                        </a:rPr>
                        <a:t>Limitation</a:t>
                      </a:r>
                    </a:p>
                  </a:txBody>
                  <a:tcPr>
                    <a:solidFill>
                      <a:srgbClr val="0B2559"/>
                    </a:solidFill>
                  </a:tcPr>
                </a:tc>
                <a:extLst>
                  <a:ext uri="{0D108BD9-81ED-4DB2-BD59-A6C34878D82A}">
                    <a16:rowId xmlns:a16="http://schemas.microsoft.com/office/drawing/2014/main" val="10000"/>
                  </a:ext>
                </a:extLst>
              </a:tr>
              <a:tr h="685800">
                <a:tc>
                  <a:txBody>
                    <a:bodyPr/>
                    <a:lstStyle/>
                    <a:p>
                      <a:r>
                        <a:t>Monitoring</a:t>
                      </a:r>
                    </a:p>
                  </a:txBody>
                  <a:tcPr/>
                </a:tc>
                <a:tc>
                  <a:txBody>
                    <a:bodyPr/>
                    <a:lstStyle/>
                    <a:p>
                      <a:r>
                        <a:t>Manual checkups and reports</a:t>
                      </a:r>
                    </a:p>
                  </a:txBody>
                  <a:tcPr/>
                </a:tc>
                <a:tc>
                  <a:txBody>
                    <a:bodyPr/>
                    <a:lstStyle/>
                    <a:p>
                      <a:r>
                        <a:t>Difficult for large patient volume</a:t>
                      </a:r>
                    </a:p>
                  </a:txBody>
                  <a:tcPr/>
                </a:tc>
                <a:extLst>
                  <a:ext uri="{0D108BD9-81ED-4DB2-BD59-A6C34878D82A}">
                    <a16:rowId xmlns:a16="http://schemas.microsoft.com/office/drawing/2014/main" val="10001"/>
                  </a:ext>
                </a:extLst>
              </a:tr>
              <a:tr h="685800">
                <a:tc>
                  <a:txBody>
                    <a:bodyPr/>
                    <a:lstStyle/>
                    <a:p>
                      <a:r>
                        <a:t>Analysis</a:t>
                      </a:r>
                    </a:p>
                  </a:txBody>
                  <a:tcPr/>
                </a:tc>
                <a:tc>
                  <a:txBody>
                    <a:bodyPr/>
                    <a:lstStyle/>
                    <a:p>
                      <a:r>
                        <a:t>Doctor reviews each parameter</a:t>
                      </a:r>
                    </a:p>
                  </a:txBody>
                  <a:tcPr/>
                </a:tc>
                <a:tc>
                  <a:txBody>
                    <a:bodyPr/>
                    <a:lstStyle/>
                    <a:p>
                      <a:r>
                        <a:t>Time-consuming and subjective</a:t>
                      </a:r>
                    </a:p>
                  </a:txBody>
                  <a:tcPr/>
                </a:tc>
                <a:extLst>
                  <a:ext uri="{0D108BD9-81ED-4DB2-BD59-A6C34878D82A}">
                    <a16:rowId xmlns:a16="http://schemas.microsoft.com/office/drawing/2014/main" val="10002"/>
                  </a:ext>
                </a:extLst>
              </a:tr>
              <a:tr h="685800">
                <a:tc>
                  <a:txBody>
                    <a:bodyPr/>
                    <a:lstStyle/>
                    <a:p>
                      <a:r>
                        <a:t>Errors</a:t>
                      </a:r>
                    </a:p>
                  </a:txBody>
                  <a:tcPr/>
                </a:tc>
                <a:tc>
                  <a:txBody>
                    <a:bodyPr/>
                    <a:lstStyle/>
                    <a:p>
                      <a:r>
                        <a:t>Depends on human interpretation</a:t>
                      </a:r>
                    </a:p>
                  </a:txBody>
                  <a:tcPr/>
                </a:tc>
                <a:tc>
                  <a:txBody>
                    <a:bodyPr/>
                    <a:lstStyle/>
                    <a:p>
                      <a:r>
                        <a:t>Missed early warning patterns</a:t>
                      </a:r>
                    </a:p>
                  </a:txBody>
                  <a:tcPr/>
                </a:tc>
                <a:extLst>
                  <a:ext uri="{0D108BD9-81ED-4DB2-BD59-A6C34878D82A}">
                    <a16:rowId xmlns:a16="http://schemas.microsoft.com/office/drawing/2014/main" val="10003"/>
                  </a:ext>
                </a:extLst>
              </a:tr>
              <a:tr h="685800">
                <a:tc>
                  <a:txBody>
                    <a:bodyPr/>
                    <a:lstStyle/>
                    <a:p>
                      <a:r>
                        <a:t>Insights</a:t>
                      </a:r>
                    </a:p>
                  </a:txBody>
                  <a:tcPr/>
                </a:tc>
                <a:tc>
                  <a:txBody>
                    <a:bodyPr/>
                    <a:lstStyle/>
                    <a:p>
                      <a:r>
                        <a:t>Reactive treatment after symptoms</a:t>
                      </a:r>
                    </a:p>
                  </a:txBody>
                  <a:tcPr/>
                </a:tc>
                <a:tc>
                  <a:txBody>
                    <a:bodyPr/>
                    <a:lstStyle/>
                    <a:p>
                      <a:r>
                        <a:t>Limited predictive capability</a:t>
                      </a:r>
                    </a:p>
                  </a:txBody>
                  <a:tcP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4953F3C0-5769-4E99-972D-DC190B10BBDD}"/>
              </a:ext>
            </a:extLst>
          </p:cNvPr>
          <p:cNvSpPr>
            <a:spLocks noGrp="1"/>
          </p:cNvSpPr>
          <p:nvPr/>
        </p:nvSpPr>
        <p:spPr>
          <a:xfrm>
            <a:off x="1381125" y="5219700"/>
            <a:ext cx="9334500" cy="3048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6EFD"/>
                </a:solidFill>
                <a:latin typeface="Aptos"/>
                <a:ea typeface="Aptos"/>
                <a:cs typeface="Aptos"/>
              </a:defRPr>
            </a:pPr>
            <a:r>
              <a:rPr sz="1650" b="1">
                <a:solidFill>
                  <a:srgbClr val="0B6EFD"/>
                </a:solidFill>
                <a:latin typeface="Aptos"/>
                <a:ea typeface="Aptos"/>
                <a:cs typeface="Aptos"/>
              </a:rPr>
              <a:t>Conclusion: existing workflows are clinically valuable but need predictive support.</a:t>
            </a:r>
          </a:p>
        </p:txBody>
      </p:sp>
    </p:spTree>
    <p:extLst>
      <p:ext uri="{BB962C8B-B14F-4D97-AF65-F5344CB8AC3E}">
        <p14:creationId xmlns:p14="http://schemas.microsoft.com/office/powerpoint/2010/main" val="1814775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A5D48F4C-CBEB-4C9C-BE89-F54AA3945EC2}"/>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D43E486B-6F4F-4B2A-8D57-0FF052E853BB}"/>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CFF76C08-2E78-4063-BC57-C35C6232B7B0}"/>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05</a:t>
            </a:r>
          </a:p>
        </p:txBody>
      </p:sp>
      <p:sp>
        <p:nvSpPr>
          <p:cNvPr id="5" name="Rectangle 4">
            <a:extLst>
              <a:ext uri="{FF2B5EF4-FFF2-40B4-BE49-F238E27FC236}">
                <a16:creationId xmlns:a16="http://schemas.microsoft.com/office/drawing/2014/main" id="{EA4E2119-493B-40CE-900F-D9CDFF6C5EF3}"/>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Proposed System</a:t>
            </a:r>
          </a:p>
        </p:txBody>
      </p:sp>
      <p:sp>
        <p:nvSpPr>
          <p:cNvPr id="6" name="Straight Connector 5">
            <a:extLst>
              <a:ext uri="{FF2B5EF4-FFF2-40B4-BE49-F238E27FC236}">
                <a16:creationId xmlns:a16="http://schemas.microsoft.com/office/drawing/2014/main" id="{865FEB3D-BF37-47AE-943A-9FB7289DDA58}"/>
              </a:ext>
            </a:extLst>
          </p:cNvPr>
          <p:cNvSpPr>
            <a:spLocks noGrp="1"/>
          </p:cNvSpPr>
          <p:nvPr/>
        </p:nvSpPr>
        <p:spPr>
          <a:xfrm>
            <a:off x="552449" y="990601"/>
            <a:ext cx="2751189" cy="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A5DCDEAD-8189-463E-AE09-716DB595EF87}"/>
              </a:ext>
            </a:extLst>
          </p:cNvPr>
          <p:cNvSpPr>
            <a:spLocks noGrp="1"/>
          </p:cNvSpPr>
          <p:nvPr/>
        </p:nvSpPr>
        <p:spPr>
          <a:xfrm>
            <a:off x="838200" y="1714500"/>
            <a:ext cx="1889760" cy="876300"/>
          </a:xfrm>
          <a:prstGeom prst="roundRect">
            <a:avLst>
              <a:gd name="adj" fmla="val 8696"/>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696C0461-3EA0-425F-AA49-AAF0F564B130}"/>
              </a:ext>
            </a:extLst>
          </p:cNvPr>
          <p:cNvSpPr>
            <a:spLocks noGrp="1"/>
          </p:cNvSpPr>
          <p:nvPr/>
        </p:nvSpPr>
        <p:spPr>
          <a:xfrm>
            <a:off x="952500" y="1962150"/>
            <a:ext cx="166116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Patient Data</a:t>
            </a:r>
          </a:p>
        </p:txBody>
      </p:sp>
      <p:sp>
        <p:nvSpPr>
          <p:cNvPr id="9" name="Rectangle 8">
            <a:extLst>
              <a:ext uri="{FF2B5EF4-FFF2-40B4-BE49-F238E27FC236}">
                <a16:creationId xmlns:a16="http://schemas.microsoft.com/office/drawing/2014/main" id="{43158FF3-C804-43E5-BCCB-AFA31F5EA91D}"/>
              </a:ext>
            </a:extLst>
          </p:cNvPr>
          <p:cNvSpPr>
            <a:spLocks noGrp="1"/>
          </p:cNvSpPr>
          <p:nvPr/>
        </p:nvSpPr>
        <p:spPr>
          <a:xfrm>
            <a:off x="838200" y="1714500"/>
            <a:ext cx="1889760" cy="66675"/>
          </a:xfrm>
          <a:prstGeom prst="rect">
            <a:avLst/>
          </a:prstGeom>
          <a:solidFill>
            <a:srgbClr val="0B6EFD"/>
          </a:solidFill>
          <a:ln w="0">
            <a:solidFill>
              <a:srgbClr val="000000">
                <a:alpha val="0"/>
              </a:srgbClr>
            </a:solidFill>
            <a:prstDash val="solid"/>
          </a:ln>
        </p:spPr>
      </p:sp>
      <p:sp>
        <p:nvSpPr>
          <p:cNvPr id="10" name="Rectangle 9">
            <a:extLst>
              <a:ext uri="{FF2B5EF4-FFF2-40B4-BE49-F238E27FC236}">
                <a16:creationId xmlns:a16="http://schemas.microsoft.com/office/drawing/2014/main" id="{7436DB2C-1F83-47F0-B509-E1770ED0FC1F}"/>
              </a:ext>
            </a:extLst>
          </p:cNvPr>
          <p:cNvSpPr>
            <a:spLocks noGrp="1"/>
          </p:cNvSpPr>
          <p:nvPr/>
        </p:nvSpPr>
        <p:spPr>
          <a:xfrm>
            <a:off x="2775585" y="20097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1" name="Rectangle: Rounded Corners 10">
            <a:extLst>
              <a:ext uri="{FF2B5EF4-FFF2-40B4-BE49-F238E27FC236}">
                <a16:creationId xmlns:a16="http://schemas.microsoft.com/office/drawing/2014/main" id="{B55C8764-EC49-4E3A-B97D-0EE2950282E6}"/>
              </a:ext>
            </a:extLst>
          </p:cNvPr>
          <p:cNvSpPr>
            <a:spLocks noGrp="1"/>
          </p:cNvSpPr>
          <p:nvPr/>
        </p:nvSpPr>
        <p:spPr>
          <a:xfrm>
            <a:off x="2994660" y="1714500"/>
            <a:ext cx="1889760" cy="876300"/>
          </a:xfrm>
          <a:prstGeom prst="roundRect">
            <a:avLst>
              <a:gd name="adj" fmla="val 8696"/>
            </a:avLst>
          </a:prstGeom>
          <a:solidFill>
            <a:srgbClr val="FFFFFF"/>
          </a:solidFill>
          <a:ln w="9525">
            <a:solidFill>
              <a:srgbClr val="D8E8F4"/>
            </a:solidFill>
            <a:prstDash val="solid"/>
          </a:ln>
        </p:spPr>
      </p:sp>
      <p:sp>
        <p:nvSpPr>
          <p:cNvPr id="12" name="Rectangle 11">
            <a:extLst>
              <a:ext uri="{FF2B5EF4-FFF2-40B4-BE49-F238E27FC236}">
                <a16:creationId xmlns:a16="http://schemas.microsoft.com/office/drawing/2014/main" id="{3AC0423E-7FE5-4A75-8216-FD002380FF37}"/>
              </a:ext>
            </a:extLst>
          </p:cNvPr>
          <p:cNvSpPr>
            <a:spLocks noGrp="1"/>
          </p:cNvSpPr>
          <p:nvPr/>
        </p:nvSpPr>
        <p:spPr>
          <a:xfrm>
            <a:off x="3108960" y="1962150"/>
            <a:ext cx="166116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ML Prediction</a:t>
            </a:r>
          </a:p>
        </p:txBody>
      </p:sp>
      <p:sp>
        <p:nvSpPr>
          <p:cNvPr id="13" name="Rectangle 12">
            <a:extLst>
              <a:ext uri="{FF2B5EF4-FFF2-40B4-BE49-F238E27FC236}">
                <a16:creationId xmlns:a16="http://schemas.microsoft.com/office/drawing/2014/main" id="{82277151-D697-4878-B6F7-BB9ED57B897A}"/>
              </a:ext>
            </a:extLst>
          </p:cNvPr>
          <p:cNvSpPr>
            <a:spLocks noGrp="1"/>
          </p:cNvSpPr>
          <p:nvPr/>
        </p:nvSpPr>
        <p:spPr>
          <a:xfrm>
            <a:off x="2994660" y="1714500"/>
            <a:ext cx="1889760" cy="66675"/>
          </a:xfrm>
          <a:prstGeom prst="rect">
            <a:avLst/>
          </a:prstGeom>
          <a:solidFill>
            <a:srgbClr val="0B6EFD"/>
          </a:solidFill>
          <a:ln w="0">
            <a:solidFill>
              <a:srgbClr val="000000">
                <a:alpha val="0"/>
              </a:srgbClr>
            </a:solidFill>
            <a:prstDash val="solid"/>
          </a:ln>
        </p:spPr>
      </p:sp>
      <p:sp>
        <p:nvSpPr>
          <p:cNvPr id="14" name="Rectangle 13">
            <a:extLst>
              <a:ext uri="{FF2B5EF4-FFF2-40B4-BE49-F238E27FC236}">
                <a16:creationId xmlns:a16="http://schemas.microsoft.com/office/drawing/2014/main" id="{254F7EBC-D833-4CD8-897F-86DCAC26A9CE}"/>
              </a:ext>
            </a:extLst>
          </p:cNvPr>
          <p:cNvSpPr>
            <a:spLocks noGrp="1"/>
          </p:cNvSpPr>
          <p:nvPr/>
        </p:nvSpPr>
        <p:spPr>
          <a:xfrm>
            <a:off x="4932045" y="20097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5" name="Rectangle: Rounded Corners 14">
            <a:extLst>
              <a:ext uri="{FF2B5EF4-FFF2-40B4-BE49-F238E27FC236}">
                <a16:creationId xmlns:a16="http://schemas.microsoft.com/office/drawing/2014/main" id="{0BAEBA9C-866A-45B6-9A28-8FD6F3668CD0}"/>
              </a:ext>
            </a:extLst>
          </p:cNvPr>
          <p:cNvSpPr>
            <a:spLocks noGrp="1"/>
          </p:cNvSpPr>
          <p:nvPr/>
        </p:nvSpPr>
        <p:spPr>
          <a:xfrm>
            <a:off x="5151120" y="1714500"/>
            <a:ext cx="1889760" cy="876300"/>
          </a:xfrm>
          <a:prstGeom prst="roundRect">
            <a:avLst>
              <a:gd name="adj" fmla="val 8696"/>
            </a:avLst>
          </a:prstGeom>
          <a:solidFill>
            <a:srgbClr val="FFFFFF"/>
          </a:solidFill>
          <a:ln w="9525">
            <a:solidFill>
              <a:srgbClr val="D8E8F4"/>
            </a:solidFill>
            <a:prstDash val="solid"/>
          </a:ln>
        </p:spPr>
      </p:sp>
      <p:sp>
        <p:nvSpPr>
          <p:cNvPr id="16" name="Rectangle 15">
            <a:extLst>
              <a:ext uri="{FF2B5EF4-FFF2-40B4-BE49-F238E27FC236}">
                <a16:creationId xmlns:a16="http://schemas.microsoft.com/office/drawing/2014/main" id="{36E2BB64-50FD-40EA-BE76-048FDD8DE93B}"/>
              </a:ext>
            </a:extLst>
          </p:cNvPr>
          <p:cNvSpPr>
            <a:spLocks noGrp="1"/>
          </p:cNvSpPr>
          <p:nvPr/>
        </p:nvSpPr>
        <p:spPr>
          <a:xfrm>
            <a:off x="5265420" y="1962150"/>
            <a:ext cx="166116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Risk Score</a:t>
            </a:r>
          </a:p>
        </p:txBody>
      </p:sp>
      <p:sp>
        <p:nvSpPr>
          <p:cNvPr id="17" name="Rectangle 16">
            <a:extLst>
              <a:ext uri="{FF2B5EF4-FFF2-40B4-BE49-F238E27FC236}">
                <a16:creationId xmlns:a16="http://schemas.microsoft.com/office/drawing/2014/main" id="{40B4C2FE-B43B-400F-880A-15B581A70D71}"/>
              </a:ext>
            </a:extLst>
          </p:cNvPr>
          <p:cNvSpPr>
            <a:spLocks noGrp="1"/>
          </p:cNvSpPr>
          <p:nvPr/>
        </p:nvSpPr>
        <p:spPr>
          <a:xfrm>
            <a:off x="5151120" y="1714500"/>
            <a:ext cx="1889760" cy="66675"/>
          </a:xfrm>
          <a:prstGeom prst="rect">
            <a:avLst/>
          </a:prstGeom>
          <a:solidFill>
            <a:srgbClr val="0B6EFD"/>
          </a:solidFill>
          <a:ln w="0">
            <a:solidFill>
              <a:srgbClr val="000000">
                <a:alpha val="0"/>
              </a:srgbClr>
            </a:solidFill>
            <a:prstDash val="solid"/>
          </a:ln>
        </p:spPr>
      </p:sp>
      <p:sp>
        <p:nvSpPr>
          <p:cNvPr id="18" name="Rectangle 17">
            <a:extLst>
              <a:ext uri="{FF2B5EF4-FFF2-40B4-BE49-F238E27FC236}">
                <a16:creationId xmlns:a16="http://schemas.microsoft.com/office/drawing/2014/main" id="{652E540E-B199-472F-82FF-B5FDB7254351}"/>
              </a:ext>
            </a:extLst>
          </p:cNvPr>
          <p:cNvSpPr>
            <a:spLocks noGrp="1"/>
          </p:cNvSpPr>
          <p:nvPr/>
        </p:nvSpPr>
        <p:spPr>
          <a:xfrm>
            <a:off x="7088505" y="20097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9" name="Rectangle: Rounded Corners 18">
            <a:extLst>
              <a:ext uri="{FF2B5EF4-FFF2-40B4-BE49-F238E27FC236}">
                <a16:creationId xmlns:a16="http://schemas.microsoft.com/office/drawing/2014/main" id="{6F11A4B1-DD58-4CD9-9DDF-BB279F26B001}"/>
              </a:ext>
            </a:extLst>
          </p:cNvPr>
          <p:cNvSpPr>
            <a:spLocks noGrp="1"/>
          </p:cNvSpPr>
          <p:nvPr/>
        </p:nvSpPr>
        <p:spPr>
          <a:xfrm>
            <a:off x="7307580" y="1714500"/>
            <a:ext cx="1889760" cy="876300"/>
          </a:xfrm>
          <a:prstGeom prst="roundRect">
            <a:avLst>
              <a:gd name="adj" fmla="val 8696"/>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4ACCC78A-038B-49A0-B799-74BAF2B13BA1}"/>
              </a:ext>
            </a:extLst>
          </p:cNvPr>
          <p:cNvSpPr>
            <a:spLocks noGrp="1"/>
          </p:cNvSpPr>
          <p:nvPr/>
        </p:nvSpPr>
        <p:spPr>
          <a:xfrm>
            <a:off x="7421880" y="1962150"/>
            <a:ext cx="166116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Doctor Review</a:t>
            </a:r>
          </a:p>
        </p:txBody>
      </p:sp>
      <p:sp>
        <p:nvSpPr>
          <p:cNvPr id="21" name="Rectangle 20">
            <a:extLst>
              <a:ext uri="{FF2B5EF4-FFF2-40B4-BE49-F238E27FC236}">
                <a16:creationId xmlns:a16="http://schemas.microsoft.com/office/drawing/2014/main" id="{5213BD02-DF5E-4EFE-972E-1337CD0C5DB9}"/>
              </a:ext>
            </a:extLst>
          </p:cNvPr>
          <p:cNvSpPr>
            <a:spLocks noGrp="1"/>
          </p:cNvSpPr>
          <p:nvPr/>
        </p:nvSpPr>
        <p:spPr>
          <a:xfrm>
            <a:off x="7307580" y="1714500"/>
            <a:ext cx="1889760" cy="66675"/>
          </a:xfrm>
          <a:prstGeom prst="rect">
            <a:avLst/>
          </a:prstGeom>
          <a:solidFill>
            <a:srgbClr val="0B6EFD"/>
          </a:solidFill>
          <a:ln w="0">
            <a:solidFill>
              <a:srgbClr val="000000">
                <a:alpha val="0"/>
              </a:srgbClr>
            </a:solidFill>
            <a:prstDash val="solid"/>
          </a:ln>
        </p:spPr>
      </p:sp>
      <p:sp>
        <p:nvSpPr>
          <p:cNvPr id="22" name="Rectangle 21">
            <a:extLst>
              <a:ext uri="{FF2B5EF4-FFF2-40B4-BE49-F238E27FC236}">
                <a16:creationId xmlns:a16="http://schemas.microsoft.com/office/drawing/2014/main" id="{3F7E4F55-3356-47BC-8B37-A9DDF4EBC089}"/>
              </a:ext>
            </a:extLst>
          </p:cNvPr>
          <p:cNvSpPr>
            <a:spLocks noGrp="1"/>
          </p:cNvSpPr>
          <p:nvPr/>
        </p:nvSpPr>
        <p:spPr>
          <a:xfrm>
            <a:off x="9244965" y="20097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23" name="Rectangle: Rounded Corners 22">
            <a:extLst>
              <a:ext uri="{FF2B5EF4-FFF2-40B4-BE49-F238E27FC236}">
                <a16:creationId xmlns:a16="http://schemas.microsoft.com/office/drawing/2014/main" id="{A36634F7-10B5-416C-B1B9-6BB4A9D40BF8}"/>
              </a:ext>
            </a:extLst>
          </p:cNvPr>
          <p:cNvSpPr>
            <a:spLocks noGrp="1"/>
          </p:cNvSpPr>
          <p:nvPr/>
        </p:nvSpPr>
        <p:spPr>
          <a:xfrm>
            <a:off x="9464040" y="1714500"/>
            <a:ext cx="1889760" cy="876300"/>
          </a:xfrm>
          <a:prstGeom prst="roundRect">
            <a:avLst>
              <a:gd name="adj" fmla="val 8696"/>
            </a:avLst>
          </a:prstGeom>
          <a:solidFill>
            <a:srgbClr val="FFFFFF"/>
          </a:solidFill>
          <a:ln w="9525">
            <a:solidFill>
              <a:srgbClr val="D8E8F4"/>
            </a:solidFill>
            <a:prstDash val="solid"/>
          </a:ln>
        </p:spPr>
      </p:sp>
      <p:sp>
        <p:nvSpPr>
          <p:cNvPr id="24" name="Rectangle 23">
            <a:extLst>
              <a:ext uri="{FF2B5EF4-FFF2-40B4-BE49-F238E27FC236}">
                <a16:creationId xmlns:a16="http://schemas.microsoft.com/office/drawing/2014/main" id="{A8957DA4-6941-40BA-A310-77221F4F77BF}"/>
              </a:ext>
            </a:extLst>
          </p:cNvPr>
          <p:cNvSpPr>
            <a:spLocks noGrp="1"/>
          </p:cNvSpPr>
          <p:nvPr/>
        </p:nvSpPr>
        <p:spPr>
          <a:xfrm>
            <a:off x="9578340" y="1962150"/>
            <a:ext cx="166116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Preventive Action</a:t>
            </a:r>
          </a:p>
        </p:txBody>
      </p:sp>
      <p:sp>
        <p:nvSpPr>
          <p:cNvPr id="25" name="Rectangle 24">
            <a:extLst>
              <a:ext uri="{FF2B5EF4-FFF2-40B4-BE49-F238E27FC236}">
                <a16:creationId xmlns:a16="http://schemas.microsoft.com/office/drawing/2014/main" id="{899F2A80-E329-4864-AA5A-2D6F4E9C05AB}"/>
              </a:ext>
            </a:extLst>
          </p:cNvPr>
          <p:cNvSpPr>
            <a:spLocks noGrp="1"/>
          </p:cNvSpPr>
          <p:nvPr/>
        </p:nvSpPr>
        <p:spPr>
          <a:xfrm>
            <a:off x="9464040" y="1714500"/>
            <a:ext cx="1889760" cy="66675"/>
          </a:xfrm>
          <a:prstGeom prst="rect">
            <a:avLst/>
          </a:prstGeom>
          <a:solidFill>
            <a:srgbClr val="0B6EFD"/>
          </a:solidFill>
          <a:ln w="0">
            <a:solidFill>
              <a:srgbClr val="000000">
                <a:alpha val="0"/>
              </a:srgbClr>
            </a:solidFill>
            <a:prstDash val="solid"/>
          </a:ln>
        </p:spPr>
      </p:sp>
      <p:sp>
        <p:nvSpPr>
          <p:cNvPr id="26" name="Rectangle: Rounded Corners 25">
            <a:extLst>
              <a:ext uri="{FF2B5EF4-FFF2-40B4-BE49-F238E27FC236}">
                <a16:creationId xmlns:a16="http://schemas.microsoft.com/office/drawing/2014/main" id="{311FDB18-5FA4-4D98-A666-21BBFA8D3002}"/>
              </a:ext>
            </a:extLst>
          </p:cNvPr>
          <p:cNvSpPr>
            <a:spLocks noGrp="1"/>
          </p:cNvSpPr>
          <p:nvPr/>
        </p:nvSpPr>
        <p:spPr>
          <a:xfrm>
            <a:off x="914400" y="3333750"/>
            <a:ext cx="3048000" cy="1428750"/>
          </a:xfrm>
          <a:prstGeom prst="roundRect">
            <a:avLst>
              <a:gd name="adj" fmla="val 5333"/>
            </a:avLst>
          </a:prstGeom>
          <a:solidFill>
            <a:srgbClr val="FFFFFF"/>
          </a:solidFill>
          <a:ln w="9525">
            <a:solidFill>
              <a:srgbClr val="D8E8F4"/>
            </a:solidFill>
            <a:prstDash val="solid"/>
          </a:ln>
        </p:spPr>
      </p:sp>
      <p:sp>
        <p:nvSpPr>
          <p:cNvPr id="27" name="Rectangle 26">
            <a:extLst>
              <a:ext uri="{FF2B5EF4-FFF2-40B4-BE49-F238E27FC236}">
                <a16:creationId xmlns:a16="http://schemas.microsoft.com/office/drawing/2014/main" id="{1EB821B8-C63E-45F5-86D1-DB867F6FA6D1}"/>
              </a:ext>
            </a:extLst>
          </p:cNvPr>
          <p:cNvSpPr>
            <a:spLocks noGrp="1"/>
          </p:cNvSpPr>
          <p:nvPr/>
        </p:nvSpPr>
        <p:spPr>
          <a:xfrm>
            <a:off x="914400" y="3333750"/>
            <a:ext cx="66675" cy="1428750"/>
          </a:xfrm>
          <a:prstGeom prst="rect">
            <a:avLst/>
          </a:prstGeom>
          <a:solidFill>
            <a:srgbClr val="0B6EFD"/>
          </a:solidFill>
          <a:ln w="0">
            <a:solidFill>
              <a:srgbClr val="000000">
                <a:alpha val="0"/>
              </a:srgbClr>
            </a:solidFill>
            <a:prstDash val="solid"/>
          </a:ln>
        </p:spPr>
      </p:sp>
      <p:sp>
        <p:nvSpPr>
          <p:cNvPr id="28" name="Rectangle 27">
            <a:extLst>
              <a:ext uri="{FF2B5EF4-FFF2-40B4-BE49-F238E27FC236}">
                <a16:creationId xmlns:a16="http://schemas.microsoft.com/office/drawing/2014/main" id="{4D53100A-A801-4811-B2BF-AE5E902BA151}"/>
              </a:ext>
            </a:extLst>
          </p:cNvPr>
          <p:cNvSpPr>
            <a:spLocks noGrp="1"/>
          </p:cNvSpPr>
          <p:nvPr/>
        </p:nvSpPr>
        <p:spPr>
          <a:xfrm>
            <a:off x="1057274" y="3467100"/>
            <a:ext cx="2981325"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dirty="0">
                <a:solidFill>
                  <a:srgbClr val="0B2559"/>
                </a:solidFill>
                <a:latin typeface="Aptos"/>
                <a:ea typeface="Aptos"/>
                <a:cs typeface="Aptos"/>
              </a:rPr>
              <a:t>Machine Learning Prediction</a:t>
            </a:r>
          </a:p>
        </p:txBody>
      </p:sp>
      <p:sp>
        <p:nvSpPr>
          <p:cNvPr id="29" name="Rectangle 28">
            <a:extLst>
              <a:ext uri="{FF2B5EF4-FFF2-40B4-BE49-F238E27FC236}">
                <a16:creationId xmlns:a16="http://schemas.microsoft.com/office/drawing/2014/main" id="{A3CBB3EF-00D6-4D7B-89D8-06A7D696CC31}"/>
              </a:ext>
            </a:extLst>
          </p:cNvPr>
          <p:cNvSpPr>
            <a:spLocks noGrp="1"/>
          </p:cNvSpPr>
          <p:nvPr/>
        </p:nvSpPr>
        <p:spPr>
          <a:xfrm>
            <a:off x="1123950" y="3867150"/>
            <a:ext cx="2667000" cy="8001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dirty="0">
                <a:solidFill>
                  <a:srgbClr val="5B6B7A"/>
                </a:solidFill>
                <a:latin typeface="Aptos"/>
                <a:ea typeface="Aptos"/>
                <a:cs typeface="Aptos"/>
              </a:rPr>
              <a:t>Model learns relationships between patient attributes and readmission outcomes.</a:t>
            </a:r>
          </a:p>
        </p:txBody>
      </p:sp>
      <p:sp>
        <p:nvSpPr>
          <p:cNvPr id="30" name="Rectangle: Rounded Corners 29">
            <a:extLst>
              <a:ext uri="{FF2B5EF4-FFF2-40B4-BE49-F238E27FC236}">
                <a16:creationId xmlns:a16="http://schemas.microsoft.com/office/drawing/2014/main" id="{DA8FBCC1-2F65-4F3F-9059-BA5D036189FF}"/>
              </a:ext>
            </a:extLst>
          </p:cNvPr>
          <p:cNvSpPr>
            <a:spLocks noGrp="1"/>
          </p:cNvSpPr>
          <p:nvPr/>
        </p:nvSpPr>
        <p:spPr>
          <a:xfrm>
            <a:off x="4572000" y="3333750"/>
            <a:ext cx="3048000" cy="1428750"/>
          </a:xfrm>
          <a:prstGeom prst="roundRect">
            <a:avLst>
              <a:gd name="adj" fmla="val 5333"/>
            </a:avLst>
          </a:prstGeom>
          <a:solidFill>
            <a:srgbClr val="FFFFFF"/>
          </a:solidFill>
          <a:ln w="9525">
            <a:solidFill>
              <a:srgbClr val="D8E8F4"/>
            </a:solidFill>
            <a:prstDash val="solid"/>
          </a:ln>
        </p:spPr>
      </p:sp>
      <p:sp>
        <p:nvSpPr>
          <p:cNvPr id="31" name="Rectangle 30">
            <a:extLst>
              <a:ext uri="{FF2B5EF4-FFF2-40B4-BE49-F238E27FC236}">
                <a16:creationId xmlns:a16="http://schemas.microsoft.com/office/drawing/2014/main" id="{12229D08-155E-4CF5-9ADD-56F24075CE6C}"/>
              </a:ext>
            </a:extLst>
          </p:cNvPr>
          <p:cNvSpPr>
            <a:spLocks noGrp="1"/>
          </p:cNvSpPr>
          <p:nvPr/>
        </p:nvSpPr>
        <p:spPr>
          <a:xfrm>
            <a:off x="4572000" y="3333750"/>
            <a:ext cx="66675" cy="1428750"/>
          </a:xfrm>
          <a:prstGeom prst="rect">
            <a:avLst/>
          </a:prstGeom>
          <a:solidFill>
            <a:srgbClr val="10B981"/>
          </a:solidFill>
          <a:ln w="0">
            <a:solidFill>
              <a:srgbClr val="000000">
                <a:alpha val="0"/>
              </a:srgbClr>
            </a:solidFill>
            <a:prstDash val="solid"/>
          </a:ln>
        </p:spPr>
      </p:sp>
      <p:sp>
        <p:nvSpPr>
          <p:cNvPr id="32" name="Rectangle 31">
            <a:extLst>
              <a:ext uri="{FF2B5EF4-FFF2-40B4-BE49-F238E27FC236}">
                <a16:creationId xmlns:a16="http://schemas.microsoft.com/office/drawing/2014/main" id="{7154AEFB-D82C-4D5E-A58C-80B0FD09910B}"/>
              </a:ext>
            </a:extLst>
          </p:cNvPr>
          <p:cNvSpPr>
            <a:spLocks noGrp="1"/>
          </p:cNvSpPr>
          <p:nvPr/>
        </p:nvSpPr>
        <p:spPr>
          <a:xfrm>
            <a:off x="4726184" y="3467100"/>
            <a:ext cx="2838450" cy="28575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dirty="0">
                <a:solidFill>
                  <a:srgbClr val="0B2559"/>
                </a:solidFill>
                <a:latin typeface="Aptos"/>
                <a:ea typeface="Aptos"/>
                <a:cs typeface="Aptos"/>
              </a:rPr>
              <a:t>Real-Time Risk Assessment</a:t>
            </a:r>
          </a:p>
        </p:txBody>
      </p:sp>
      <p:sp>
        <p:nvSpPr>
          <p:cNvPr id="33" name="Rectangle 32">
            <a:extLst>
              <a:ext uri="{FF2B5EF4-FFF2-40B4-BE49-F238E27FC236}">
                <a16:creationId xmlns:a16="http://schemas.microsoft.com/office/drawing/2014/main" id="{9A859457-79E8-4DBF-BC06-69BFB02FEB1B}"/>
              </a:ext>
            </a:extLst>
          </p:cNvPr>
          <p:cNvSpPr>
            <a:spLocks noGrp="1"/>
          </p:cNvSpPr>
          <p:nvPr/>
        </p:nvSpPr>
        <p:spPr>
          <a:xfrm>
            <a:off x="4781550" y="3867150"/>
            <a:ext cx="2667000" cy="8001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A prediction form gives immediate risk probability and category.</a:t>
            </a:r>
          </a:p>
        </p:txBody>
      </p:sp>
      <p:sp>
        <p:nvSpPr>
          <p:cNvPr id="34" name="Rectangle: Rounded Corners 33">
            <a:extLst>
              <a:ext uri="{FF2B5EF4-FFF2-40B4-BE49-F238E27FC236}">
                <a16:creationId xmlns:a16="http://schemas.microsoft.com/office/drawing/2014/main" id="{0D02CBC3-B350-43A6-BF2D-D94FAB5F1A56}"/>
              </a:ext>
            </a:extLst>
          </p:cNvPr>
          <p:cNvSpPr>
            <a:spLocks noGrp="1"/>
          </p:cNvSpPr>
          <p:nvPr/>
        </p:nvSpPr>
        <p:spPr>
          <a:xfrm>
            <a:off x="8229600" y="3333750"/>
            <a:ext cx="3048000" cy="1428750"/>
          </a:xfrm>
          <a:prstGeom prst="roundRect">
            <a:avLst>
              <a:gd name="adj" fmla="val 5333"/>
            </a:avLst>
          </a:prstGeom>
          <a:solidFill>
            <a:srgbClr val="FFFFFF"/>
          </a:solidFill>
          <a:ln w="9525">
            <a:solidFill>
              <a:srgbClr val="D8E8F4"/>
            </a:solidFill>
            <a:prstDash val="solid"/>
          </a:ln>
        </p:spPr>
      </p:sp>
      <p:sp>
        <p:nvSpPr>
          <p:cNvPr id="35" name="Rectangle 34">
            <a:extLst>
              <a:ext uri="{FF2B5EF4-FFF2-40B4-BE49-F238E27FC236}">
                <a16:creationId xmlns:a16="http://schemas.microsoft.com/office/drawing/2014/main" id="{813E1EF2-FBD9-47B6-8B53-EC17D760F0AD}"/>
              </a:ext>
            </a:extLst>
          </p:cNvPr>
          <p:cNvSpPr>
            <a:spLocks noGrp="1"/>
          </p:cNvSpPr>
          <p:nvPr/>
        </p:nvSpPr>
        <p:spPr>
          <a:xfrm>
            <a:off x="8229600" y="3333750"/>
            <a:ext cx="66675" cy="1428750"/>
          </a:xfrm>
          <a:prstGeom prst="rect">
            <a:avLst/>
          </a:prstGeom>
          <a:solidFill>
            <a:srgbClr val="2CB7D5"/>
          </a:solidFill>
          <a:ln w="0">
            <a:solidFill>
              <a:srgbClr val="000000">
                <a:alpha val="0"/>
              </a:srgbClr>
            </a:solidFill>
            <a:prstDash val="solid"/>
          </a:ln>
        </p:spPr>
      </p:sp>
      <p:sp>
        <p:nvSpPr>
          <p:cNvPr id="36" name="Rectangle 35">
            <a:extLst>
              <a:ext uri="{FF2B5EF4-FFF2-40B4-BE49-F238E27FC236}">
                <a16:creationId xmlns:a16="http://schemas.microsoft.com/office/drawing/2014/main" id="{B7FE39E0-EA4C-431D-AB6A-E8E3723E66EC}"/>
              </a:ext>
            </a:extLst>
          </p:cNvPr>
          <p:cNvSpPr>
            <a:spLocks noGrp="1"/>
          </p:cNvSpPr>
          <p:nvPr/>
        </p:nvSpPr>
        <p:spPr>
          <a:xfrm>
            <a:off x="8453437" y="3476625"/>
            <a:ext cx="26670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dirty="0">
                <a:solidFill>
                  <a:srgbClr val="0B2559"/>
                </a:solidFill>
                <a:latin typeface="Aptos"/>
                <a:ea typeface="Aptos"/>
                <a:cs typeface="Aptos"/>
              </a:rPr>
              <a:t>Preventive Healthcare</a:t>
            </a:r>
          </a:p>
        </p:txBody>
      </p:sp>
      <p:sp>
        <p:nvSpPr>
          <p:cNvPr id="37" name="Rectangle 36">
            <a:extLst>
              <a:ext uri="{FF2B5EF4-FFF2-40B4-BE49-F238E27FC236}">
                <a16:creationId xmlns:a16="http://schemas.microsoft.com/office/drawing/2014/main" id="{73F93943-CC14-4AD2-8FDD-8114F1D4C604}"/>
              </a:ext>
            </a:extLst>
          </p:cNvPr>
          <p:cNvSpPr>
            <a:spLocks noGrp="1"/>
          </p:cNvSpPr>
          <p:nvPr/>
        </p:nvSpPr>
        <p:spPr>
          <a:xfrm>
            <a:off x="8439150" y="3867150"/>
            <a:ext cx="2667000" cy="8001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Recommendations help doctors plan follow-up, monitoring, and counselling.</a:t>
            </a:r>
          </a:p>
        </p:txBody>
      </p:sp>
    </p:spTree>
    <p:extLst>
      <p:ext uri="{BB962C8B-B14F-4D97-AF65-F5344CB8AC3E}">
        <p14:creationId xmlns:p14="http://schemas.microsoft.com/office/powerpoint/2010/main" val="1622937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D2C2B2D-B9CE-49BE-A7FF-C27CEAC05C40}"/>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F33EA639-D0D7-475E-AF95-6013302AC10A}"/>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8A37DD51-816F-4128-B443-5FB3E5E4B6E0}"/>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06</a:t>
            </a:r>
          </a:p>
        </p:txBody>
      </p:sp>
      <p:sp>
        <p:nvSpPr>
          <p:cNvPr id="5" name="Rectangle 4">
            <a:extLst>
              <a:ext uri="{FF2B5EF4-FFF2-40B4-BE49-F238E27FC236}">
                <a16:creationId xmlns:a16="http://schemas.microsoft.com/office/drawing/2014/main" id="{CEB77E7C-3E1C-4B0F-AB8A-130F8B29768B}"/>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System Architecture</a:t>
            </a:r>
          </a:p>
        </p:txBody>
      </p:sp>
      <p:sp>
        <p:nvSpPr>
          <p:cNvPr id="6" name="Straight Connector 5">
            <a:extLst>
              <a:ext uri="{FF2B5EF4-FFF2-40B4-BE49-F238E27FC236}">
                <a16:creationId xmlns:a16="http://schemas.microsoft.com/office/drawing/2014/main" id="{57CE0AA4-7C20-4102-B2D3-A12DF510CCD2}"/>
              </a:ext>
            </a:extLst>
          </p:cNvPr>
          <p:cNvSpPr>
            <a:spLocks noGrp="1"/>
          </p:cNvSpPr>
          <p:nvPr/>
        </p:nvSpPr>
        <p:spPr>
          <a:xfrm flipV="1">
            <a:off x="581946" y="971551"/>
            <a:ext cx="3048000" cy="1905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FBED3AB0-4EBC-48EB-8E20-EBBD4663757D}"/>
              </a:ext>
            </a:extLst>
          </p:cNvPr>
          <p:cNvSpPr>
            <a:spLocks noGrp="1"/>
          </p:cNvSpPr>
          <p:nvPr/>
        </p:nvSpPr>
        <p:spPr>
          <a:xfrm>
            <a:off x="4048125" y="1200150"/>
            <a:ext cx="4095750" cy="476250"/>
          </a:xfrm>
          <a:prstGeom prst="roundRect">
            <a:avLst>
              <a:gd name="adj" fmla="val 16000"/>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9DCE9F66-80A0-445A-B136-DBDE89636C3F}"/>
              </a:ext>
            </a:extLst>
          </p:cNvPr>
          <p:cNvSpPr>
            <a:spLocks noGrp="1"/>
          </p:cNvSpPr>
          <p:nvPr/>
        </p:nvSpPr>
        <p:spPr>
          <a:xfrm>
            <a:off x="4200525" y="1323975"/>
            <a:ext cx="379095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Patient Data</a:t>
            </a:r>
          </a:p>
        </p:txBody>
      </p:sp>
      <p:sp>
        <p:nvSpPr>
          <p:cNvPr id="9" name="Rectangle 8">
            <a:extLst>
              <a:ext uri="{FF2B5EF4-FFF2-40B4-BE49-F238E27FC236}">
                <a16:creationId xmlns:a16="http://schemas.microsoft.com/office/drawing/2014/main" id="{C86F52E9-5424-4E99-938D-B0842C488476}"/>
              </a:ext>
            </a:extLst>
          </p:cNvPr>
          <p:cNvSpPr>
            <a:spLocks noGrp="1"/>
          </p:cNvSpPr>
          <p:nvPr/>
        </p:nvSpPr>
        <p:spPr>
          <a:xfrm>
            <a:off x="6000750" y="16192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0" name="Rectangle: Rounded Corners 9">
            <a:extLst>
              <a:ext uri="{FF2B5EF4-FFF2-40B4-BE49-F238E27FC236}">
                <a16:creationId xmlns:a16="http://schemas.microsoft.com/office/drawing/2014/main" id="{88E71770-6600-4952-BFDD-9D19F94BFB56}"/>
              </a:ext>
            </a:extLst>
          </p:cNvPr>
          <p:cNvSpPr>
            <a:spLocks noGrp="1"/>
          </p:cNvSpPr>
          <p:nvPr/>
        </p:nvSpPr>
        <p:spPr>
          <a:xfrm>
            <a:off x="4048125" y="1847850"/>
            <a:ext cx="4095750" cy="476250"/>
          </a:xfrm>
          <a:prstGeom prst="roundRect">
            <a:avLst>
              <a:gd name="adj" fmla="val 16000"/>
            </a:avLst>
          </a:prstGeom>
          <a:solidFill>
            <a:srgbClr val="FFFFFF"/>
          </a:solidFill>
          <a:ln w="9525">
            <a:solidFill>
              <a:srgbClr val="D8E8F4"/>
            </a:solidFill>
            <a:prstDash val="solid"/>
          </a:ln>
        </p:spPr>
      </p:sp>
      <p:sp>
        <p:nvSpPr>
          <p:cNvPr id="11" name="Rectangle 10">
            <a:extLst>
              <a:ext uri="{FF2B5EF4-FFF2-40B4-BE49-F238E27FC236}">
                <a16:creationId xmlns:a16="http://schemas.microsoft.com/office/drawing/2014/main" id="{1DF70520-3106-44A2-B9B4-3BC94C09C4C8}"/>
              </a:ext>
            </a:extLst>
          </p:cNvPr>
          <p:cNvSpPr>
            <a:spLocks noGrp="1"/>
          </p:cNvSpPr>
          <p:nvPr/>
        </p:nvSpPr>
        <p:spPr>
          <a:xfrm>
            <a:off x="4200525" y="1971675"/>
            <a:ext cx="379095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Data Preprocessing</a:t>
            </a:r>
          </a:p>
        </p:txBody>
      </p:sp>
      <p:sp>
        <p:nvSpPr>
          <p:cNvPr id="12" name="Rectangle 11">
            <a:extLst>
              <a:ext uri="{FF2B5EF4-FFF2-40B4-BE49-F238E27FC236}">
                <a16:creationId xmlns:a16="http://schemas.microsoft.com/office/drawing/2014/main" id="{399D4AE3-B6CE-43F5-A9FF-DB4D47B37C85}"/>
              </a:ext>
            </a:extLst>
          </p:cNvPr>
          <p:cNvSpPr>
            <a:spLocks noGrp="1"/>
          </p:cNvSpPr>
          <p:nvPr/>
        </p:nvSpPr>
        <p:spPr>
          <a:xfrm>
            <a:off x="6000750" y="22669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3" name="Rectangle: Rounded Corners 12">
            <a:extLst>
              <a:ext uri="{FF2B5EF4-FFF2-40B4-BE49-F238E27FC236}">
                <a16:creationId xmlns:a16="http://schemas.microsoft.com/office/drawing/2014/main" id="{6B998D27-D37F-42A8-AB0C-00682817BCE3}"/>
              </a:ext>
            </a:extLst>
          </p:cNvPr>
          <p:cNvSpPr>
            <a:spLocks noGrp="1"/>
          </p:cNvSpPr>
          <p:nvPr/>
        </p:nvSpPr>
        <p:spPr>
          <a:xfrm>
            <a:off x="4048125" y="2495550"/>
            <a:ext cx="4095750" cy="476250"/>
          </a:xfrm>
          <a:prstGeom prst="roundRect">
            <a:avLst>
              <a:gd name="adj" fmla="val 16000"/>
            </a:avLst>
          </a:prstGeom>
          <a:solidFill>
            <a:srgbClr val="FFFFFF"/>
          </a:solidFill>
          <a:ln w="9525">
            <a:solidFill>
              <a:srgbClr val="D8E8F4"/>
            </a:solidFill>
            <a:prstDash val="solid"/>
          </a:ln>
        </p:spPr>
      </p:sp>
      <p:sp>
        <p:nvSpPr>
          <p:cNvPr id="14" name="Rectangle 13">
            <a:extLst>
              <a:ext uri="{FF2B5EF4-FFF2-40B4-BE49-F238E27FC236}">
                <a16:creationId xmlns:a16="http://schemas.microsoft.com/office/drawing/2014/main" id="{06297D5F-078D-42D4-B357-16183825BF44}"/>
              </a:ext>
            </a:extLst>
          </p:cNvPr>
          <p:cNvSpPr>
            <a:spLocks noGrp="1"/>
          </p:cNvSpPr>
          <p:nvPr/>
        </p:nvSpPr>
        <p:spPr>
          <a:xfrm>
            <a:off x="4200525" y="2619375"/>
            <a:ext cx="379095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Feature Engineering</a:t>
            </a:r>
          </a:p>
        </p:txBody>
      </p:sp>
      <p:sp>
        <p:nvSpPr>
          <p:cNvPr id="15" name="Rectangle 14">
            <a:extLst>
              <a:ext uri="{FF2B5EF4-FFF2-40B4-BE49-F238E27FC236}">
                <a16:creationId xmlns:a16="http://schemas.microsoft.com/office/drawing/2014/main" id="{FB0DA5D7-7562-4D80-B602-76473C01364B}"/>
              </a:ext>
            </a:extLst>
          </p:cNvPr>
          <p:cNvSpPr>
            <a:spLocks noGrp="1"/>
          </p:cNvSpPr>
          <p:nvPr/>
        </p:nvSpPr>
        <p:spPr>
          <a:xfrm>
            <a:off x="6000750" y="29146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6" name="Rectangle: Rounded Corners 15">
            <a:extLst>
              <a:ext uri="{FF2B5EF4-FFF2-40B4-BE49-F238E27FC236}">
                <a16:creationId xmlns:a16="http://schemas.microsoft.com/office/drawing/2014/main" id="{095B0608-7155-4BC3-9372-BCD34031BD46}"/>
              </a:ext>
            </a:extLst>
          </p:cNvPr>
          <p:cNvSpPr>
            <a:spLocks noGrp="1"/>
          </p:cNvSpPr>
          <p:nvPr/>
        </p:nvSpPr>
        <p:spPr>
          <a:xfrm>
            <a:off x="4048125" y="3143250"/>
            <a:ext cx="4095750" cy="476250"/>
          </a:xfrm>
          <a:prstGeom prst="roundRect">
            <a:avLst>
              <a:gd name="adj" fmla="val 16000"/>
            </a:avLst>
          </a:prstGeom>
          <a:solidFill>
            <a:srgbClr val="FFFFFF"/>
          </a:solidFill>
          <a:ln w="9525">
            <a:solidFill>
              <a:srgbClr val="D8E8F4"/>
            </a:solidFill>
            <a:prstDash val="solid"/>
          </a:ln>
        </p:spPr>
      </p:sp>
      <p:sp>
        <p:nvSpPr>
          <p:cNvPr id="17" name="Rectangle 16">
            <a:extLst>
              <a:ext uri="{FF2B5EF4-FFF2-40B4-BE49-F238E27FC236}">
                <a16:creationId xmlns:a16="http://schemas.microsoft.com/office/drawing/2014/main" id="{B32E8E45-329C-4ADC-ABC5-2A637267FE6B}"/>
              </a:ext>
            </a:extLst>
          </p:cNvPr>
          <p:cNvSpPr>
            <a:spLocks noGrp="1"/>
          </p:cNvSpPr>
          <p:nvPr/>
        </p:nvSpPr>
        <p:spPr>
          <a:xfrm>
            <a:off x="4200525" y="3267075"/>
            <a:ext cx="379095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Machine Learning Model</a:t>
            </a:r>
          </a:p>
        </p:txBody>
      </p:sp>
      <p:sp>
        <p:nvSpPr>
          <p:cNvPr id="18" name="Rectangle 17">
            <a:extLst>
              <a:ext uri="{FF2B5EF4-FFF2-40B4-BE49-F238E27FC236}">
                <a16:creationId xmlns:a16="http://schemas.microsoft.com/office/drawing/2014/main" id="{5A79FFBE-7AE7-4B14-82FD-236AF4A28F72}"/>
              </a:ext>
            </a:extLst>
          </p:cNvPr>
          <p:cNvSpPr>
            <a:spLocks noGrp="1"/>
          </p:cNvSpPr>
          <p:nvPr/>
        </p:nvSpPr>
        <p:spPr>
          <a:xfrm>
            <a:off x="6000750" y="35623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9" name="Rectangle: Rounded Corners 18">
            <a:extLst>
              <a:ext uri="{FF2B5EF4-FFF2-40B4-BE49-F238E27FC236}">
                <a16:creationId xmlns:a16="http://schemas.microsoft.com/office/drawing/2014/main" id="{7AA899C7-2C9F-4A33-B424-0CFE2CB6EDAE}"/>
              </a:ext>
            </a:extLst>
          </p:cNvPr>
          <p:cNvSpPr>
            <a:spLocks noGrp="1"/>
          </p:cNvSpPr>
          <p:nvPr/>
        </p:nvSpPr>
        <p:spPr>
          <a:xfrm>
            <a:off x="4048125" y="3790950"/>
            <a:ext cx="4095750" cy="476250"/>
          </a:xfrm>
          <a:prstGeom prst="roundRect">
            <a:avLst>
              <a:gd name="adj" fmla="val 16000"/>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011CF3FB-4C65-4D99-9214-78EAE2FF4B50}"/>
              </a:ext>
            </a:extLst>
          </p:cNvPr>
          <p:cNvSpPr>
            <a:spLocks noGrp="1"/>
          </p:cNvSpPr>
          <p:nvPr/>
        </p:nvSpPr>
        <p:spPr>
          <a:xfrm>
            <a:off x="4200525" y="3914775"/>
            <a:ext cx="379095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Prediction Engine</a:t>
            </a:r>
          </a:p>
        </p:txBody>
      </p:sp>
      <p:sp>
        <p:nvSpPr>
          <p:cNvPr id="21" name="Rectangle 20">
            <a:extLst>
              <a:ext uri="{FF2B5EF4-FFF2-40B4-BE49-F238E27FC236}">
                <a16:creationId xmlns:a16="http://schemas.microsoft.com/office/drawing/2014/main" id="{8732DA97-826A-444D-8843-DCF551E22AE5}"/>
              </a:ext>
            </a:extLst>
          </p:cNvPr>
          <p:cNvSpPr>
            <a:spLocks noGrp="1"/>
          </p:cNvSpPr>
          <p:nvPr/>
        </p:nvSpPr>
        <p:spPr>
          <a:xfrm>
            <a:off x="6000750" y="42100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22" name="Rectangle: Rounded Corners 21">
            <a:extLst>
              <a:ext uri="{FF2B5EF4-FFF2-40B4-BE49-F238E27FC236}">
                <a16:creationId xmlns:a16="http://schemas.microsoft.com/office/drawing/2014/main" id="{AEA8F348-116B-45FF-956E-3A143F09F8E4}"/>
              </a:ext>
            </a:extLst>
          </p:cNvPr>
          <p:cNvSpPr>
            <a:spLocks noGrp="1"/>
          </p:cNvSpPr>
          <p:nvPr/>
        </p:nvSpPr>
        <p:spPr>
          <a:xfrm>
            <a:off x="4048125" y="4438650"/>
            <a:ext cx="4095750" cy="476250"/>
          </a:xfrm>
          <a:prstGeom prst="roundRect">
            <a:avLst>
              <a:gd name="adj" fmla="val 16000"/>
            </a:avLst>
          </a:prstGeom>
          <a:solidFill>
            <a:srgbClr val="FFFFFF"/>
          </a:solidFill>
          <a:ln w="9525">
            <a:solidFill>
              <a:srgbClr val="D8E8F4"/>
            </a:solidFill>
            <a:prstDash val="solid"/>
          </a:ln>
        </p:spPr>
      </p:sp>
      <p:sp>
        <p:nvSpPr>
          <p:cNvPr id="23" name="Rectangle 22">
            <a:extLst>
              <a:ext uri="{FF2B5EF4-FFF2-40B4-BE49-F238E27FC236}">
                <a16:creationId xmlns:a16="http://schemas.microsoft.com/office/drawing/2014/main" id="{2882D0E8-3C08-4D75-BA80-4CB756CB3217}"/>
              </a:ext>
            </a:extLst>
          </p:cNvPr>
          <p:cNvSpPr>
            <a:spLocks noGrp="1"/>
          </p:cNvSpPr>
          <p:nvPr/>
        </p:nvSpPr>
        <p:spPr>
          <a:xfrm>
            <a:off x="4200525" y="4562475"/>
            <a:ext cx="379095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Doctor Dashboard</a:t>
            </a:r>
          </a:p>
        </p:txBody>
      </p:sp>
      <p:sp>
        <p:nvSpPr>
          <p:cNvPr id="24" name="Rectangle 23">
            <a:extLst>
              <a:ext uri="{FF2B5EF4-FFF2-40B4-BE49-F238E27FC236}">
                <a16:creationId xmlns:a16="http://schemas.microsoft.com/office/drawing/2014/main" id="{C9701117-E33C-452C-B70F-29F364234DE8}"/>
              </a:ext>
            </a:extLst>
          </p:cNvPr>
          <p:cNvSpPr>
            <a:spLocks noGrp="1"/>
          </p:cNvSpPr>
          <p:nvPr/>
        </p:nvSpPr>
        <p:spPr>
          <a:xfrm>
            <a:off x="6000750" y="48577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25" name="Rectangle: Rounded Corners 24">
            <a:extLst>
              <a:ext uri="{FF2B5EF4-FFF2-40B4-BE49-F238E27FC236}">
                <a16:creationId xmlns:a16="http://schemas.microsoft.com/office/drawing/2014/main" id="{E29091C3-5DB4-4668-8130-24A1101103BB}"/>
              </a:ext>
            </a:extLst>
          </p:cNvPr>
          <p:cNvSpPr>
            <a:spLocks noGrp="1"/>
          </p:cNvSpPr>
          <p:nvPr/>
        </p:nvSpPr>
        <p:spPr>
          <a:xfrm>
            <a:off x="4048125" y="5086350"/>
            <a:ext cx="4095750" cy="476250"/>
          </a:xfrm>
          <a:prstGeom prst="roundRect">
            <a:avLst>
              <a:gd name="adj" fmla="val 16000"/>
            </a:avLst>
          </a:prstGeom>
          <a:solidFill>
            <a:srgbClr val="FFFFFF"/>
          </a:solidFill>
          <a:ln w="9525">
            <a:solidFill>
              <a:srgbClr val="D8E8F4"/>
            </a:solidFill>
            <a:prstDash val="solid"/>
          </a:ln>
        </p:spPr>
      </p:sp>
      <p:sp>
        <p:nvSpPr>
          <p:cNvPr id="26" name="Rectangle 25">
            <a:extLst>
              <a:ext uri="{FF2B5EF4-FFF2-40B4-BE49-F238E27FC236}">
                <a16:creationId xmlns:a16="http://schemas.microsoft.com/office/drawing/2014/main" id="{9CF6ED87-1EBA-4354-897A-FD1092BD1448}"/>
              </a:ext>
            </a:extLst>
          </p:cNvPr>
          <p:cNvSpPr>
            <a:spLocks noGrp="1"/>
          </p:cNvSpPr>
          <p:nvPr/>
        </p:nvSpPr>
        <p:spPr>
          <a:xfrm>
            <a:off x="4200525" y="5210175"/>
            <a:ext cx="379095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Preventive Recommendations</a:t>
            </a:r>
          </a:p>
        </p:txBody>
      </p:sp>
      <p:pic>
        <p:nvPicPr>
          <p:cNvPr id="59" name="Graphic 58"/>
          <p:cNvPicPr>
            <a:picLocks noChangeAspect="1"/>
          </p:cNvPicPr>
          <p:nvPr/>
        </p:nvPicPr>
        <p:blipFill>
          <a:blip>
            <a:extLst>
              <a:ext uri="{96DAC541-7B7A-43D3-8B79-37D633B846F1}">
                <asvg:svgBlip xmlns:asvg="http://schemas.microsoft.com/office/drawing/2016/SVG/main" r:embed="rId3"/>
              </a:ext>
            </a:extLst>
          </a:blip>
          <a:stretch/>
        </p:blipFill>
        <p:spPr>
          <a:xfrm>
            <a:off x="2333625" y="1476375"/>
            <a:ext cx="552450" cy="552450"/>
          </a:xfrm>
          <a:prstGeom prst="rect">
            <a:avLst/>
          </a:prstGeom>
        </p:spPr>
      </p:pic>
      <p:pic>
        <p:nvPicPr>
          <p:cNvPr id="60" name="Graphic 59"/>
          <p:cNvPicPr>
            <a:picLocks noChangeAspect="1"/>
          </p:cNvPicPr>
          <p:nvPr/>
        </p:nvPicPr>
        <p:blipFill>
          <a:blip>
            <a:extLst>
              <a:ext uri="{96DAC541-7B7A-43D3-8B79-37D633B846F1}">
                <asvg:svgBlip xmlns:asvg="http://schemas.microsoft.com/office/drawing/2016/SVG/main" r:embed="rId4"/>
              </a:ext>
            </a:extLst>
          </a:blip>
          <a:stretch/>
        </p:blipFill>
        <p:spPr>
          <a:xfrm>
            <a:off x="9096375" y="2714625"/>
            <a:ext cx="552450" cy="552450"/>
          </a:xfrm>
          <a:prstGeom prst="rect">
            <a:avLst/>
          </a:prstGeom>
        </p:spPr>
      </p:pic>
      <p:pic>
        <p:nvPicPr>
          <p:cNvPr id="61" name="Graphic 60"/>
          <p:cNvPicPr>
            <a:picLocks noChangeAspect="1"/>
          </p:cNvPicPr>
          <p:nvPr/>
        </p:nvPicPr>
        <p:blipFill>
          <a:blip>
            <a:extLst>
              <a:ext uri="{96DAC541-7B7A-43D3-8B79-37D633B846F1}">
                <asvg:svgBlip xmlns:asvg="http://schemas.microsoft.com/office/drawing/2016/SVG/main" r:embed="rId5"/>
              </a:ext>
            </a:extLst>
          </a:blip>
          <a:stretch/>
        </p:blipFill>
        <p:spPr>
          <a:xfrm>
            <a:off x="2333625" y="4333875"/>
            <a:ext cx="552450" cy="552450"/>
          </a:xfrm>
          <a:prstGeom prst="rect">
            <a:avLst/>
          </a:prstGeom>
        </p:spPr>
      </p:pic>
      <p:sp>
        <p:nvSpPr>
          <p:cNvPr id="30" name="Rectangle 29">
            <a:extLst>
              <a:ext uri="{FF2B5EF4-FFF2-40B4-BE49-F238E27FC236}">
                <a16:creationId xmlns:a16="http://schemas.microsoft.com/office/drawing/2014/main" id="{A9E8DE82-D341-4C06-82B6-E630084A1871}"/>
              </a:ext>
            </a:extLst>
          </p:cNvPr>
          <p:cNvSpPr>
            <a:spLocks noGrp="1"/>
          </p:cNvSpPr>
          <p:nvPr/>
        </p:nvSpPr>
        <p:spPr>
          <a:xfrm>
            <a:off x="1695450" y="2143125"/>
            <a:ext cx="1905000" cy="2667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Input layer</a:t>
            </a:r>
          </a:p>
        </p:txBody>
      </p:sp>
      <p:sp>
        <p:nvSpPr>
          <p:cNvPr id="31" name="Rectangle 30">
            <a:extLst>
              <a:ext uri="{FF2B5EF4-FFF2-40B4-BE49-F238E27FC236}">
                <a16:creationId xmlns:a16="http://schemas.microsoft.com/office/drawing/2014/main" id="{2524C4C7-D62D-4067-978B-2F6D3504B3DB}"/>
              </a:ext>
            </a:extLst>
          </p:cNvPr>
          <p:cNvSpPr>
            <a:spLocks noGrp="1"/>
          </p:cNvSpPr>
          <p:nvPr/>
        </p:nvSpPr>
        <p:spPr>
          <a:xfrm>
            <a:off x="8477250" y="3381375"/>
            <a:ext cx="2000250" cy="2667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Learning layer</a:t>
            </a:r>
          </a:p>
        </p:txBody>
      </p:sp>
      <p:sp>
        <p:nvSpPr>
          <p:cNvPr id="32" name="Rectangle 31">
            <a:extLst>
              <a:ext uri="{FF2B5EF4-FFF2-40B4-BE49-F238E27FC236}">
                <a16:creationId xmlns:a16="http://schemas.microsoft.com/office/drawing/2014/main" id="{7FF3E664-FB8F-49BC-A3AD-03E730A33669}"/>
              </a:ext>
            </a:extLst>
          </p:cNvPr>
          <p:cNvSpPr>
            <a:spLocks noGrp="1"/>
          </p:cNvSpPr>
          <p:nvPr/>
        </p:nvSpPr>
        <p:spPr>
          <a:xfrm>
            <a:off x="1524000" y="5000625"/>
            <a:ext cx="2286000" cy="2667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Presentation layer</a:t>
            </a:r>
          </a:p>
        </p:txBody>
      </p:sp>
    </p:spTree>
    <p:extLst>
      <p:ext uri="{BB962C8B-B14F-4D97-AF65-F5344CB8AC3E}">
        <p14:creationId xmlns:p14="http://schemas.microsoft.com/office/powerpoint/2010/main" val="352052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C0A1B6-73FC-4235-A52B-612EB5AF9B0A}"/>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0916B079-C8A2-469D-B076-EAE4BC9646A3}"/>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47AB3A8D-9555-4670-B170-1A94C080A288}"/>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07</a:t>
            </a:r>
          </a:p>
        </p:txBody>
      </p:sp>
      <p:sp>
        <p:nvSpPr>
          <p:cNvPr id="5" name="Rectangle 4">
            <a:extLst>
              <a:ext uri="{FF2B5EF4-FFF2-40B4-BE49-F238E27FC236}">
                <a16:creationId xmlns:a16="http://schemas.microsoft.com/office/drawing/2014/main" id="{4B1DCD54-A7E3-42CA-9DA3-CB6A56F4DF4F}"/>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Technology Stack</a:t>
            </a:r>
          </a:p>
        </p:txBody>
      </p:sp>
      <p:sp>
        <p:nvSpPr>
          <p:cNvPr id="6" name="Straight Connector 5">
            <a:extLst>
              <a:ext uri="{FF2B5EF4-FFF2-40B4-BE49-F238E27FC236}">
                <a16:creationId xmlns:a16="http://schemas.microsoft.com/office/drawing/2014/main" id="{B3352540-203A-4E33-BB9C-EE2042FA46CC}"/>
              </a:ext>
            </a:extLst>
          </p:cNvPr>
          <p:cNvSpPr>
            <a:spLocks noGrp="1"/>
          </p:cNvSpPr>
          <p:nvPr/>
        </p:nvSpPr>
        <p:spPr>
          <a:xfrm>
            <a:off x="552449" y="990601"/>
            <a:ext cx="2714623" cy="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FD53DF15-69F9-49C5-8135-E1D50E2B6435}"/>
              </a:ext>
            </a:extLst>
          </p:cNvPr>
          <p:cNvSpPr>
            <a:spLocks noGrp="1"/>
          </p:cNvSpPr>
          <p:nvPr/>
        </p:nvSpPr>
        <p:spPr>
          <a:xfrm>
            <a:off x="857250" y="1428750"/>
            <a:ext cx="2905125" cy="1352550"/>
          </a:xfrm>
          <a:prstGeom prst="roundRect">
            <a:avLst>
              <a:gd name="adj" fmla="val 5634"/>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D5E6B7E2-B1AA-4795-B60A-697BB389DC58}"/>
              </a:ext>
            </a:extLst>
          </p:cNvPr>
          <p:cNvSpPr>
            <a:spLocks noGrp="1"/>
          </p:cNvSpPr>
          <p:nvPr/>
        </p:nvSpPr>
        <p:spPr>
          <a:xfrm>
            <a:off x="857250" y="1428750"/>
            <a:ext cx="66675" cy="1352550"/>
          </a:xfrm>
          <a:prstGeom prst="rect">
            <a:avLst/>
          </a:prstGeom>
          <a:solidFill>
            <a:srgbClr val="0B6EFD"/>
          </a:solidFill>
          <a:ln w="0">
            <a:solidFill>
              <a:srgbClr val="000000">
                <a:alpha val="0"/>
              </a:srgbClr>
            </a:solidFill>
            <a:prstDash val="solid"/>
          </a:ln>
        </p:spPr>
      </p:sp>
      <p:sp>
        <p:nvSpPr>
          <p:cNvPr id="9" name="Rectangle 8">
            <a:extLst>
              <a:ext uri="{FF2B5EF4-FFF2-40B4-BE49-F238E27FC236}">
                <a16:creationId xmlns:a16="http://schemas.microsoft.com/office/drawing/2014/main" id="{6953BB80-B81F-49B9-8169-9E5A6868A3A6}"/>
              </a:ext>
            </a:extLst>
          </p:cNvPr>
          <p:cNvSpPr>
            <a:spLocks noGrp="1"/>
          </p:cNvSpPr>
          <p:nvPr/>
        </p:nvSpPr>
        <p:spPr>
          <a:xfrm>
            <a:off x="1066800" y="1600200"/>
            <a:ext cx="2524125"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Frontend</a:t>
            </a:r>
          </a:p>
        </p:txBody>
      </p:sp>
      <p:sp>
        <p:nvSpPr>
          <p:cNvPr id="10" name="Rectangle 9">
            <a:extLst>
              <a:ext uri="{FF2B5EF4-FFF2-40B4-BE49-F238E27FC236}">
                <a16:creationId xmlns:a16="http://schemas.microsoft.com/office/drawing/2014/main" id="{2B82DB9F-0EE2-4443-A9E9-757BE3C69852}"/>
              </a:ext>
            </a:extLst>
          </p:cNvPr>
          <p:cNvSpPr>
            <a:spLocks noGrp="1"/>
          </p:cNvSpPr>
          <p:nvPr/>
        </p:nvSpPr>
        <p:spPr>
          <a:xfrm>
            <a:off x="1066800" y="1962150"/>
            <a:ext cx="2524125" cy="7239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HTML, CSS, JavaScript</a:t>
            </a:r>
          </a:p>
        </p:txBody>
      </p:sp>
      <p:pic>
        <p:nvPicPr>
          <p:cNvPr id="47" name="Graphic 46"/>
          <p:cNvPicPr>
            <a:picLocks noChangeAspect="1"/>
          </p:cNvPicPr>
          <p:nvPr/>
        </p:nvPicPr>
        <p:blipFill>
          <a:blip>
            <a:extLst>
              <a:ext uri="{96DAC541-7B7A-43D3-8B79-37D633B846F1}">
                <asvg:svgBlip xmlns:asvg="http://schemas.microsoft.com/office/drawing/2016/SVG/main" r:embed="rId3"/>
              </a:ext>
            </a:extLst>
          </a:blip>
          <a:stretch/>
        </p:blipFill>
        <p:spPr>
          <a:xfrm>
            <a:off x="3000375" y="1657350"/>
            <a:ext cx="400050" cy="400050"/>
          </a:xfrm>
          <a:prstGeom prst="rect">
            <a:avLst/>
          </a:prstGeom>
        </p:spPr>
      </p:pic>
      <p:sp>
        <p:nvSpPr>
          <p:cNvPr id="12" name="Rectangle: Rounded Corners 11">
            <a:extLst>
              <a:ext uri="{FF2B5EF4-FFF2-40B4-BE49-F238E27FC236}">
                <a16:creationId xmlns:a16="http://schemas.microsoft.com/office/drawing/2014/main" id="{9D551121-51CB-477A-BE03-197C895F3F98}"/>
              </a:ext>
            </a:extLst>
          </p:cNvPr>
          <p:cNvSpPr>
            <a:spLocks noGrp="1"/>
          </p:cNvSpPr>
          <p:nvPr/>
        </p:nvSpPr>
        <p:spPr>
          <a:xfrm>
            <a:off x="4333875" y="1428750"/>
            <a:ext cx="2905125" cy="1352550"/>
          </a:xfrm>
          <a:prstGeom prst="roundRect">
            <a:avLst>
              <a:gd name="adj" fmla="val 5634"/>
            </a:avLst>
          </a:prstGeom>
          <a:solidFill>
            <a:srgbClr val="FFFFFF"/>
          </a:solidFill>
          <a:ln w="9525">
            <a:solidFill>
              <a:srgbClr val="D8E8F4"/>
            </a:solidFill>
            <a:prstDash val="solid"/>
          </a:ln>
        </p:spPr>
      </p:sp>
      <p:sp>
        <p:nvSpPr>
          <p:cNvPr id="13" name="Rectangle 12">
            <a:extLst>
              <a:ext uri="{FF2B5EF4-FFF2-40B4-BE49-F238E27FC236}">
                <a16:creationId xmlns:a16="http://schemas.microsoft.com/office/drawing/2014/main" id="{1F690F31-3E8E-4514-A2AA-19658518DD29}"/>
              </a:ext>
            </a:extLst>
          </p:cNvPr>
          <p:cNvSpPr>
            <a:spLocks noGrp="1"/>
          </p:cNvSpPr>
          <p:nvPr/>
        </p:nvSpPr>
        <p:spPr>
          <a:xfrm>
            <a:off x="4333875" y="1428750"/>
            <a:ext cx="66675" cy="1352550"/>
          </a:xfrm>
          <a:prstGeom prst="rect">
            <a:avLst/>
          </a:prstGeom>
          <a:solidFill>
            <a:srgbClr val="10B981"/>
          </a:solidFill>
          <a:ln w="0">
            <a:solidFill>
              <a:srgbClr val="000000">
                <a:alpha val="0"/>
              </a:srgbClr>
            </a:solidFill>
            <a:prstDash val="solid"/>
          </a:ln>
        </p:spPr>
      </p:sp>
      <p:sp>
        <p:nvSpPr>
          <p:cNvPr id="14" name="Rectangle 13">
            <a:extLst>
              <a:ext uri="{FF2B5EF4-FFF2-40B4-BE49-F238E27FC236}">
                <a16:creationId xmlns:a16="http://schemas.microsoft.com/office/drawing/2014/main" id="{07DC19F5-A9EB-411A-8162-0566BA4962E0}"/>
              </a:ext>
            </a:extLst>
          </p:cNvPr>
          <p:cNvSpPr>
            <a:spLocks noGrp="1"/>
          </p:cNvSpPr>
          <p:nvPr/>
        </p:nvSpPr>
        <p:spPr>
          <a:xfrm>
            <a:off x="4543425" y="1600200"/>
            <a:ext cx="2524125"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Backend</a:t>
            </a:r>
          </a:p>
        </p:txBody>
      </p:sp>
      <p:sp>
        <p:nvSpPr>
          <p:cNvPr id="15" name="Rectangle 14">
            <a:extLst>
              <a:ext uri="{FF2B5EF4-FFF2-40B4-BE49-F238E27FC236}">
                <a16:creationId xmlns:a16="http://schemas.microsoft.com/office/drawing/2014/main" id="{DDA02495-7B5C-4464-9600-9D6B048421BE}"/>
              </a:ext>
            </a:extLst>
          </p:cNvPr>
          <p:cNvSpPr>
            <a:spLocks noGrp="1"/>
          </p:cNvSpPr>
          <p:nvPr/>
        </p:nvSpPr>
        <p:spPr>
          <a:xfrm>
            <a:off x="4543425" y="1962150"/>
            <a:ext cx="2524125" cy="7239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Python, FastAPI</a:t>
            </a:r>
          </a:p>
        </p:txBody>
      </p:sp>
      <p:pic>
        <p:nvPicPr>
          <p:cNvPr id="52" name="Graphic 51"/>
          <p:cNvPicPr>
            <a:picLocks noChangeAspect="1"/>
          </p:cNvPicPr>
          <p:nvPr/>
        </p:nvPicPr>
        <p:blipFill>
          <a:blip>
            <a:extLst>
              <a:ext uri="{96DAC541-7B7A-43D3-8B79-37D633B846F1}">
                <asvg:svgBlip xmlns:asvg="http://schemas.microsoft.com/office/drawing/2016/SVG/main" r:embed="rId4"/>
              </a:ext>
            </a:extLst>
          </a:blip>
          <a:stretch/>
        </p:blipFill>
        <p:spPr>
          <a:xfrm>
            <a:off x="6477000" y="1657350"/>
            <a:ext cx="400050" cy="400050"/>
          </a:xfrm>
          <a:prstGeom prst="rect">
            <a:avLst/>
          </a:prstGeom>
        </p:spPr>
      </p:pic>
      <p:sp>
        <p:nvSpPr>
          <p:cNvPr id="17" name="Rectangle: Rounded Corners 16">
            <a:extLst>
              <a:ext uri="{FF2B5EF4-FFF2-40B4-BE49-F238E27FC236}">
                <a16:creationId xmlns:a16="http://schemas.microsoft.com/office/drawing/2014/main" id="{A798AC1E-462C-48BD-AE1D-6609B48A04D5}"/>
              </a:ext>
            </a:extLst>
          </p:cNvPr>
          <p:cNvSpPr>
            <a:spLocks noGrp="1"/>
          </p:cNvSpPr>
          <p:nvPr/>
        </p:nvSpPr>
        <p:spPr>
          <a:xfrm>
            <a:off x="7810500" y="1428750"/>
            <a:ext cx="2905125" cy="1352550"/>
          </a:xfrm>
          <a:prstGeom prst="roundRect">
            <a:avLst>
              <a:gd name="adj" fmla="val 5634"/>
            </a:avLst>
          </a:prstGeom>
          <a:solidFill>
            <a:srgbClr val="FFFFFF"/>
          </a:solidFill>
          <a:ln w="9525">
            <a:solidFill>
              <a:srgbClr val="D8E8F4"/>
            </a:solidFill>
            <a:prstDash val="solid"/>
          </a:ln>
        </p:spPr>
      </p:sp>
      <p:sp>
        <p:nvSpPr>
          <p:cNvPr id="18" name="Rectangle 17">
            <a:extLst>
              <a:ext uri="{FF2B5EF4-FFF2-40B4-BE49-F238E27FC236}">
                <a16:creationId xmlns:a16="http://schemas.microsoft.com/office/drawing/2014/main" id="{5E0295D7-863E-419D-82E7-16951F246243}"/>
              </a:ext>
            </a:extLst>
          </p:cNvPr>
          <p:cNvSpPr>
            <a:spLocks noGrp="1"/>
          </p:cNvSpPr>
          <p:nvPr/>
        </p:nvSpPr>
        <p:spPr>
          <a:xfrm>
            <a:off x="7810500" y="1428750"/>
            <a:ext cx="66675" cy="1352550"/>
          </a:xfrm>
          <a:prstGeom prst="rect">
            <a:avLst/>
          </a:prstGeom>
          <a:solidFill>
            <a:srgbClr val="2CB7D5"/>
          </a:solidFill>
          <a:ln w="0">
            <a:solidFill>
              <a:srgbClr val="000000">
                <a:alpha val="0"/>
              </a:srgbClr>
            </a:solidFill>
            <a:prstDash val="solid"/>
          </a:ln>
        </p:spPr>
      </p:sp>
      <p:sp>
        <p:nvSpPr>
          <p:cNvPr id="19" name="Rectangle 18">
            <a:extLst>
              <a:ext uri="{FF2B5EF4-FFF2-40B4-BE49-F238E27FC236}">
                <a16:creationId xmlns:a16="http://schemas.microsoft.com/office/drawing/2014/main" id="{A5284B32-A8A8-4BA2-BBCA-8A3048007DA9}"/>
              </a:ext>
            </a:extLst>
          </p:cNvPr>
          <p:cNvSpPr>
            <a:spLocks noGrp="1"/>
          </p:cNvSpPr>
          <p:nvPr/>
        </p:nvSpPr>
        <p:spPr>
          <a:xfrm>
            <a:off x="8020050" y="1600200"/>
            <a:ext cx="2524125"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Database</a:t>
            </a:r>
          </a:p>
        </p:txBody>
      </p:sp>
      <p:sp>
        <p:nvSpPr>
          <p:cNvPr id="20" name="Rectangle 19">
            <a:extLst>
              <a:ext uri="{FF2B5EF4-FFF2-40B4-BE49-F238E27FC236}">
                <a16:creationId xmlns:a16="http://schemas.microsoft.com/office/drawing/2014/main" id="{3283AEBC-2D29-4B01-8F16-140B60CC9958}"/>
              </a:ext>
            </a:extLst>
          </p:cNvPr>
          <p:cNvSpPr>
            <a:spLocks noGrp="1"/>
          </p:cNvSpPr>
          <p:nvPr/>
        </p:nvSpPr>
        <p:spPr>
          <a:xfrm>
            <a:off x="8020050" y="1962150"/>
            <a:ext cx="2524125" cy="7239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dirty="0">
                <a:solidFill>
                  <a:srgbClr val="5B6B7A"/>
                </a:solidFill>
                <a:latin typeface="Aptos"/>
                <a:ea typeface="Aptos"/>
                <a:cs typeface="Aptos"/>
              </a:rPr>
              <a:t>MySQL</a:t>
            </a:r>
          </a:p>
        </p:txBody>
      </p:sp>
      <p:pic>
        <p:nvPicPr>
          <p:cNvPr id="57" name="Graphic 56"/>
          <p:cNvPicPr>
            <a:picLocks noChangeAspect="1"/>
          </p:cNvPicPr>
          <p:nvPr/>
        </p:nvPicPr>
        <p:blipFill>
          <a:blip>
            <a:extLst>
              <a:ext uri="{96DAC541-7B7A-43D3-8B79-37D633B846F1}">
                <asvg:svgBlip xmlns:asvg="http://schemas.microsoft.com/office/drawing/2016/SVG/main" r:embed="rId5"/>
              </a:ext>
            </a:extLst>
          </a:blip>
          <a:stretch/>
        </p:blipFill>
        <p:spPr>
          <a:xfrm>
            <a:off x="9953625" y="1657350"/>
            <a:ext cx="400050" cy="400050"/>
          </a:xfrm>
          <a:prstGeom prst="rect">
            <a:avLst/>
          </a:prstGeom>
        </p:spPr>
      </p:pic>
      <p:sp>
        <p:nvSpPr>
          <p:cNvPr id="22" name="Rectangle: Rounded Corners 21">
            <a:extLst>
              <a:ext uri="{FF2B5EF4-FFF2-40B4-BE49-F238E27FC236}">
                <a16:creationId xmlns:a16="http://schemas.microsoft.com/office/drawing/2014/main" id="{2743537D-3967-458E-97AB-54B3ACEC8DBF}"/>
              </a:ext>
            </a:extLst>
          </p:cNvPr>
          <p:cNvSpPr>
            <a:spLocks noGrp="1"/>
          </p:cNvSpPr>
          <p:nvPr/>
        </p:nvSpPr>
        <p:spPr>
          <a:xfrm>
            <a:off x="857250" y="3714750"/>
            <a:ext cx="2905125" cy="1352550"/>
          </a:xfrm>
          <a:prstGeom prst="roundRect">
            <a:avLst>
              <a:gd name="adj" fmla="val 5634"/>
            </a:avLst>
          </a:prstGeom>
          <a:solidFill>
            <a:srgbClr val="FFFFFF"/>
          </a:solidFill>
          <a:ln w="9525">
            <a:solidFill>
              <a:srgbClr val="D8E8F4"/>
            </a:solidFill>
            <a:prstDash val="solid"/>
          </a:ln>
        </p:spPr>
      </p:sp>
      <p:sp>
        <p:nvSpPr>
          <p:cNvPr id="23" name="Rectangle 22">
            <a:extLst>
              <a:ext uri="{FF2B5EF4-FFF2-40B4-BE49-F238E27FC236}">
                <a16:creationId xmlns:a16="http://schemas.microsoft.com/office/drawing/2014/main" id="{0D1F49F2-0406-452E-B445-E0E2454928FD}"/>
              </a:ext>
            </a:extLst>
          </p:cNvPr>
          <p:cNvSpPr>
            <a:spLocks noGrp="1"/>
          </p:cNvSpPr>
          <p:nvPr/>
        </p:nvSpPr>
        <p:spPr>
          <a:xfrm>
            <a:off x="857250" y="3714750"/>
            <a:ext cx="66675" cy="1352550"/>
          </a:xfrm>
          <a:prstGeom prst="rect">
            <a:avLst/>
          </a:prstGeom>
          <a:solidFill>
            <a:srgbClr val="F59E0B"/>
          </a:solidFill>
          <a:ln w="0">
            <a:solidFill>
              <a:srgbClr val="000000">
                <a:alpha val="0"/>
              </a:srgbClr>
            </a:solidFill>
            <a:prstDash val="solid"/>
          </a:ln>
        </p:spPr>
      </p:sp>
      <p:sp>
        <p:nvSpPr>
          <p:cNvPr id="24" name="Rectangle 23">
            <a:extLst>
              <a:ext uri="{FF2B5EF4-FFF2-40B4-BE49-F238E27FC236}">
                <a16:creationId xmlns:a16="http://schemas.microsoft.com/office/drawing/2014/main" id="{0505AA9A-5ECB-43A3-94E7-284EF4852452}"/>
              </a:ext>
            </a:extLst>
          </p:cNvPr>
          <p:cNvSpPr>
            <a:spLocks noGrp="1"/>
          </p:cNvSpPr>
          <p:nvPr/>
        </p:nvSpPr>
        <p:spPr>
          <a:xfrm>
            <a:off x="1066800" y="3886200"/>
            <a:ext cx="2524125"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Machine Learning</a:t>
            </a:r>
          </a:p>
        </p:txBody>
      </p:sp>
      <p:sp>
        <p:nvSpPr>
          <p:cNvPr id="25" name="Rectangle 24">
            <a:extLst>
              <a:ext uri="{FF2B5EF4-FFF2-40B4-BE49-F238E27FC236}">
                <a16:creationId xmlns:a16="http://schemas.microsoft.com/office/drawing/2014/main" id="{F9663BDA-9CF0-4F76-BE81-350C93665289}"/>
              </a:ext>
            </a:extLst>
          </p:cNvPr>
          <p:cNvSpPr>
            <a:spLocks noGrp="1"/>
          </p:cNvSpPr>
          <p:nvPr/>
        </p:nvSpPr>
        <p:spPr>
          <a:xfrm>
            <a:off x="1066800" y="4248150"/>
            <a:ext cx="2524125" cy="7239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Scikit-learn, XGBoost</a:t>
            </a:r>
          </a:p>
        </p:txBody>
      </p:sp>
      <p:pic>
        <p:nvPicPr>
          <p:cNvPr id="62" name="Graphic 61"/>
          <p:cNvPicPr>
            <a:picLocks noChangeAspect="1"/>
          </p:cNvPicPr>
          <p:nvPr/>
        </p:nvPicPr>
        <p:blipFill>
          <a:blip>
            <a:extLst>
              <a:ext uri="{96DAC541-7B7A-43D3-8B79-37D633B846F1}">
                <asvg:svgBlip xmlns:asvg="http://schemas.microsoft.com/office/drawing/2016/SVG/main" r:embed="rId6"/>
              </a:ext>
            </a:extLst>
          </a:blip>
          <a:stretch/>
        </p:blipFill>
        <p:spPr>
          <a:xfrm>
            <a:off x="3000375" y="3943350"/>
            <a:ext cx="400050" cy="400050"/>
          </a:xfrm>
          <a:prstGeom prst="rect">
            <a:avLst/>
          </a:prstGeom>
        </p:spPr>
      </p:pic>
      <p:sp>
        <p:nvSpPr>
          <p:cNvPr id="27" name="Rectangle: Rounded Corners 26">
            <a:extLst>
              <a:ext uri="{FF2B5EF4-FFF2-40B4-BE49-F238E27FC236}">
                <a16:creationId xmlns:a16="http://schemas.microsoft.com/office/drawing/2014/main" id="{74D908FA-D737-4E3C-B3BE-630792EBB06F}"/>
              </a:ext>
            </a:extLst>
          </p:cNvPr>
          <p:cNvSpPr>
            <a:spLocks noGrp="1"/>
          </p:cNvSpPr>
          <p:nvPr/>
        </p:nvSpPr>
        <p:spPr>
          <a:xfrm>
            <a:off x="4333875" y="3714750"/>
            <a:ext cx="2905125" cy="1352550"/>
          </a:xfrm>
          <a:prstGeom prst="roundRect">
            <a:avLst>
              <a:gd name="adj" fmla="val 5634"/>
            </a:avLst>
          </a:prstGeom>
          <a:solidFill>
            <a:srgbClr val="FFFFFF"/>
          </a:solidFill>
          <a:ln w="9525">
            <a:solidFill>
              <a:srgbClr val="D8E8F4"/>
            </a:solidFill>
            <a:prstDash val="solid"/>
          </a:ln>
        </p:spPr>
      </p:sp>
      <p:sp>
        <p:nvSpPr>
          <p:cNvPr id="28" name="Rectangle 27">
            <a:extLst>
              <a:ext uri="{FF2B5EF4-FFF2-40B4-BE49-F238E27FC236}">
                <a16:creationId xmlns:a16="http://schemas.microsoft.com/office/drawing/2014/main" id="{5CF90CBF-3B5E-4668-BEC5-98032C710B1C}"/>
              </a:ext>
            </a:extLst>
          </p:cNvPr>
          <p:cNvSpPr>
            <a:spLocks noGrp="1"/>
          </p:cNvSpPr>
          <p:nvPr/>
        </p:nvSpPr>
        <p:spPr>
          <a:xfrm>
            <a:off x="4333875" y="3714750"/>
            <a:ext cx="66675" cy="1352550"/>
          </a:xfrm>
          <a:prstGeom prst="rect">
            <a:avLst/>
          </a:prstGeom>
          <a:solidFill>
            <a:srgbClr val="EF4444"/>
          </a:solidFill>
          <a:ln w="0">
            <a:solidFill>
              <a:srgbClr val="000000">
                <a:alpha val="0"/>
              </a:srgbClr>
            </a:solidFill>
            <a:prstDash val="solid"/>
          </a:ln>
        </p:spPr>
      </p:sp>
      <p:sp>
        <p:nvSpPr>
          <p:cNvPr id="29" name="Rectangle 28">
            <a:extLst>
              <a:ext uri="{FF2B5EF4-FFF2-40B4-BE49-F238E27FC236}">
                <a16:creationId xmlns:a16="http://schemas.microsoft.com/office/drawing/2014/main" id="{89086959-1C2E-466C-9A47-BDDDCCC1F08C}"/>
              </a:ext>
            </a:extLst>
          </p:cNvPr>
          <p:cNvSpPr>
            <a:spLocks noGrp="1"/>
          </p:cNvSpPr>
          <p:nvPr/>
        </p:nvSpPr>
        <p:spPr>
          <a:xfrm>
            <a:off x="4543425" y="3886200"/>
            <a:ext cx="2524125"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Visualization</a:t>
            </a:r>
          </a:p>
        </p:txBody>
      </p:sp>
      <p:sp>
        <p:nvSpPr>
          <p:cNvPr id="30" name="Rectangle 29">
            <a:extLst>
              <a:ext uri="{FF2B5EF4-FFF2-40B4-BE49-F238E27FC236}">
                <a16:creationId xmlns:a16="http://schemas.microsoft.com/office/drawing/2014/main" id="{F025909C-DDD8-48EB-8BE3-CA809A1EC3B7}"/>
              </a:ext>
            </a:extLst>
          </p:cNvPr>
          <p:cNvSpPr>
            <a:spLocks noGrp="1"/>
          </p:cNvSpPr>
          <p:nvPr/>
        </p:nvSpPr>
        <p:spPr>
          <a:xfrm>
            <a:off x="4543425" y="4248150"/>
            <a:ext cx="2524125" cy="7239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Charts, dashboards</a:t>
            </a:r>
          </a:p>
        </p:txBody>
      </p:sp>
      <p:pic>
        <p:nvPicPr>
          <p:cNvPr id="67" name="Graphic 66"/>
          <p:cNvPicPr>
            <a:picLocks noChangeAspect="1"/>
          </p:cNvPicPr>
          <p:nvPr/>
        </p:nvPicPr>
        <p:blipFill>
          <a:blip>
            <a:extLst>
              <a:ext uri="{96DAC541-7B7A-43D3-8B79-37D633B846F1}">
                <asvg:svgBlip xmlns:asvg="http://schemas.microsoft.com/office/drawing/2016/SVG/main" r:embed="rId7"/>
              </a:ext>
            </a:extLst>
          </a:blip>
          <a:stretch/>
        </p:blipFill>
        <p:spPr>
          <a:xfrm>
            <a:off x="6477000" y="3943350"/>
            <a:ext cx="400050" cy="400050"/>
          </a:xfrm>
          <a:prstGeom prst="rect">
            <a:avLst/>
          </a:prstGeom>
        </p:spPr>
      </p:pic>
      <p:sp>
        <p:nvSpPr>
          <p:cNvPr id="32" name="Rectangle: Rounded Corners 31">
            <a:extLst>
              <a:ext uri="{FF2B5EF4-FFF2-40B4-BE49-F238E27FC236}">
                <a16:creationId xmlns:a16="http://schemas.microsoft.com/office/drawing/2014/main" id="{1D51805E-141E-408E-A41F-82C7B9396404}"/>
              </a:ext>
            </a:extLst>
          </p:cNvPr>
          <p:cNvSpPr>
            <a:spLocks noGrp="1"/>
          </p:cNvSpPr>
          <p:nvPr/>
        </p:nvSpPr>
        <p:spPr>
          <a:xfrm>
            <a:off x="7810500" y="3714750"/>
            <a:ext cx="2905125" cy="1352550"/>
          </a:xfrm>
          <a:prstGeom prst="roundRect">
            <a:avLst>
              <a:gd name="adj" fmla="val 5634"/>
            </a:avLst>
          </a:prstGeom>
          <a:solidFill>
            <a:srgbClr val="FFFFFF"/>
          </a:solidFill>
          <a:ln w="9525">
            <a:solidFill>
              <a:srgbClr val="D8E8F4"/>
            </a:solidFill>
            <a:prstDash val="solid"/>
          </a:ln>
        </p:spPr>
      </p:sp>
      <p:sp>
        <p:nvSpPr>
          <p:cNvPr id="33" name="Rectangle 32">
            <a:extLst>
              <a:ext uri="{FF2B5EF4-FFF2-40B4-BE49-F238E27FC236}">
                <a16:creationId xmlns:a16="http://schemas.microsoft.com/office/drawing/2014/main" id="{BC38C8B4-789C-4208-A859-D9955BE53731}"/>
              </a:ext>
            </a:extLst>
          </p:cNvPr>
          <p:cNvSpPr>
            <a:spLocks noGrp="1"/>
          </p:cNvSpPr>
          <p:nvPr/>
        </p:nvSpPr>
        <p:spPr>
          <a:xfrm>
            <a:off x="7810500" y="3714750"/>
            <a:ext cx="66675" cy="1352550"/>
          </a:xfrm>
          <a:prstGeom prst="rect">
            <a:avLst/>
          </a:prstGeom>
          <a:solidFill>
            <a:srgbClr val="0B2559"/>
          </a:solidFill>
          <a:ln w="0">
            <a:solidFill>
              <a:srgbClr val="000000">
                <a:alpha val="0"/>
              </a:srgbClr>
            </a:solidFill>
            <a:prstDash val="solid"/>
          </a:ln>
        </p:spPr>
      </p:sp>
      <p:sp>
        <p:nvSpPr>
          <p:cNvPr id="34" name="Rectangle 33">
            <a:extLst>
              <a:ext uri="{FF2B5EF4-FFF2-40B4-BE49-F238E27FC236}">
                <a16:creationId xmlns:a16="http://schemas.microsoft.com/office/drawing/2014/main" id="{928BED0A-EFBD-4130-8BCD-92BFB05255D2}"/>
              </a:ext>
            </a:extLst>
          </p:cNvPr>
          <p:cNvSpPr>
            <a:spLocks noGrp="1"/>
          </p:cNvSpPr>
          <p:nvPr/>
        </p:nvSpPr>
        <p:spPr>
          <a:xfrm>
            <a:off x="8020050" y="3886200"/>
            <a:ext cx="2524125"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Deployment</a:t>
            </a:r>
          </a:p>
        </p:txBody>
      </p:sp>
      <p:sp>
        <p:nvSpPr>
          <p:cNvPr id="35" name="Rectangle 34">
            <a:extLst>
              <a:ext uri="{FF2B5EF4-FFF2-40B4-BE49-F238E27FC236}">
                <a16:creationId xmlns:a16="http://schemas.microsoft.com/office/drawing/2014/main" id="{28DB7231-8DCE-4665-9A40-8902EBB92591}"/>
              </a:ext>
            </a:extLst>
          </p:cNvPr>
          <p:cNvSpPr>
            <a:spLocks noGrp="1"/>
          </p:cNvSpPr>
          <p:nvPr/>
        </p:nvSpPr>
        <p:spPr>
          <a:xfrm>
            <a:off x="8020050" y="4248150"/>
            <a:ext cx="2524125" cy="7239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Local / Cloud-ready</a:t>
            </a:r>
          </a:p>
        </p:txBody>
      </p:sp>
      <p:pic>
        <p:nvPicPr>
          <p:cNvPr id="72" name="Graphic 71"/>
          <p:cNvPicPr>
            <a:picLocks noChangeAspect="1"/>
          </p:cNvPicPr>
          <p:nvPr/>
        </p:nvPicPr>
        <p:blipFill>
          <a:blip>
            <a:extLst>
              <a:ext uri="{96DAC541-7B7A-43D3-8B79-37D633B846F1}">
                <asvg:svgBlip xmlns:asvg="http://schemas.microsoft.com/office/drawing/2016/SVG/main" r:embed="rId8"/>
              </a:ext>
            </a:extLst>
          </a:blip>
          <a:stretch/>
        </p:blipFill>
        <p:spPr>
          <a:xfrm>
            <a:off x="9953625" y="3943350"/>
            <a:ext cx="400050" cy="400050"/>
          </a:xfrm>
          <a:prstGeom prst="rect">
            <a:avLst/>
          </a:prstGeom>
        </p:spPr>
      </p:pic>
    </p:spTree>
    <p:extLst>
      <p:ext uri="{BB962C8B-B14F-4D97-AF65-F5344CB8AC3E}">
        <p14:creationId xmlns:p14="http://schemas.microsoft.com/office/powerpoint/2010/main" val="165380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3E0F5DD-078A-4AE3-A66F-7CBF3814CEDF}"/>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41842F8E-4030-495F-92E4-EB603B022227}"/>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AB1F779A-C34F-46E0-885B-C0A4BE857E94}"/>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08</a:t>
            </a:r>
          </a:p>
        </p:txBody>
      </p:sp>
      <p:sp>
        <p:nvSpPr>
          <p:cNvPr id="5" name="Rectangle 4">
            <a:extLst>
              <a:ext uri="{FF2B5EF4-FFF2-40B4-BE49-F238E27FC236}">
                <a16:creationId xmlns:a16="http://schemas.microsoft.com/office/drawing/2014/main" id="{407C69DF-8C04-4D63-8E9C-563F458C4BDA}"/>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Dataset Description</a:t>
            </a:r>
          </a:p>
        </p:txBody>
      </p:sp>
      <p:sp>
        <p:nvSpPr>
          <p:cNvPr id="6" name="Straight Connector 5">
            <a:extLst>
              <a:ext uri="{FF2B5EF4-FFF2-40B4-BE49-F238E27FC236}">
                <a16:creationId xmlns:a16="http://schemas.microsoft.com/office/drawing/2014/main" id="{17DE69C2-B017-4BEB-85DF-532CFCFC5BD6}"/>
              </a:ext>
            </a:extLst>
          </p:cNvPr>
          <p:cNvSpPr>
            <a:spLocks noGrp="1"/>
          </p:cNvSpPr>
          <p:nvPr/>
        </p:nvSpPr>
        <p:spPr>
          <a:xfrm>
            <a:off x="552450" y="990601"/>
            <a:ext cx="3143250" cy="0"/>
          </a:xfrm>
          <a:prstGeom prst="line">
            <a:avLst/>
          </a:prstGeom>
          <a:solidFill>
            <a:srgbClr val="000000">
              <a:alpha val="0"/>
            </a:srgbClr>
          </a:solidFill>
          <a:ln w="28575">
            <a:solidFill>
              <a:srgbClr val="2CB7D5"/>
            </a:solidFill>
            <a:prstDash val="solid"/>
          </a:ln>
        </p:spPr>
      </p:sp>
      <p:sp>
        <p:nvSpPr>
          <p:cNvPr id="7" name="Rectangle 6">
            <a:extLst>
              <a:ext uri="{FF2B5EF4-FFF2-40B4-BE49-F238E27FC236}">
                <a16:creationId xmlns:a16="http://schemas.microsoft.com/office/drawing/2014/main" id="{8C57CF17-25EE-4BF5-86BE-25A442E22685}"/>
              </a:ext>
            </a:extLst>
          </p:cNvPr>
          <p:cNvSpPr>
            <a:spLocks noGrp="1"/>
          </p:cNvSpPr>
          <p:nvPr/>
        </p:nvSpPr>
        <p:spPr>
          <a:xfrm>
            <a:off x="762000" y="1257300"/>
            <a:ext cx="4191000" cy="285750"/>
          </a:xfrm>
          <a:prstGeom prst="rect">
            <a:avLst/>
          </a:prstGeom>
          <a:solidFill>
            <a:srgbClr val="000000">
              <a:alpha val="0"/>
            </a:srgbClr>
          </a:solidFill>
          <a:ln w="0">
            <a:solidFill>
              <a:srgbClr val="000000">
                <a:alpha val="0"/>
              </a:srgbClr>
            </a:solidFill>
            <a:prstDash val="solid"/>
          </a:ln>
        </p:spPr>
        <p:txBody>
          <a:bodyPr/>
          <a:lstStyle/>
          <a:p>
            <a:pPr algn="l">
              <a:defRPr sz="1800" b="1">
                <a:solidFill>
                  <a:srgbClr val="0B2559"/>
                </a:solidFill>
                <a:latin typeface="Aptos"/>
                <a:ea typeface="Aptos"/>
                <a:cs typeface="Aptos"/>
              </a:defRPr>
            </a:pPr>
            <a:r>
              <a:rPr sz="1800" b="1">
                <a:solidFill>
                  <a:srgbClr val="0B2559"/>
                </a:solidFill>
                <a:latin typeface="Aptos"/>
                <a:ea typeface="Aptos"/>
                <a:cs typeface="Aptos"/>
              </a:rPr>
              <a:t>Key patient attributes</a:t>
            </a:r>
          </a:p>
        </p:txBody>
      </p:sp>
      <p:sp>
        <p:nvSpPr>
          <p:cNvPr id="8" name="Oval 7">
            <a:extLst>
              <a:ext uri="{FF2B5EF4-FFF2-40B4-BE49-F238E27FC236}">
                <a16:creationId xmlns:a16="http://schemas.microsoft.com/office/drawing/2014/main" id="{7C2DC45C-55FA-469C-B89D-EBC6388A9574}"/>
              </a:ext>
            </a:extLst>
          </p:cNvPr>
          <p:cNvSpPr>
            <a:spLocks noGrp="1"/>
          </p:cNvSpPr>
          <p:nvPr/>
        </p:nvSpPr>
        <p:spPr>
          <a:xfrm>
            <a:off x="838200" y="1828800"/>
            <a:ext cx="133350" cy="133350"/>
          </a:xfrm>
          <a:prstGeom prst="ellipse">
            <a:avLst/>
          </a:prstGeom>
          <a:solidFill>
            <a:srgbClr val="0B6EFD"/>
          </a:solidFill>
          <a:ln w="0">
            <a:solidFill>
              <a:srgbClr val="000000">
                <a:alpha val="0"/>
              </a:srgbClr>
            </a:solidFill>
            <a:prstDash val="solid"/>
          </a:ln>
        </p:spPr>
      </p:sp>
      <p:sp>
        <p:nvSpPr>
          <p:cNvPr id="9" name="Rectangle 8">
            <a:extLst>
              <a:ext uri="{FF2B5EF4-FFF2-40B4-BE49-F238E27FC236}">
                <a16:creationId xmlns:a16="http://schemas.microsoft.com/office/drawing/2014/main" id="{737AEFBD-4DF2-4D73-8F26-DD55707651BE}"/>
              </a:ext>
            </a:extLst>
          </p:cNvPr>
          <p:cNvSpPr>
            <a:spLocks noGrp="1"/>
          </p:cNvSpPr>
          <p:nvPr/>
        </p:nvSpPr>
        <p:spPr>
          <a:xfrm>
            <a:off x="1104900" y="175260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Age</a:t>
            </a:r>
          </a:p>
        </p:txBody>
      </p:sp>
      <p:sp>
        <p:nvSpPr>
          <p:cNvPr id="10" name="Oval 9">
            <a:extLst>
              <a:ext uri="{FF2B5EF4-FFF2-40B4-BE49-F238E27FC236}">
                <a16:creationId xmlns:a16="http://schemas.microsoft.com/office/drawing/2014/main" id="{A19EC091-ECFA-4AEA-BEC8-7A6A543CEF02}"/>
              </a:ext>
            </a:extLst>
          </p:cNvPr>
          <p:cNvSpPr>
            <a:spLocks noGrp="1"/>
          </p:cNvSpPr>
          <p:nvPr/>
        </p:nvSpPr>
        <p:spPr>
          <a:xfrm>
            <a:off x="838200" y="2228850"/>
            <a:ext cx="133350" cy="133350"/>
          </a:xfrm>
          <a:prstGeom prst="ellipse">
            <a:avLst/>
          </a:prstGeom>
          <a:solidFill>
            <a:srgbClr val="0B6EFD"/>
          </a:solidFill>
          <a:ln w="0">
            <a:solidFill>
              <a:srgbClr val="000000">
                <a:alpha val="0"/>
              </a:srgbClr>
            </a:solidFill>
            <a:prstDash val="solid"/>
          </a:ln>
        </p:spPr>
      </p:sp>
      <p:sp>
        <p:nvSpPr>
          <p:cNvPr id="11" name="Rectangle 10">
            <a:extLst>
              <a:ext uri="{FF2B5EF4-FFF2-40B4-BE49-F238E27FC236}">
                <a16:creationId xmlns:a16="http://schemas.microsoft.com/office/drawing/2014/main" id="{8E0940BA-6185-41C7-B054-ABF1F951031E}"/>
              </a:ext>
            </a:extLst>
          </p:cNvPr>
          <p:cNvSpPr>
            <a:spLocks noGrp="1"/>
          </p:cNvSpPr>
          <p:nvPr/>
        </p:nvSpPr>
        <p:spPr>
          <a:xfrm>
            <a:off x="1104900" y="215265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BMI</a:t>
            </a:r>
          </a:p>
        </p:txBody>
      </p:sp>
      <p:sp>
        <p:nvSpPr>
          <p:cNvPr id="12" name="Oval 11">
            <a:extLst>
              <a:ext uri="{FF2B5EF4-FFF2-40B4-BE49-F238E27FC236}">
                <a16:creationId xmlns:a16="http://schemas.microsoft.com/office/drawing/2014/main" id="{C99321BF-CE35-467F-AC1B-AF20E8864BB2}"/>
              </a:ext>
            </a:extLst>
          </p:cNvPr>
          <p:cNvSpPr>
            <a:spLocks noGrp="1"/>
          </p:cNvSpPr>
          <p:nvPr/>
        </p:nvSpPr>
        <p:spPr>
          <a:xfrm>
            <a:off x="838200" y="2628900"/>
            <a:ext cx="133350" cy="133350"/>
          </a:xfrm>
          <a:prstGeom prst="ellipse">
            <a:avLst/>
          </a:prstGeom>
          <a:solidFill>
            <a:srgbClr val="0B6EFD"/>
          </a:solidFill>
          <a:ln w="0">
            <a:solidFill>
              <a:srgbClr val="000000">
                <a:alpha val="0"/>
              </a:srgbClr>
            </a:solidFill>
            <a:prstDash val="solid"/>
          </a:ln>
        </p:spPr>
      </p:sp>
      <p:sp>
        <p:nvSpPr>
          <p:cNvPr id="13" name="Rectangle 12">
            <a:extLst>
              <a:ext uri="{FF2B5EF4-FFF2-40B4-BE49-F238E27FC236}">
                <a16:creationId xmlns:a16="http://schemas.microsoft.com/office/drawing/2014/main" id="{677692C2-81A8-4C3E-AF6A-DB8B253AA57E}"/>
              </a:ext>
            </a:extLst>
          </p:cNvPr>
          <p:cNvSpPr>
            <a:spLocks noGrp="1"/>
          </p:cNvSpPr>
          <p:nvPr/>
        </p:nvSpPr>
        <p:spPr>
          <a:xfrm>
            <a:off x="1104900" y="255270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Cholesterol</a:t>
            </a:r>
          </a:p>
        </p:txBody>
      </p:sp>
      <p:sp>
        <p:nvSpPr>
          <p:cNvPr id="14" name="Oval 13">
            <a:extLst>
              <a:ext uri="{FF2B5EF4-FFF2-40B4-BE49-F238E27FC236}">
                <a16:creationId xmlns:a16="http://schemas.microsoft.com/office/drawing/2014/main" id="{F2D4297A-5C44-4F17-9258-24FB1CA132F4}"/>
              </a:ext>
            </a:extLst>
          </p:cNvPr>
          <p:cNvSpPr>
            <a:spLocks noGrp="1"/>
          </p:cNvSpPr>
          <p:nvPr/>
        </p:nvSpPr>
        <p:spPr>
          <a:xfrm>
            <a:off x="838200" y="3028950"/>
            <a:ext cx="133350" cy="133350"/>
          </a:xfrm>
          <a:prstGeom prst="ellipse">
            <a:avLst/>
          </a:prstGeom>
          <a:solidFill>
            <a:srgbClr val="0B6EFD"/>
          </a:solidFill>
          <a:ln w="0">
            <a:solidFill>
              <a:srgbClr val="000000">
                <a:alpha val="0"/>
              </a:srgbClr>
            </a:solidFill>
            <a:prstDash val="solid"/>
          </a:ln>
        </p:spPr>
      </p:sp>
      <p:sp>
        <p:nvSpPr>
          <p:cNvPr id="15" name="Rectangle 14">
            <a:extLst>
              <a:ext uri="{FF2B5EF4-FFF2-40B4-BE49-F238E27FC236}">
                <a16:creationId xmlns:a16="http://schemas.microsoft.com/office/drawing/2014/main" id="{51B58DC2-E0EC-4F5A-9746-5ED044F4948C}"/>
              </a:ext>
            </a:extLst>
          </p:cNvPr>
          <p:cNvSpPr>
            <a:spLocks noGrp="1"/>
          </p:cNvSpPr>
          <p:nvPr/>
        </p:nvSpPr>
        <p:spPr>
          <a:xfrm>
            <a:off x="1104900" y="295275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Systolic BP</a:t>
            </a:r>
          </a:p>
        </p:txBody>
      </p:sp>
      <p:sp>
        <p:nvSpPr>
          <p:cNvPr id="16" name="Oval 15">
            <a:extLst>
              <a:ext uri="{FF2B5EF4-FFF2-40B4-BE49-F238E27FC236}">
                <a16:creationId xmlns:a16="http://schemas.microsoft.com/office/drawing/2014/main" id="{01C1DC37-2607-4BB7-BA02-9F5124151BB7}"/>
              </a:ext>
            </a:extLst>
          </p:cNvPr>
          <p:cNvSpPr>
            <a:spLocks noGrp="1"/>
          </p:cNvSpPr>
          <p:nvPr/>
        </p:nvSpPr>
        <p:spPr>
          <a:xfrm>
            <a:off x="838200" y="3429000"/>
            <a:ext cx="133350" cy="133350"/>
          </a:xfrm>
          <a:prstGeom prst="ellipse">
            <a:avLst/>
          </a:prstGeom>
          <a:solidFill>
            <a:srgbClr val="0B6EFD"/>
          </a:solidFill>
          <a:ln w="0">
            <a:solidFill>
              <a:srgbClr val="000000">
                <a:alpha val="0"/>
              </a:srgbClr>
            </a:solidFill>
            <a:prstDash val="solid"/>
          </a:ln>
        </p:spPr>
      </p:sp>
      <p:sp>
        <p:nvSpPr>
          <p:cNvPr id="17" name="Rectangle 16">
            <a:extLst>
              <a:ext uri="{FF2B5EF4-FFF2-40B4-BE49-F238E27FC236}">
                <a16:creationId xmlns:a16="http://schemas.microsoft.com/office/drawing/2014/main" id="{A82F5571-908A-4141-8584-566DD844F215}"/>
              </a:ext>
            </a:extLst>
          </p:cNvPr>
          <p:cNvSpPr>
            <a:spLocks noGrp="1"/>
          </p:cNvSpPr>
          <p:nvPr/>
        </p:nvSpPr>
        <p:spPr>
          <a:xfrm>
            <a:off x="1104900" y="335280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Diastolic BP</a:t>
            </a:r>
          </a:p>
        </p:txBody>
      </p:sp>
      <p:sp>
        <p:nvSpPr>
          <p:cNvPr id="18" name="Oval 17">
            <a:extLst>
              <a:ext uri="{FF2B5EF4-FFF2-40B4-BE49-F238E27FC236}">
                <a16:creationId xmlns:a16="http://schemas.microsoft.com/office/drawing/2014/main" id="{7CBF01EF-1035-4DF6-AB2E-6F0D976A2DD0}"/>
              </a:ext>
            </a:extLst>
          </p:cNvPr>
          <p:cNvSpPr>
            <a:spLocks noGrp="1"/>
          </p:cNvSpPr>
          <p:nvPr/>
        </p:nvSpPr>
        <p:spPr>
          <a:xfrm>
            <a:off x="838200" y="3829050"/>
            <a:ext cx="133350" cy="133350"/>
          </a:xfrm>
          <a:prstGeom prst="ellipse">
            <a:avLst/>
          </a:prstGeom>
          <a:solidFill>
            <a:srgbClr val="0B6EFD"/>
          </a:solidFill>
          <a:ln w="0">
            <a:solidFill>
              <a:srgbClr val="000000">
                <a:alpha val="0"/>
              </a:srgbClr>
            </a:solidFill>
            <a:prstDash val="solid"/>
          </a:ln>
        </p:spPr>
      </p:sp>
      <p:sp>
        <p:nvSpPr>
          <p:cNvPr id="19" name="Rectangle 18">
            <a:extLst>
              <a:ext uri="{FF2B5EF4-FFF2-40B4-BE49-F238E27FC236}">
                <a16:creationId xmlns:a16="http://schemas.microsoft.com/office/drawing/2014/main" id="{1F8CFEE5-B62E-40F7-A32F-ACEC59D3CEFC}"/>
              </a:ext>
            </a:extLst>
          </p:cNvPr>
          <p:cNvSpPr>
            <a:spLocks noGrp="1"/>
          </p:cNvSpPr>
          <p:nvPr/>
        </p:nvSpPr>
        <p:spPr>
          <a:xfrm>
            <a:off x="1104900" y="375285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Glucose</a:t>
            </a:r>
          </a:p>
        </p:txBody>
      </p:sp>
      <p:sp>
        <p:nvSpPr>
          <p:cNvPr id="20" name="Oval 19">
            <a:extLst>
              <a:ext uri="{FF2B5EF4-FFF2-40B4-BE49-F238E27FC236}">
                <a16:creationId xmlns:a16="http://schemas.microsoft.com/office/drawing/2014/main" id="{2719263B-CB5A-4147-8BBC-AC7E321F414B}"/>
              </a:ext>
            </a:extLst>
          </p:cNvPr>
          <p:cNvSpPr>
            <a:spLocks noGrp="1"/>
          </p:cNvSpPr>
          <p:nvPr/>
        </p:nvSpPr>
        <p:spPr>
          <a:xfrm>
            <a:off x="3429000" y="1828800"/>
            <a:ext cx="133350" cy="133350"/>
          </a:xfrm>
          <a:prstGeom prst="ellipse">
            <a:avLst/>
          </a:prstGeom>
          <a:solidFill>
            <a:srgbClr val="10B981"/>
          </a:solidFill>
          <a:ln w="0">
            <a:solidFill>
              <a:srgbClr val="000000">
                <a:alpha val="0"/>
              </a:srgbClr>
            </a:solidFill>
            <a:prstDash val="solid"/>
          </a:ln>
        </p:spPr>
      </p:sp>
      <p:sp>
        <p:nvSpPr>
          <p:cNvPr id="21" name="Rectangle 20">
            <a:extLst>
              <a:ext uri="{FF2B5EF4-FFF2-40B4-BE49-F238E27FC236}">
                <a16:creationId xmlns:a16="http://schemas.microsoft.com/office/drawing/2014/main" id="{CE5B86F5-67D2-440F-AB29-6745CEA7ABE0}"/>
              </a:ext>
            </a:extLst>
          </p:cNvPr>
          <p:cNvSpPr>
            <a:spLocks noGrp="1"/>
          </p:cNvSpPr>
          <p:nvPr/>
        </p:nvSpPr>
        <p:spPr>
          <a:xfrm>
            <a:off x="3695700" y="175260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Heart Rate</a:t>
            </a:r>
          </a:p>
        </p:txBody>
      </p:sp>
      <p:sp>
        <p:nvSpPr>
          <p:cNvPr id="22" name="Oval 21">
            <a:extLst>
              <a:ext uri="{FF2B5EF4-FFF2-40B4-BE49-F238E27FC236}">
                <a16:creationId xmlns:a16="http://schemas.microsoft.com/office/drawing/2014/main" id="{EA10B14E-2F49-40E5-9D02-3B810FB3F1C5}"/>
              </a:ext>
            </a:extLst>
          </p:cNvPr>
          <p:cNvSpPr>
            <a:spLocks noGrp="1"/>
          </p:cNvSpPr>
          <p:nvPr/>
        </p:nvSpPr>
        <p:spPr>
          <a:xfrm>
            <a:off x="3429000" y="2228850"/>
            <a:ext cx="133350" cy="133350"/>
          </a:xfrm>
          <a:prstGeom prst="ellipse">
            <a:avLst/>
          </a:prstGeom>
          <a:solidFill>
            <a:srgbClr val="10B981"/>
          </a:solidFill>
          <a:ln w="0">
            <a:solidFill>
              <a:srgbClr val="000000">
                <a:alpha val="0"/>
              </a:srgbClr>
            </a:solidFill>
            <a:prstDash val="solid"/>
          </a:ln>
        </p:spPr>
      </p:sp>
      <p:sp>
        <p:nvSpPr>
          <p:cNvPr id="23" name="Rectangle 22">
            <a:extLst>
              <a:ext uri="{FF2B5EF4-FFF2-40B4-BE49-F238E27FC236}">
                <a16:creationId xmlns:a16="http://schemas.microsoft.com/office/drawing/2014/main" id="{806C9DD8-9FF7-44F2-B3BA-69C57AD9A283}"/>
              </a:ext>
            </a:extLst>
          </p:cNvPr>
          <p:cNvSpPr>
            <a:spLocks noGrp="1"/>
          </p:cNvSpPr>
          <p:nvPr/>
        </p:nvSpPr>
        <p:spPr>
          <a:xfrm>
            <a:off x="3695700" y="215265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Ejection Fraction</a:t>
            </a:r>
          </a:p>
        </p:txBody>
      </p:sp>
      <p:sp>
        <p:nvSpPr>
          <p:cNvPr id="24" name="Oval 23">
            <a:extLst>
              <a:ext uri="{FF2B5EF4-FFF2-40B4-BE49-F238E27FC236}">
                <a16:creationId xmlns:a16="http://schemas.microsoft.com/office/drawing/2014/main" id="{5859BF86-1ABA-4969-B2EC-C3ACC87370BF}"/>
              </a:ext>
            </a:extLst>
          </p:cNvPr>
          <p:cNvSpPr>
            <a:spLocks noGrp="1"/>
          </p:cNvSpPr>
          <p:nvPr/>
        </p:nvSpPr>
        <p:spPr>
          <a:xfrm>
            <a:off x="3429000" y="2628900"/>
            <a:ext cx="133350" cy="133350"/>
          </a:xfrm>
          <a:prstGeom prst="ellipse">
            <a:avLst/>
          </a:prstGeom>
          <a:solidFill>
            <a:srgbClr val="10B981"/>
          </a:solidFill>
          <a:ln w="0">
            <a:solidFill>
              <a:srgbClr val="000000">
                <a:alpha val="0"/>
              </a:srgbClr>
            </a:solidFill>
            <a:prstDash val="solid"/>
          </a:ln>
        </p:spPr>
      </p:sp>
      <p:sp>
        <p:nvSpPr>
          <p:cNvPr id="25" name="Rectangle 24">
            <a:extLst>
              <a:ext uri="{FF2B5EF4-FFF2-40B4-BE49-F238E27FC236}">
                <a16:creationId xmlns:a16="http://schemas.microsoft.com/office/drawing/2014/main" id="{16A6D008-6A78-4435-AAE2-F222C4A7818B}"/>
              </a:ext>
            </a:extLst>
          </p:cNvPr>
          <p:cNvSpPr>
            <a:spLocks noGrp="1"/>
          </p:cNvSpPr>
          <p:nvPr/>
        </p:nvSpPr>
        <p:spPr>
          <a:xfrm>
            <a:off x="3695700" y="255270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Smoking</a:t>
            </a:r>
          </a:p>
        </p:txBody>
      </p:sp>
      <p:sp>
        <p:nvSpPr>
          <p:cNvPr id="26" name="Oval 25">
            <a:extLst>
              <a:ext uri="{FF2B5EF4-FFF2-40B4-BE49-F238E27FC236}">
                <a16:creationId xmlns:a16="http://schemas.microsoft.com/office/drawing/2014/main" id="{02019501-E982-4C69-BAB3-FAA4DCF5489D}"/>
              </a:ext>
            </a:extLst>
          </p:cNvPr>
          <p:cNvSpPr>
            <a:spLocks noGrp="1"/>
          </p:cNvSpPr>
          <p:nvPr/>
        </p:nvSpPr>
        <p:spPr>
          <a:xfrm>
            <a:off x="3429000" y="3028950"/>
            <a:ext cx="133350" cy="133350"/>
          </a:xfrm>
          <a:prstGeom prst="ellipse">
            <a:avLst/>
          </a:prstGeom>
          <a:solidFill>
            <a:srgbClr val="10B981"/>
          </a:solidFill>
          <a:ln w="0">
            <a:solidFill>
              <a:srgbClr val="000000">
                <a:alpha val="0"/>
              </a:srgbClr>
            </a:solidFill>
            <a:prstDash val="solid"/>
          </a:ln>
        </p:spPr>
      </p:sp>
      <p:sp>
        <p:nvSpPr>
          <p:cNvPr id="27" name="Rectangle 26">
            <a:extLst>
              <a:ext uri="{FF2B5EF4-FFF2-40B4-BE49-F238E27FC236}">
                <a16:creationId xmlns:a16="http://schemas.microsoft.com/office/drawing/2014/main" id="{EEF54983-6F18-4BE1-90DD-BF37D23490F8}"/>
              </a:ext>
            </a:extLst>
          </p:cNvPr>
          <p:cNvSpPr>
            <a:spLocks noGrp="1"/>
          </p:cNvSpPr>
          <p:nvPr/>
        </p:nvSpPr>
        <p:spPr>
          <a:xfrm>
            <a:off x="3695700" y="295275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Diabetes</a:t>
            </a:r>
          </a:p>
        </p:txBody>
      </p:sp>
      <p:sp>
        <p:nvSpPr>
          <p:cNvPr id="28" name="Oval 27">
            <a:extLst>
              <a:ext uri="{FF2B5EF4-FFF2-40B4-BE49-F238E27FC236}">
                <a16:creationId xmlns:a16="http://schemas.microsoft.com/office/drawing/2014/main" id="{92EDFCA8-D172-468B-A111-40011897C413}"/>
              </a:ext>
            </a:extLst>
          </p:cNvPr>
          <p:cNvSpPr>
            <a:spLocks noGrp="1"/>
          </p:cNvSpPr>
          <p:nvPr/>
        </p:nvSpPr>
        <p:spPr>
          <a:xfrm>
            <a:off x="3429000" y="3429000"/>
            <a:ext cx="133350" cy="133350"/>
          </a:xfrm>
          <a:prstGeom prst="ellipse">
            <a:avLst/>
          </a:prstGeom>
          <a:solidFill>
            <a:srgbClr val="10B981"/>
          </a:solidFill>
          <a:ln w="0">
            <a:solidFill>
              <a:srgbClr val="000000">
                <a:alpha val="0"/>
              </a:srgbClr>
            </a:solidFill>
            <a:prstDash val="solid"/>
          </a:ln>
        </p:spPr>
      </p:sp>
      <p:sp>
        <p:nvSpPr>
          <p:cNvPr id="29" name="Rectangle 28">
            <a:extLst>
              <a:ext uri="{FF2B5EF4-FFF2-40B4-BE49-F238E27FC236}">
                <a16:creationId xmlns:a16="http://schemas.microsoft.com/office/drawing/2014/main" id="{1F1BB827-047C-406B-A851-C839D7FFB918}"/>
              </a:ext>
            </a:extLst>
          </p:cNvPr>
          <p:cNvSpPr>
            <a:spLocks noGrp="1"/>
          </p:cNvSpPr>
          <p:nvPr/>
        </p:nvSpPr>
        <p:spPr>
          <a:xfrm>
            <a:off x="3695700" y="3352800"/>
            <a:ext cx="3733800" cy="381000"/>
          </a:xfrm>
          <a:prstGeom prst="rect">
            <a:avLst/>
          </a:prstGeom>
          <a:solidFill>
            <a:srgbClr val="000000">
              <a:alpha val="0"/>
            </a:srgbClr>
          </a:solidFill>
          <a:ln w="0">
            <a:solidFill>
              <a:srgbClr val="000000">
                <a:alpha val="0"/>
              </a:srgbClr>
            </a:solidFill>
            <a:prstDash val="solid"/>
          </a:ln>
        </p:spPr>
        <p:txBody>
          <a:bodyPr/>
          <a:lstStyle/>
          <a:p>
            <a:pPr algn="l">
              <a:defRPr sz="1425" b="0">
                <a:solidFill>
                  <a:srgbClr val="102033"/>
                </a:solidFill>
                <a:latin typeface="Aptos"/>
                <a:ea typeface="Aptos"/>
                <a:cs typeface="Aptos"/>
              </a:defRPr>
            </a:pPr>
            <a:r>
              <a:rPr sz="1425" b="0">
                <a:solidFill>
                  <a:srgbClr val="102033"/>
                </a:solidFill>
                <a:latin typeface="Aptos"/>
                <a:ea typeface="Aptos"/>
                <a:cs typeface="Aptos"/>
              </a:rPr>
              <a:t>Hypertension</a:t>
            </a:r>
          </a:p>
        </p:txBody>
      </p:sp>
      <p:graphicFrame>
        <p:nvGraphicFramePr>
          <p:cNvPr id="60" name="Table 59"/>
          <p:cNvGraphicFramePr/>
          <p:nvPr/>
        </p:nvGraphicFramePr>
        <p:xfrm>
          <a:off x="5905500" y="1428750"/>
          <a:ext cx="5334000" cy="2857500"/>
        </p:xfrm>
        <a:graphic>
          <a:graphicData uri="http://schemas.openxmlformats.org/drawingml/2006/table">
            <a:tbl>
              <a:tblPr firstRow="1" bandRow="1"/>
              <a:tblGrid>
                <a:gridCol w="889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889000">
                  <a:extLst>
                    <a:ext uri="{9D8B030D-6E8A-4147-A177-3AD203B41FA5}">
                      <a16:colId xmlns:a16="http://schemas.microsoft.com/office/drawing/2014/main" val="20003"/>
                    </a:ext>
                  </a:extLst>
                </a:gridCol>
                <a:gridCol w="889000">
                  <a:extLst>
                    <a:ext uri="{9D8B030D-6E8A-4147-A177-3AD203B41FA5}">
                      <a16:colId xmlns:a16="http://schemas.microsoft.com/office/drawing/2014/main" val="20004"/>
                    </a:ext>
                  </a:extLst>
                </a:gridCol>
                <a:gridCol w="889000">
                  <a:extLst>
                    <a:ext uri="{9D8B030D-6E8A-4147-A177-3AD203B41FA5}">
                      <a16:colId xmlns:a16="http://schemas.microsoft.com/office/drawing/2014/main" val="20005"/>
                    </a:ext>
                  </a:extLst>
                </a:gridCol>
              </a:tblGrid>
              <a:tr h="571500">
                <a:tc>
                  <a:txBody>
                    <a:bodyPr/>
                    <a:lstStyle/>
                    <a:p>
                      <a:r>
                        <a:rPr sz="1125" b="1">
                          <a:solidFill>
                            <a:srgbClr val="FFFFFF"/>
                          </a:solidFill>
                        </a:rPr>
                        <a:t>Age</a:t>
                      </a:r>
                    </a:p>
                  </a:txBody>
                  <a:tcPr>
                    <a:solidFill>
                      <a:srgbClr val="0B2559"/>
                    </a:solidFill>
                  </a:tcPr>
                </a:tc>
                <a:tc>
                  <a:txBody>
                    <a:bodyPr/>
                    <a:lstStyle/>
                    <a:p>
                      <a:r>
                        <a:rPr sz="1125" b="1">
                          <a:solidFill>
                            <a:srgbClr val="FFFFFF"/>
                          </a:solidFill>
                        </a:rPr>
                        <a:t>BMI</a:t>
                      </a:r>
                    </a:p>
                  </a:txBody>
                  <a:tcPr>
                    <a:solidFill>
                      <a:srgbClr val="0B2559"/>
                    </a:solidFill>
                  </a:tcPr>
                </a:tc>
                <a:tc>
                  <a:txBody>
                    <a:bodyPr/>
                    <a:lstStyle/>
                    <a:p>
                      <a:r>
                        <a:rPr sz="1125" b="1">
                          <a:solidFill>
                            <a:srgbClr val="FFFFFF"/>
                          </a:solidFill>
                        </a:rPr>
                        <a:t>Glucose</a:t>
                      </a:r>
                    </a:p>
                  </a:txBody>
                  <a:tcPr>
                    <a:solidFill>
                      <a:srgbClr val="0B2559"/>
                    </a:solidFill>
                  </a:tcPr>
                </a:tc>
                <a:tc>
                  <a:txBody>
                    <a:bodyPr/>
                    <a:lstStyle/>
                    <a:p>
                      <a:r>
                        <a:rPr sz="1125" b="1">
                          <a:solidFill>
                            <a:srgbClr val="FFFFFF"/>
                          </a:solidFill>
                        </a:rPr>
                        <a:t>EF</a:t>
                      </a:r>
                    </a:p>
                  </a:txBody>
                  <a:tcPr>
                    <a:solidFill>
                      <a:srgbClr val="0B2559"/>
                    </a:solidFill>
                  </a:tcPr>
                </a:tc>
                <a:tc>
                  <a:txBody>
                    <a:bodyPr/>
                    <a:lstStyle/>
                    <a:p>
                      <a:r>
                        <a:rPr sz="1125" b="1">
                          <a:solidFill>
                            <a:srgbClr val="FFFFFF"/>
                          </a:solidFill>
                        </a:rPr>
                        <a:t>BP</a:t>
                      </a:r>
                    </a:p>
                  </a:txBody>
                  <a:tcPr>
                    <a:solidFill>
                      <a:srgbClr val="0B2559"/>
                    </a:solidFill>
                  </a:tcPr>
                </a:tc>
                <a:tc>
                  <a:txBody>
                    <a:bodyPr/>
                    <a:lstStyle/>
                    <a:p>
                      <a:r>
                        <a:rPr sz="1125" b="1">
                          <a:solidFill>
                            <a:srgbClr val="FFFFFF"/>
                          </a:solidFill>
                        </a:rPr>
                        <a:t>Risk</a:t>
                      </a:r>
                    </a:p>
                  </a:txBody>
                  <a:tcPr>
                    <a:solidFill>
                      <a:srgbClr val="0B2559"/>
                    </a:solidFill>
                  </a:tcPr>
                </a:tc>
                <a:extLst>
                  <a:ext uri="{0D108BD9-81ED-4DB2-BD59-A6C34878D82A}">
                    <a16:rowId xmlns:a16="http://schemas.microsoft.com/office/drawing/2014/main" val="10000"/>
                  </a:ext>
                </a:extLst>
              </a:tr>
              <a:tr h="571500">
                <a:tc>
                  <a:txBody>
                    <a:bodyPr/>
                    <a:lstStyle/>
                    <a:p>
                      <a:r>
                        <a:t>67</a:t>
                      </a:r>
                    </a:p>
                  </a:txBody>
                  <a:tcPr/>
                </a:tc>
                <a:tc>
                  <a:txBody>
                    <a:bodyPr/>
                    <a:lstStyle/>
                    <a:p>
                      <a:r>
                        <a:t>29.2</a:t>
                      </a:r>
                    </a:p>
                  </a:txBody>
                  <a:tcPr/>
                </a:tc>
                <a:tc>
                  <a:txBody>
                    <a:bodyPr/>
                    <a:lstStyle/>
                    <a:p>
                      <a:r>
                        <a:t>168</a:t>
                      </a:r>
                    </a:p>
                  </a:txBody>
                  <a:tcPr/>
                </a:tc>
                <a:tc>
                  <a:txBody>
                    <a:bodyPr/>
                    <a:lstStyle/>
                    <a:p>
                      <a:r>
                        <a:t>35%</a:t>
                      </a:r>
                    </a:p>
                  </a:txBody>
                  <a:tcPr/>
                </a:tc>
                <a:tc>
                  <a:txBody>
                    <a:bodyPr/>
                    <a:lstStyle/>
                    <a:p>
                      <a:r>
                        <a:t>150/92</a:t>
                      </a:r>
                    </a:p>
                  </a:txBody>
                  <a:tcPr/>
                </a:tc>
                <a:tc>
                  <a:txBody>
                    <a:bodyPr/>
                    <a:lstStyle/>
                    <a:p>
                      <a:r>
                        <a:t>High</a:t>
                      </a:r>
                    </a:p>
                  </a:txBody>
                  <a:tcPr/>
                </a:tc>
                <a:extLst>
                  <a:ext uri="{0D108BD9-81ED-4DB2-BD59-A6C34878D82A}">
                    <a16:rowId xmlns:a16="http://schemas.microsoft.com/office/drawing/2014/main" val="10001"/>
                  </a:ext>
                </a:extLst>
              </a:tr>
              <a:tr h="571500">
                <a:tc>
                  <a:txBody>
                    <a:bodyPr/>
                    <a:lstStyle/>
                    <a:p>
                      <a:r>
                        <a:t>54</a:t>
                      </a:r>
                    </a:p>
                  </a:txBody>
                  <a:tcPr/>
                </a:tc>
                <a:tc>
                  <a:txBody>
                    <a:bodyPr/>
                    <a:lstStyle/>
                    <a:p>
                      <a:r>
                        <a:t>24.8</a:t>
                      </a:r>
                    </a:p>
                  </a:txBody>
                  <a:tcPr/>
                </a:tc>
                <a:tc>
                  <a:txBody>
                    <a:bodyPr/>
                    <a:lstStyle/>
                    <a:p>
                      <a:r>
                        <a:t>104</a:t>
                      </a:r>
                    </a:p>
                  </a:txBody>
                  <a:tcPr/>
                </a:tc>
                <a:tc>
                  <a:txBody>
                    <a:bodyPr/>
                    <a:lstStyle/>
                    <a:p>
                      <a:r>
                        <a:t>55%</a:t>
                      </a:r>
                    </a:p>
                  </a:txBody>
                  <a:tcPr/>
                </a:tc>
                <a:tc>
                  <a:txBody>
                    <a:bodyPr/>
                    <a:lstStyle/>
                    <a:p>
                      <a:r>
                        <a:t>122/80</a:t>
                      </a:r>
                    </a:p>
                  </a:txBody>
                  <a:tcPr/>
                </a:tc>
                <a:tc>
                  <a:txBody>
                    <a:bodyPr/>
                    <a:lstStyle/>
                    <a:p>
                      <a:r>
                        <a:t>Low</a:t>
                      </a:r>
                    </a:p>
                  </a:txBody>
                  <a:tcPr/>
                </a:tc>
                <a:extLst>
                  <a:ext uri="{0D108BD9-81ED-4DB2-BD59-A6C34878D82A}">
                    <a16:rowId xmlns:a16="http://schemas.microsoft.com/office/drawing/2014/main" val="10002"/>
                  </a:ext>
                </a:extLst>
              </a:tr>
              <a:tr h="571500">
                <a:tc>
                  <a:txBody>
                    <a:bodyPr/>
                    <a:lstStyle/>
                    <a:p>
                      <a:r>
                        <a:t>72</a:t>
                      </a:r>
                    </a:p>
                  </a:txBody>
                  <a:tcPr/>
                </a:tc>
                <a:tc>
                  <a:txBody>
                    <a:bodyPr/>
                    <a:lstStyle/>
                    <a:p>
                      <a:r>
                        <a:t>31.1</a:t>
                      </a:r>
                    </a:p>
                  </a:txBody>
                  <a:tcPr/>
                </a:tc>
                <a:tc>
                  <a:txBody>
                    <a:bodyPr/>
                    <a:lstStyle/>
                    <a:p>
                      <a:r>
                        <a:t>142</a:t>
                      </a:r>
                    </a:p>
                  </a:txBody>
                  <a:tcPr/>
                </a:tc>
                <a:tc>
                  <a:txBody>
                    <a:bodyPr/>
                    <a:lstStyle/>
                    <a:p>
                      <a:r>
                        <a:t>40%</a:t>
                      </a:r>
                    </a:p>
                  </a:txBody>
                  <a:tcPr/>
                </a:tc>
                <a:tc>
                  <a:txBody>
                    <a:bodyPr/>
                    <a:lstStyle/>
                    <a:p>
                      <a:r>
                        <a:t>138/86</a:t>
                      </a:r>
                    </a:p>
                  </a:txBody>
                  <a:tcPr/>
                </a:tc>
                <a:tc>
                  <a:txBody>
                    <a:bodyPr/>
                    <a:lstStyle/>
                    <a:p>
                      <a:r>
                        <a:t>Med</a:t>
                      </a:r>
                    </a:p>
                  </a:txBody>
                  <a:tcPr/>
                </a:tc>
                <a:extLst>
                  <a:ext uri="{0D108BD9-81ED-4DB2-BD59-A6C34878D82A}">
                    <a16:rowId xmlns:a16="http://schemas.microsoft.com/office/drawing/2014/main" val="10003"/>
                  </a:ext>
                </a:extLst>
              </a:tr>
              <a:tr h="571500">
                <a:tc>
                  <a:txBody>
                    <a:bodyPr/>
                    <a:lstStyle/>
                    <a:p>
                      <a:r>
                        <a:t>61</a:t>
                      </a:r>
                    </a:p>
                  </a:txBody>
                  <a:tcPr/>
                </a:tc>
                <a:tc>
                  <a:txBody>
                    <a:bodyPr/>
                    <a:lstStyle/>
                    <a:p>
                      <a:r>
                        <a:t>27</a:t>
                      </a:r>
                    </a:p>
                  </a:txBody>
                  <a:tcPr/>
                </a:tc>
                <a:tc>
                  <a:txBody>
                    <a:bodyPr/>
                    <a:lstStyle/>
                    <a:p>
                      <a:r>
                        <a:t>130</a:t>
                      </a:r>
                    </a:p>
                  </a:txBody>
                  <a:tcPr/>
                </a:tc>
                <a:tc>
                  <a:txBody>
                    <a:bodyPr/>
                    <a:lstStyle/>
                    <a:p>
                      <a:r>
                        <a:t>48%</a:t>
                      </a:r>
                    </a:p>
                  </a:txBody>
                  <a:tcPr/>
                </a:tc>
                <a:tc>
                  <a:txBody>
                    <a:bodyPr/>
                    <a:lstStyle/>
                    <a:p>
                      <a:r>
                        <a:t>130/84</a:t>
                      </a:r>
                    </a:p>
                  </a:txBody>
                  <a:tcPr/>
                </a:tc>
                <a:tc>
                  <a:txBody>
                    <a:bodyPr/>
                    <a:lstStyle/>
                    <a:p>
                      <a:r>
                        <a:t>Med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50724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9BC98BD-9F9D-46E1-B3FB-02A2BF6A9D06}"/>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CFD7E777-55B2-4034-8212-1C209C090C91}"/>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3" name="Rectangle 2">
            <a:extLst>
              <a:ext uri="{FF2B5EF4-FFF2-40B4-BE49-F238E27FC236}">
                <a16:creationId xmlns:a16="http://schemas.microsoft.com/office/drawing/2014/main" id="{663E755A-64DB-4A09-AACE-97250973721D}"/>
              </a:ext>
            </a:extLst>
          </p:cNvPr>
          <p:cNvSpPr>
            <a:spLocks noGrp="1"/>
          </p:cNvSpPr>
          <p:nvPr/>
        </p:nvSpPr>
        <p:spPr>
          <a:xfrm>
            <a:off x="552450" y="6572250"/>
            <a:ext cx="2476500" cy="190500"/>
          </a:xfrm>
          <a:prstGeom prst="rect">
            <a:avLst/>
          </a:prstGeom>
          <a:solidFill>
            <a:srgbClr val="000000">
              <a:alpha val="0"/>
            </a:srgbClr>
          </a:solidFill>
          <a:ln w="0">
            <a:solidFill>
              <a:srgbClr val="000000">
                <a:alpha val="0"/>
              </a:srgbClr>
            </a:solidFill>
            <a:prstDash val="solid"/>
          </a:ln>
        </p:spPr>
        <p:txBody>
          <a:bodyPr/>
          <a:lstStyle/>
          <a:p>
            <a:pPr algn="l">
              <a:defRPr sz="900" b="1">
                <a:solidFill>
                  <a:srgbClr val="FFFFFF"/>
                </a:solidFill>
                <a:latin typeface="Aptos"/>
                <a:ea typeface="Aptos"/>
                <a:cs typeface="Aptos"/>
              </a:defRPr>
            </a:pPr>
            <a:r>
              <a:rPr sz="900" b="1">
                <a:solidFill>
                  <a:srgbClr val="FFFFFF"/>
                </a:solidFill>
                <a:latin typeface="Aptos"/>
                <a:ea typeface="Aptos"/>
                <a:cs typeface="Aptos"/>
              </a:rPr>
              <a:t>Data</a:t>
            </a:r>
          </a:p>
        </p:txBody>
      </p:sp>
      <p:sp>
        <p:nvSpPr>
          <p:cNvPr id="4" name="Rectangle 3">
            <a:extLst>
              <a:ext uri="{FF2B5EF4-FFF2-40B4-BE49-F238E27FC236}">
                <a16:creationId xmlns:a16="http://schemas.microsoft.com/office/drawing/2014/main" id="{72040F8A-B54E-4F27-9EA2-059E2FCF80E6}"/>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09</a:t>
            </a:r>
          </a:p>
        </p:txBody>
      </p:sp>
      <p:sp>
        <p:nvSpPr>
          <p:cNvPr id="5" name="Rectangle 4">
            <a:extLst>
              <a:ext uri="{FF2B5EF4-FFF2-40B4-BE49-F238E27FC236}">
                <a16:creationId xmlns:a16="http://schemas.microsoft.com/office/drawing/2014/main" id="{138AEE3C-D5BC-4D85-BD24-9AF2150A9518}"/>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Data Preprocessing</a:t>
            </a:r>
          </a:p>
        </p:txBody>
      </p:sp>
      <p:sp>
        <p:nvSpPr>
          <p:cNvPr id="6" name="Straight Connector 5">
            <a:extLst>
              <a:ext uri="{FF2B5EF4-FFF2-40B4-BE49-F238E27FC236}">
                <a16:creationId xmlns:a16="http://schemas.microsoft.com/office/drawing/2014/main" id="{DB158116-FB72-49F8-855B-F91C84D2A8AC}"/>
              </a:ext>
            </a:extLst>
          </p:cNvPr>
          <p:cNvSpPr>
            <a:spLocks noGrp="1"/>
          </p:cNvSpPr>
          <p:nvPr/>
        </p:nvSpPr>
        <p:spPr>
          <a:xfrm>
            <a:off x="552449" y="990601"/>
            <a:ext cx="3075653" cy="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06EBE50D-E6B0-4A63-A811-AFCA4C0D3AF6}"/>
              </a:ext>
            </a:extLst>
          </p:cNvPr>
          <p:cNvSpPr>
            <a:spLocks noGrp="1"/>
          </p:cNvSpPr>
          <p:nvPr/>
        </p:nvSpPr>
        <p:spPr>
          <a:xfrm>
            <a:off x="1000125" y="1790700"/>
            <a:ext cx="1824990" cy="876300"/>
          </a:xfrm>
          <a:prstGeom prst="roundRect">
            <a:avLst>
              <a:gd name="adj" fmla="val 8696"/>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1D68A015-D7C4-420F-B111-778E9E413767}"/>
              </a:ext>
            </a:extLst>
          </p:cNvPr>
          <p:cNvSpPr>
            <a:spLocks noGrp="1"/>
          </p:cNvSpPr>
          <p:nvPr/>
        </p:nvSpPr>
        <p:spPr>
          <a:xfrm>
            <a:off x="1114425" y="2038350"/>
            <a:ext cx="15963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Missing Values</a:t>
            </a:r>
          </a:p>
        </p:txBody>
      </p:sp>
      <p:sp>
        <p:nvSpPr>
          <p:cNvPr id="9" name="Rectangle 8">
            <a:extLst>
              <a:ext uri="{FF2B5EF4-FFF2-40B4-BE49-F238E27FC236}">
                <a16:creationId xmlns:a16="http://schemas.microsoft.com/office/drawing/2014/main" id="{DC8220F8-81CD-405A-8F84-DEA326A777F1}"/>
              </a:ext>
            </a:extLst>
          </p:cNvPr>
          <p:cNvSpPr>
            <a:spLocks noGrp="1"/>
          </p:cNvSpPr>
          <p:nvPr/>
        </p:nvSpPr>
        <p:spPr>
          <a:xfrm>
            <a:off x="1000125" y="1790700"/>
            <a:ext cx="1824990" cy="66675"/>
          </a:xfrm>
          <a:prstGeom prst="rect">
            <a:avLst/>
          </a:prstGeom>
          <a:solidFill>
            <a:srgbClr val="10B981"/>
          </a:solidFill>
          <a:ln w="0">
            <a:solidFill>
              <a:srgbClr val="000000">
                <a:alpha val="0"/>
              </a:srgbClr>
            </a:solidFill>
            <a:prstDash val="solid"/>
          </a:ln>
        </p:spPr>
      </p:sp>
      <p:sp>
        <p:nvSpPr>
          <p:cNvPr id="10" name="Rectangle 9">
            <a:extLst>
              <a:ext uri="{FF2B5EF4-FFF2-40B4-BE49-F238E27FC236}">
                <a16:creationId xmlns:a16="http://schemas.microsoft.com/office/drawing/2014/main" id="{191FD2FF-9C27-4F87-B697-A1E6707690D6}"/>
              </a:ext>
            </a:extLst>
          </p:cNvPr>
          <p:cNvSpPr>
            <a:spLocks noGrp="1"/>
          </p:cNvSpPr>
          <p:nvPr/>
        </p:nvSpPr>
        <p:spPr>
          <a:xfrm>
            <a:off x="2872740" y="20859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1" name="Rectangle: Rounded Corners 10">
            <a:extLst>
              <a:ext uri="{FF2B5EF4-FFF2-40B4-BE49-F238E27FC236}">
                <a16:creationId xmlns:a16="http://schemas.microsoft.com/office/drawing/2014/main" id="{2506CDB4-91F9-4BC3-ACF2-B661C89E0ACF}"/>
              </a:ext>
            </a:extLst>
          </p:cNvPr>
          <p:cNvSpPr>
            <a:spLocks noGrp="1"/>
          </p:cNvSpPr>
          <p:nvPr/>
        </p:nvSpPr>
        <p:spPr>
          <a:xfrm>
            <a:off x="3091815" y="1790700"/>
            <a:ext cx="1824990" cy="876300"/>
          </a:xfrm>
          <a:prstGeom prst="roundRect">
            <a:avLst>
              <a:gd name="adj" fmla="val 8696"/>
            </a:avLst>
          </a:prstGeom>
          <a:solidFill>
            <a:srgbClr val="FFFFFF"/>
          </a:solidFill>
          <a:ln w="9525">
            <a:solidFill>
              <a:srgbClr val="D8E8F4"/>
            </a:solidFill>
            <a:prstDash val="solid"/>
          </a:ln>
        </p:spPr>
      </p:sp>
      <p:sp>
        <p:nvSpPr>
          <p:cNvPr id="12" name="Rectangle 11">
            <a:extLst>
              <a:ext uri="{FF2B5EF4-FFF2-40B4-BE49-F238E27FC236}">
                <a16:creationId xmlns:a16="http://schemas.microsoft.com/office/drawing/2014/main" id="{9DDDC3F5-DD34-43DE-BDA0-E38C30778A1C}"/>
              </a:ext>
            </a:extLst>
          </p:cNvPr>
          <p:cNvSpPr>
            <a:spLocks noGrp="1"/>
          </p:cNvSpPr>
          <p:nvPr/>
        </p:nvSpPr>
        <p:spPr>
          <a:xfrm>
            <a:off x="3206115" y="2038350"/>
            <a:ext cx="15963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Cleaning</a:t>
            </a:r>
          </a:p>
        </p:txBody>
      </p:sp>
      <p:sp>
        <p:nvSpPr>
          <p:cNvPr id="13" name="Rectangle 12">
            <a:extLst>
              <a:ext uri="{FF2B5EF4-FFF2-40B4-BE49-F238E27FC236}">
                <a16:creationId xmlns:a16="http://schemas.microsoft.com/office/drawing/2014/main" id="{B2DA9C30-1636-45C7-81B3-E0661A2E4C3E}"/>
              </a:ext>
            </a:extLst>
          </p:cNvPr>
          <p:cNvSpPr>
            <a:spLocks noGrp="1"/>
          </p:cNvSpPr>
          <p:nvPr/>
        </p:nvSpPr>
        <p:spPr>
          <a:xfrm>
            <a:off x="3091815" y="1790700"/>
            <a:ext cx="1824990" cy="66675"/>
          </a:xfrm>
          <a:prstGeom prst="rect">
            <a:avLst/>
          </a:prstGeom>
          <a:solidFill>
            <a:srgbClr val="10B981"/>
          </a:solidFill>
          <a:ln w="0">
            <a:solidFill>
              <a:srgbClr val="000000">
                <a:alpha val="0"/>
              </a:srgbClr>
            </a:solidFill>
            <a:prstDash val="solid"/>
          </a:ln>
        </p:spPr>
      </p:sp>
      <p:sp>
        <p:nvSpPr>
          <p:cNvPr id="14" name="Rectangle 13">
            <a:extLst>
              <a:ext uri="{FF2B5EF4-FFF2-40B4-BE49-F238E27FC236}">
                <a16:creationId xmlns:a16="http://schemas.microsoft.com/office/drawing/2014/main" id="{7294AC3B-7EAD-4388-BDA6-8785B947036E}"/>
              </a:ext>
            </a:extLst>
          </p:cNvPr>
          <p:cNvSpPr>
            <a:spLocks noGrp="1"/>
          </p:cNvSpPr>
          <p:nvPr/>
        </p:nvSpPr>
        <p:spPr>
          <a:xfrm>
            <a:off x="4964430" y="20859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5" name="Rectangle: Rounded Corners 14">
            <a:extLst>
              <a:ext uri="{FF2B5EF4-FFF2-40B4-BE49-F238E27FC236}">
                <a16:creationId xmlns:a16="http://schemas.microsoft.com/office/drawing/2014/main" id="{330F8DF3-C040-4560-BEB7-ADD5642C3C19}"/>
              </a:ext>
            </a:extLst>
          </p:cNvPr>
          <p:cNvSpPr>
            <a:spLocks noGrp="1"/>
          </p:cNvSpPr>
          <p:nvPr/>
        </p:nvSpPr>
        <p:spPr>
          <a:xfrm>
            <a:off x="5183505" y="1790700"/>
            <a:ext cx="1824990" cy="876300"/>
          </a:xfrm>
          <a:prstGeom prst="roundRect">
            <a:avLst>
              <a:gd name="adj" fmla="val 8696"/>
            </a:avLst>
          </a:prstGeom>
          <a:solidFill>
            <a:srgbClr val="FFFFFF"/>
          </a:solidFill>
          <a:ln w="9525">
            <a:solidFill>
              <a:srgbClr val="D8E8F4"/>
            </a:solidFill>
            <a:prstDash val="solid"/>
          </a:ln>
        </p:spPr>
      </p:sp>
      <p:sp>
        <p:nvSpPr>
          <p:cNvPr id="16" name="Rectangle 15">
            <a:extLst>
              <a:ext uri="{FF2B5EF4-FFF2-40B4-BE49-F238E27FC236}">
                <a16:creationId xmlns:a16="http://schemas.microsoft.com/office/drawing/2014/main" id="{7AF043AF-BF1E-49BD-B570-5E19B734D227}"/>
              </a:ext>
            </a:extLst>
          </p:cNvPr>
          <p:cNvSpPr>
            <a:spLocks noGrp="1"/>
          </p:cNvSpPr>
          <p:nvPr/>
        </p:nvSpPr>
        <p:spPr>
          <a:xfrm>
            <a:off x="5297805" y="2038350"/>
            <a:ext cx="15963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Encoding</a:t>
            </a:r>
          </a:p>
        </p:txBody>
      </p:sp>
      <p:sp>
        <p:nvSpPr>
          <p:cNvPr id="17" name="Rectangle 16">
            <a:extLst>
              <a:ext uri="{FF2B5EF4-FFF2-40B4-BE49-F238E27FC236}">
                <a16:creationId xmlns:a16="http://schemas.microsoft.com/office/drawing/2014/main" id="{46D194DA-DE4A-4AB8-AAF0-9DD4C64B2165}"/>
              </a:ext>
            </a:extLst>
          </p:cNvPr>
          <p:cNvSpPr>
            <a:spLocks noGrp="1"/>
          </p:cNvSpPr>
          <p:nvPr/>
        </p:nvSpPr>
        <p:spPr>
          <a:xfrm>
            <a:off x="5183505" y="1790700"/>
            <a:ext cx="1824990" cy="66675"/>
          </a:xfrm>
          <a:prstGeom prst="rect">
            <a:avLst/>
          </a:prstGeom>
          <a:solidFill>
            <a:srgbClr val="10B981"/>
          </a:solidFill>
          <a:ln w="0">
            <a:solidFill>
              <a:srgbClr val="000000">
                <a:alpha val="0"/>
              </a:srgbClr>
            </a:solidFill>
            <a:prstDash val="solid"/>
          </a:ln>
        </p:spPr>
      </p:sp>
      <p:sp>
        <p:nvSpPr>
          <p:cNvPr id="18" name="Rectangle 17">
            <a:extLst>
              <a:ext uri="{FF2B5EF4-FFF2-40B4-BE49-F238E27FC236}">
                <a16:creationId xmlns:a16="http://schemas.microsoft.com/office/drawing/2014/main" id="{AE97C58E-9E89-42CC-B8B1-D98978B8A252}"/>
              </a:ext>
            </a:extLst>
          </p:cNvPr>
          <p:cNvSpPr>
            <a:spLocks noGrp="1"/>
          </p:cNvSpPr>
          <p:nvPr/>
        </p:nvSpPr>
        <p:spPr>
          <a:xfrm>
            <a:off x="7056120" y="20859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9" name="Rectangle: Rounded Corners 18">
            <a:extLst>
              <a:ext uri="{FF2B5EF4-FFF2-40B4-BE49-F238E27FC236}">
                <a16:creationId xmlns:a16="http://schemas.microsoft.com/office/drawing/2014/main" id="{8D5E9F3B-DAAB-4F32-A29F-1D4ACFCFAE98}"/>
              </a:ext>
            </a:extLst>
          </p:cNvPr>
          <p:cNvSpPr>
            <a:spLocks noGrp="1"/>
          </p:cNvSpPr>
          <p:nvPr/>
        </p:nvSpPr>
        <p:spPr>
          <a:xfrm>
            <a:off x="7275195" y="1790700"/>
            <a:ext cx="1824990" cy="876300"/>
          </a:xfrm>
          <a:prstGeom prst="roundRect">
            <a:avLst>
              <a:gd name="adj" fmla="val 8696"/>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D187386C-7458-4CED-AC11-0464642D031C}"/>
              </a:ext>
            </a:extLst>
          </p:cNvPr>
          <p:cNvSpPr>
            <a:spLocks noGrp="1"/>
          </p:cNvSpPr>
          <p:nvPr/>
        </p:nvSpPr>
        <p:spPr>
          <a:xfrm>
            <a:off x="7389495" y="2038350"/>
            <a:ext cx="15963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Scaling</a:t>
            </a:r>
          </a:p>
        </p:txBody>
      </p:sp>
      <p:sp>
        <p:nvSpPr>
          <p:cNvPr id="21" name="Rectangle 20">
            <a:extLst>
              <a:ext uri="{FF2B5EF4-FFF2-40B4-BE49-F238E27FC236}">
                <a16:creationId xmlns:a16="http://schemas.microsoft.com/office/drawing/2014/main" id="{AFBDA4CA-B895-43DA-8B97-8AE454B9FE19}"/>
              </a:ext>
            </a:extLst>
          </p:cNvPr>
          <p:cNvSpPr>
            <a:spLocks noGrp="1"/>
          </p:cNvSpPr>
          <p:nvPr/>
        </p:nvSpPr>
        <p:spPr>
          <a:xfrm>
            <a:off x="7275195" y="1790700"/>
            <a:ext cx="1824990" cy="66675"/>
          </a:xfrm>
          <a:prstGeom prst="rect">
            <a:avLst/>
          </a:prstGeom>
          <a:solidFill>
            <a:srgbClr val="10B981"/>
          </a:solidFill>
          <a:ln w="0">
            <a:solidFill>
              <a:srgbClr val="000000">
                <a:alpha val="0"/>
              </a:srgbClr>
            </a:solidFill>
            <a:prstDash val="solid"/>
          </a:ln>
        </p:spPr>
      </p:sp>
      <p:sp>
        <p:nvSpPr>
          <p:cNvPr id="22" name="Rectangle 21">
            <a:extLst>
              <a:ext uri="{FF2B5EF4-FFF2-40B4-BE49-F238E27FC236}">
                <a16:creationId xmlns:a16="http://schemas.microsoft.com/office/drawing/2014/main" id="{926BF877-7CA5-45CF-98AF-28257353A8F4}"/>
              </a:ext>
            </a:extLst>
          </p:cNvPr>
          <p:cNvSpPr>
            <a:spLocks noGrp="1"/>
          </p:cNvSpPr>
          <p:nvPr/>
        </p:nvSpPr>
        <p:spPr>
          <a:xfrm>
            <a:off x="9147810" y="2085975"/>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23" name="Rectangle: Rounded Corners 22">
            <a:extLst>
              <a:ext uri="{FF2B5EF4-FFF2-40B4-BE49-F238E27FC236}">
                <a16:creationId xmlns:a16="http://schemas.microsoft.com/office/drawing/2014/main" id="{D4306BF0-79AA-4B19-9C97-0D5AF7E02024}"/>
              </a:ext>
            </a:extLst>
          </p:cNvPr>
          <p:cNvSpPr>
            <a:spLocks noGrp="1"/>
          </p:cNvSpPr>
          <p:nvPr/>
        </p:nvSpPr>
        <p:spPr>
          <a:xfrm>
            <a:off x="9366885" y="1790700"/>
            <a:ext cx="1824990" cy="876300"/>
          </a:xfrm>
          <a:prstGeom prst="roundRect">
            <a:avLst>
              <a:gd name="adj" fmla="val 8696"/>
            </a:avLst>
          </a:prstGeom>
          <a:solidFill>
            <a:srgbClr val="FFFFFF"/>
          </a:solidFill>
          <a:ln w="9525">
            <a:solidFill>
              <a:srgbClr val="D8E8F4"/>
            </a:solidFill>
            <a:prstDash val="solid"/>
          </a:ln>
        </p:spPr>
      </p:sp>
      <p:sp>
        <p:nvSpPr>
          <p:cNvPr id="24" name="Rectangle 23">
            <a:extLst>
              <a:ext uri="{FF2B5EF4-FFF2-40B4-BE49-F238E27FC236}">
                <a16:creationId xmlns:a16="http://schemas.microsoft.com/office/drawing/2014/main" id="{00E7C5F5-4BB5-4E16-894B-79EA67AD9333}"/>
              </a:ext>
            </a:extLst>
          </p:cNvPr>
          <p:cNvSpPr>
            <a:spLocks noGrp="1"/>
          </p:cNvSpPr>
          <p:nvPr/>
        </p:nvSpPr>
        <p:spPr>
          <a:xfrm>
            <a:off x="9481185" y="2038350"/>
            <a:ext cx="15963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Outlier Detection</a:t>
            </a:r>
          </a:p>
        </p:txBody>
      </p:sp>
      <p:sp>
        <p:nvSpPr>
          <p:cNvPr id="25" name="Rectangle 24">
            <a:extLst>
              <a:ext uri="{FF2B5EF4-FFF2-40B4-BE49-F238E27FC236}">
                <a16:creationId xmlns:a16="http://schemas.microsoft.com/office/drawing/2014/main" id="{A1E5DB73-2991-4BAB-80A5-63EF11406C0C}"/>
              </a:ext>
            </a:extLst>
          </p:cNvPr>
          <p:cNvSpPr>
            <a:spLocks noGrp="1"/>
          </p:cNvSpPr>
          <p:nvPr/>
        </p:nvSpPr>
        <p:spPr>
          <a:xfrm>
            <a:off x="9366885" y="1790700"/>
            <a:ext cx="1824990" cy="66675"/>
          </a:xfrm>
          <a:prstGeom prst="rect">
            <a:avLst/>
          </a:prstGeom>
          <a:solidFill>
            <a:srgbClr val="10B981"/>
          </a:solidFill>
          <a:ln w="0">
            <a:solidFill>
              <a:srgbClr val="000000">
                <a:alpha val="0"/>
              </a:srgbClr>
            </a:solidFill>
            <a:prstDash val="solid"/>
          </a:ln>
        </p:spPr>
      </p:sp>
      <p:sp>
        <p:nvSpPr>
          <p:cNvPr id="26" name="Rectangle: Rounded Corners 25">
            <a:extLst>
              <a:ext uri="{FF2B5EF4-FFF2-40B4-BE49-F238E27FC236}">
                <a16:creationId xmlns:a16="http://schemas.microsoft.com/office/drawing/2014/main" id="{B05C0D30-3F07-4B23-838B-39F25CD7A04B}"/>
              </a:ext>
            </a:extLst>
          </p:cNvPr>
          <p:cNvSpPr>
            <a:spLocks noGrp="1"/>
          </p:cNvSpPr>
          <p:nvPr/>
        </p:nvSpPr>
        <p:spPr>
          <a:xfrm>
            <a:off x="1028700" y="3429000"/>
            <a:ext cx="4572000" cy="1409700"/>
          </a:xfrm>
          <a:prstGeom prst="roundRect">
            <a:avLst>
              <a:gd name="adj" fmla="val 5405"/>
            </a:avLst>
          </a:prstGeom>
          <a:solidFill>
            <a:srgbClr val="FFFFFF"/>
          </a:solidFill>
          <a:ln w="9525">
            <a:solidFill>
              <a:srgbClr val="D8E8F4"/>
            </a:solidFill>
            <a:prstDash val="solid"/>
          </a:ln>
        </p:spPr>
      </p:sp>
      <p:sp>
        <p:nvSpPr>
          <p:cNvPr id="27" name="Rectangle 26">
            <a:extLst>
              <a:ext uri="{FF2B5EF4-FFF2-40B4-BE49-F238E27FC236}">
                <a16:creationId xmlns:a16="http://schemas.microsoft.com/office/drawing/2014/main" id="{7296F440-7EDF-4F96-9EB9-D81BC5C6DCB1}"/>
              </a:ext>
            </a:extLst>
          </p:cNvPr>
          <p:cNvSpPr>
            <a:spLocks noGrp="1"/>
          </p:cNvSpPr>
          <p:nvPr/>
        </p:nvSpPr>
        <p:spPr>
          <a:xfrm>
            <a:off x="1028700" y="3429000"/>
            <a:ext cx="66675" cy="1409700"/>
          </a:xfrm>
          <a:prstGeom prst="rect">
            <a:avLst/>
          </a:prstGeom>
          <a:solidFill>
            <a:srgbClr val="10B981"/>
          </a:solidFill>
          <a:ln w="0">
            <a:solidFill>
              <a:srgbClr val="000000">
                <a:alpha val="0"/>
              </a:srgbClr>
            </a:solidFill>
            <a:prstDash val="solid"/>
          </a:ln>
        </p:spPr>
      </p:sp>
      <p:sp>
        <p:nvSpPr>
          <p:cNvPr id="28" name="Rectangle 27">
            <a:extLst>
              <a:ext uri="{FF2B5EF4-FFF2-40B4-BE49-F238E27FC236}">
                <a16:creationId xmlns:a16="http://schemas.microsoft.com/office/drawing/2014/main" id="{1B8EE70C-E81A-4C29-84A3-1886C7A496BC}"/>
              </a:ext>
            </a:extLst>
          </p:cNvPr>
          <p:cNvSpPr>
            <a:spLocks noGrp="1"/>
          </p:cNvSpPr>
          <p:nvPr/>
        </p:nvSpPr>
        <p:spPr>
          <a:xfrm>
            <a:off x="1238250" y="3600450"/>
            <a:ext cx="41910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Purpose</a:t>
            </a:r>
          </a:p>
        </p:txBody>
      </p:sp>
      <p:sp>
        <p:nvSpPr>
          <p:cNvPr id="29" name="Rectangle 28">
            <a:extLst>
              <a:ext uri="{FF2B5EF4-FFF2-40B4-BE49-F238E27FC236}">
                <a16:creationId xmlns:a16="http://schemas.microsoft.com/office/drawing/2014/main" id="{1788F451-DEEB-4853-812C-16755A718329}"/>
              </a:ext>
            </a:extLst>
          </p:cNvPr>
          <p:cNvSpPr>
            <a:spLocks noGrp="1"/>
          </p:cNvSpPr>
          <p:nvPr/>
        </p:nvSpPr>
        <p:spPr>
          <a:xfrm>
            <a:off x="1238250" y="3962400"/>
            <a:ext cx="4191000" cy="78105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Convert raw clinical records into consistent, model-ready numerical input with reduced noise.</a:t>
            </a:r>
          </a:p>
        </p:txBody>
      </p:sp>
      <p:sp>
        <p:nvSpPr>
          <p:cNvPr id="30" name="Rectangle: Rounded Corners 29">
            <a:extLst>
              <a:ext uri="{FF2B5EF4-FFF2-40B4-BE49-F238E27FC236}">
                <a16:creationId xmlns:a16="http://schemas.microsoft.com/office/drawing/2014/main" id="{62445134-03A3-43A9-8A3D-84F8349AD18F}"/>
              </a:ext>
            </a:extLst>
          </p:cNvPr>
          <p:cNvSpPr>
            <a:spLocks noGrp="1"/>
          </p:cNvSpPr>
          <p:nvPr/>
        </p:nvSpPr>
        <p:spPr>
          <a:xfrm>
            <a:off x="6610350" y="3429000"/>
            <a:ext cx="4572000" cy="1409700"/>
          </a:xfrm>
          <a:prstGeom prst="roundRect">
            <a:avLst>
              <a:gd name="adj" fmla="val 5405"/>
            </a:avLst>
          </a:prstGeom>
          <a:solidFill>
            <a:srgbClr val="FFFFFF"/>
          </a:solidFill>
          <a:ln w="9525">
            <a:solidFill>
              <a:srgbClr val="D8E8F4"/>
            </a:solidFill>
            <a:prstDash val="solid"/>
          </a:ln>
        </p:spPr>
      </p:sp>
      <p:sp>
        <p:nvSpPr>
          <p:cNvPr id="31" name="Rectangle 30">
            <a:extLst>
              <a:ext uri="{FF2B5EF4-FFF2-40B4-BE49-F238E27FC236}">
                <a16:creationId xmlns:a16="http://schemas.microsoft.com/office/drawing/2014/main" id="{92EE85EF-9FFE-4A7E-9905-F8691751AFC4}"/>
              </a:ext>
            </a:extLst>
          </p:cNvPr>
          <p:cNvSpPr>
            <a:spLocks noGrp="1"/>
          </p:cNvSpPr>
          <p:nvPr/>
        </p:nvSpPr>
        <p:spPr>
          <a:xfrm>
            <a:off x="6610350" y="3429000"/>
            <a:ext cx="66675" cy="1409700"/>
          </a:xfrm>
          <a:prstGeom prst="rect">
            <a:avLst/>
          </a:prstGeom>
          <a:solidFill>
            <a:srgbClr val="0B6EFD"/>
          </a:solidFill>
          <a:ln w="0">
            <a:solidFill>
              <a:srgbClr val="000000">
                <a:alpha val="0"/>
              </a:srgbClr>
            </a:solidFill>
            <a:prstDash val="solid"/>
          </a:ln>
        </p:spPr>
      </p:sp>
      <p:sp>
        <p:nvSpPr>
          <p:cNvPr id="32" name="Rectangle 31">
            <a:extLst>
              <a:ext uri="{FF2B5EF4-FFF2-40B4-BE49-F238E27FC236}">
                <a16:creationId xmlns:a16="http://schemas.microsoft.com/office/drawing/2014/main" id="{376A3EA8-CCA0-4C91-BBB3-249FAB1B809E}"/>
              </a:ext>
            </a:extLst>
          </p:cNvPr>
          <p:cNvSpPr>
            <a:spLocks noGrp="1"/>
          </p:cNvSpPr>
          <p:nvPr/>
        </p:nvSpPr>
        <p:spPr>
          <a:xfrm>
            <a:off x="6819900" y="3600450"/>
            <a:ext cx="41910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Benefit</a:t>
            </a:r>
          </a:p>
        </p:txBody>
      </p:sp>
      <p:sp>
        <p:nvSpPr>
          <p:cNvPr id="33" name="Rectangle 32">
            <a:extLst>
              <a:ext uri="{FF2B5EF4-FFF2-40B4-BE49-F238E27FC236}">
                <a16:creationId xmlns:a16="http://schemas.microsoft.com/office/drawing/2014/main" id="{AC388329-41BB-41CF-A31B-E4ED54348B4B}"/>
              </a:ext>
            </a:extLst>
          </p:cNvPr>
          <p:cNvSpPr>
            <a:spLocks noGrp="1"/>
          </p:cNvSpPr>
          <p:nvPr/>
        </p:nvSpPr>
        <p:spPr>
          <a:xfrm>
            <a:off x="6819900" y="3962400"/>
            <a:ext cx="4191000" cy="78105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Improves model stability, training quality, and reliability of prediction output.</a:t>
            </a:r>
          </a:p>
        </p:txBody>
      </p:sp>
    </p:spTree>
    <p:extLst>
      <p:ext uri="{BB962C8B-B14F-4D97-AF65-F5344CB8AC3E}">
        <p14:creationId xmlns:p14="http://schemas.microsoft.com/office/powerpoint/2010/main" val="1192563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054171D3-A20A-4985-9348-ACBC9CCF2445}"/>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56B74D12-B332-4500-B206-6621AA3A3237}"/>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8A8FFCC0-772E-44F4-B55A-1278090E367D}"/>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10</a:t>
            </a:r>
          </a:p>
        </p:txBody>
      </p:sp>
      <p:sp>
        <p:nvSpPr>
          <p:cNvPr id="5" name="Rectangle 4">
            <a:extLst>
              <a:ext uri="{FF2B5EF4-FFF2-40B4-BE49-F238E27FC236}">
                <a16:creationId xmlns:a16="http://schemas.microsoft.com/office/drawing/2014/main" id="{6AEEE745-AF50-4ECB-90C9-C89EAC729302}"/>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Machine Learning Methodology</a:t>
            </a:r>
          </a:p>
        </p:txBody>
      </p:sp>
      <p:sp>
        <p:nvSpPr>
          <p:cNvPr id="6" name="Straight Connector 5">
            <a:extLst>
              <a:ext uri="{FF2B5EF4-FFF2-40B4-BE49-F238E27FC236}">
                <a16:creationId xmlns:a16="http://schemas.microsoft.com/office/drawing/2014/main" id="{EA1D376C-865A-4B4A-8331-AE66B0CAC70E}"/>
              </a:ext>
            </a:extLst>
          </p:cNvPr>
          <p:cNvSpPr>
            <a:spLocks noGrp="1"/>
          </p:cNvSpPr>
          <p:nvPr/>
        </p:nvSpPr>
        <p:spPr>
          <a:xfrm flipV="1">
            <a:off x="552449" y="971551"/>
            <a:ext cx="4806131" cy="1905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AC13573F-6726-4936-97F1-A3B0818D68B2}"/>
              </a:ext>
            </a:extLst>
          </p:cNvPr>
          <p:cNvSpPr>
            <a:spLocks noGrp="1"/>
          </p:cNvSpPr>
          <p:nvPr/>
        </p:nvSpPr>
        <p:spPr>
          <a:xfrm>
            <a:off x="819150" y="1619250"/>
            <a:ext cx="1882140" cy="857250"/>
          </a:xfrm>
          <a:prstGeom prst="roundRect">
            <a:avLst>
              <a:gd name="adj" fmla="val 8889"/>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D63678C3-DFA8-4873-A0D8-3B71C82566C7}"/>
              </a:ext>
            </a:extLst>
          </p:cNvPr>
          <p:cNvSpPr>
            <a:spLocks noGrp="1"/>
          </p:cNvSpPr>
          <p:nvPr/>
        </p:nvSpPr>
        <p:spPr>
          <a:xfrm>
            <a:off x="933450" y="1857375"/>
            <a:ext cx="165354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Input Features</a:t>
            </a:r>
          </a:p>
        </p:txBody>
      </p:sp>
      <p:sp>
        <p:nvSpPr>
          <p:cNvPr id="9" name="Rectangle 8">
            <a:extLst>
              <a:ext uri="{FF2B5EF4-FFF2-40B4-BE49-F238E27FC236}">
                <a16:creationId xmlns:a16="http://schemas.microsoft.com/office/drawing/2014/main" id="{1793429F-18FA-4A4F-A9FF-FD05D9A79BDB}"/>
              </a:ext>
            </a:extLst>
          </p:cNvPr>
          <p:cNvSpPr>
            <a:spLocks noGrp="1"/>
          </p:cNvSpPr>
          <p:nvPr/>
        </p:nvSpPr>
        <p:spPr>
          <a:xfrm>
            <a:off x="819150" y="1619250"/>
            <a:ext cx="1882140" cy="66675"/>
          </a:xfrm>
          <a:prstGeom prst="rect">
            <a:avLst/>
          </a:prstGeom>
          <a:solidFill>
            <a:srgbClr val="0B6EFD"/>
          </a:solidFill>
          <a:ln w="0">
            <a:solidFill>
              <a:srgbClr val="000000">
                <a:alpha val="0"/>
              </a:srgbClr>
            </a:solidFill>
            <a:prstDash val="solid"/>
          </a:ln>
        </p:spPr>
      </p:sp>
      <p:sp>
        <p:nvSpPr>
          <p:cNvPr id="10" name="Rectangle 9">
            <a:extLst>
              <a:ext uri="{FF2B5EF4-FFF2-40B4-BE49-F238E27FC236}">
                <a16:creationId xmlns:a16="http://schemas.microsoft.com/office/drawing/2014/main" id="{CCB23F36-F5D0-4ABC-9A22-DA99B9D53826}"/>
              </a:ext>
            </a:extLst>
          </p:cNvPr>
          <p:cNvSpPr>
            <a:spLocks noGrp="1"/>
          </p:cNvSpPr>
          <p:nvPr/>
        </p:nvSpPr>
        <p:spPr>
          <a:xfrm>
            <a:off x="2748915" y="1905000"/>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1" name="Rectangle: Rounded Corners 10">
            <a:extLst>
              <a:ext uri="{FF2B5EF4-FFF2-40B4-BE49-F238E27FC236}">
                <a16:creationId xmlns:a16="http://schemas.microsoft.com/office/drawing/2014/main" id="{5612F230-3921-4A29-844A-768C3D5EAB62}"/>
              </a:ext>
            </a:extLst>
          </p:cNvPr>
          <p:cNvSpPr>
            <a:spLocks noGrp="1"/>
          </p:cNvSpPr>
          <p:nvPr/>
        </p:nvSpPr>
        <p:spPr>
          <a:xfrm>
            <a:off x="2967990" y="1619250"/>
            <a:ext cx="1882140" cy="857250"/>
          </a:xfrm>
          <a:prstGeom prst="roundRect">
            <a:avLst>
              <a:gd name="adj" fmla="val 8889"/>
            </a:avLst>
          </a:prstGeom>
          <a:solidFill>
            <a:srgbClr val="FFFFFF"/>
          </a:solidFill>
          <a:ln w="9525">
            <a:solidFill>
              <a:srgbClr val="D8E8F4"/>
            </a:solidFill>
            <a:prstDash val="solid"/>
          </a:ln>
        </p:spPr>
      </p:sp>
      <p:sp>
        <p:nvSpPr>
          <p:cNvPr id="12" name="Rectangle 11">
            <a:extLst>
              <a:ext uri="{FF2B5EF4-FFF2-40B4-BE49-F238E27FC236}">
                <a16:creationId xmlns:a16="http://schemas.microsoft.com/office/drawing/2014/main" id="{7DD6C689-36C0-4630-B6E0-4094FAB60462}"/>
              </a:ext>
            </a:extLst>
          </p:cNvPr>
          <p:cNvSpPr>
            <a:spLocks noGrp="1"/>
          </p:cNvSpPr>
          <p:nvPr/>
        </p:nvSpPr>
        <p:spPr>
          <a:xfrm>
            <a:off x="3082290" y="1857375"/>
            <a:ext cx="165354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Preprocessing</a:t>
            </a:r>
          </a:p>
        </p:txBody>
      </p:sp>
      <p:sp>
        <p:nvSpPr>
          <p:cNvPr id="13" name="Rectangle 12">
            <a:extLst>
              <a:ext uri="{FF2B5EF4-FFF2-40B4-BE49-F238E27FC236}">
                <a16:creationId xmlns:a16="http://schemas.microsoft.com/office/drawing/2014/main" id="{ACD5DEC4-25D0-41ED-9EFF-2E8875380446}"/>
              </a:ext>
            </a:extLst>
          </p:cNvPr>
          <p:cNvSpPr>
            <a:spLocks noGrp="1"/>
          </p:cNvSpPr>
          <p:nvPr/>
        </p:nvSpPr>
        <p:spPr>
          <a:xfrm>
            <a:off x="2967990" y="1619250"/>
            <a:ext cx="1882140" cy="66675"/>
          </a:xfrm>
          <a:prstGeom prst="rect">
            <a:avLst/>
          </a:prstGeom>
          <a:solidFill>
            <a:srgbClr val="0B6EFD"/>
          </a:solidFill>
          <a:ln w="0">
            <a:solidFill>
              <a:srgbClr val="000000">
                <a:alpha val="0"/>
              </a:srgbClr>
            </a:solidFill>
            <a:prstDash val="solid"/>
          </a:ln>
        </p:spPr>
      </p:sp>
      <p:sp>
        <p:nvSpPr>
          <p:cNvPr id="14" name="Rectangle 13">
            <a:extLst>
              <a:ext uri="{FF2B5EF4-FFF2-40B4-BE49-F238E27FC236}">
                <a16:creationId xmlns:a16="http://schemas.microsoft.com/office/drawing/2014/main" id="{732AA838-2E58-4B4B-8248-CC4363299AF2}"/>
              </a:ext>
            </a:extLst>
          </p:cNvPr>
          <p:cNvSpPr>
            <a:spLocks noGrp="1"/>
          </p:cNvSpPr>
          <p:nvPr/>
        </p:nvSpPr>
        <p:spPr>
          <a:xfrm>
            <a:off x="4897755" y="1905000"/>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5" name="Rectangle: Rounded Corners 14">
            <a:extLst>
              <a:ext uri="{FF2B5EF4-FFF2-40B4-BE49-F238E27FC236}">
                <a16:creationId xmlns:a16="http://schemas.microsoft.com/office/drawing/2014/main" id="{CB96DE92-A782-43C5-9B95-02ADE36C6D2E}"/>
              </a:ext>
            </a:extLst>
          </p:cNvPr>
          <p:cNvSpPr>
            <a:spLocks noGrp="1"/>
          </p:cNvSpPr>
          <p:nvPr/>
        </p:nvSpPr>
        <p:spPr>
          <a:xfrm>
            <a:off x="5116830" y="1619250"/>
            <a:ext cx="1882140" cy="857250"/>
          </a:xfrm>
          <a:prstGeom prst="roundRect">
            <a:avLst>
              <a:gd name="adj" fmla="val 8889"/>
            </a:avLst>
          </a:prstGeom>
          <a:solidFill>
            <a:srgbClr val="FFFFFF"/>
          </a:solidFill>
          <a:ln w="9525">
            <a:solidFill>
              <a:srgbClr val="D8E8F4"/>
            </a:solidFill>
            <a:prstDash val="solid"/>
          </a:ln>
        </p:spPr>
      </p:sp>
      <p:sp>
        <p:nvSpPr>
          <p:cNvPr id="16" name="Rectangle 15">
            <a:extLst>
              <a:ext uri="{FF2B5EF4-FFF2-40B4-BE49-F238E27FC236}">
                <a16:creationId xmlns:a16="http://schemas.microsoft.com/office/drawing/2014/main" id="{14EEC4B0-76DD-4FE9-96C9-5060CBD39FF2}"/>
              </a:ext>
            </a:extLst>
          </p:cNvPr>
          <p:cNvSpPr>
            <a:spLocks noGrp="1"/>
          </p:cNvSpPr>
          <p:nvPr/>
        </p:nvSpPr>
        <p:spPr>
          <a:xfrm>
            <a:off x="5231130" y="1857375"/>
            <a:ext cx="165354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Model Training</a:t>
            </a:r>
          </a:p>
        </p:txBody>
      </p:sp>
      <p:sp>
        <p:nvSpPr>
          <p:cNvPr id="17" name="Rectangle 16">
            <a:extLst>
              <a:ext uri="{FF2B5EF4-FFF2-40B4-BE49-F238E27FC236}">
                <a16:creationId xmlns:a16="http://schemas.microsoft.com/office/drawing/2014/main" id="{56CC7AD5-7F74-4BC7-A44D-CFFB72D2D1F6}"/>
              </a:ext>
            </a:extLst>
          </p:cNvPr>
          <p:cNvSpPr>
            <a:spLocks noGrp="1"/>
          </p:cNvSpPr>
          <p:nvPr/>
        </p:nvSpPr>
        <p:spPr>
          <a:xfrm>
            <a:off x="5116830" y="1619250"/>
            <a:ext cx="1882140" cy="66675"/>
          </a:xfrm>
          <a:prstGeom prst="rect">
            <a:avLst/>
          </a:prstGeom>
          <a:solidFill>
            <a:srgbClr val="0B6EFD"/>
          </a:solidFill>
          <a:ln w="0">
            <a:solidFill>
              <a:srgbClr val="000000">
                <a:alpha val="0"/>
              </a:srgbClr>
            </a:solidFill>
            <a:prstDash val="solid"/>
          </a:ln>
        </p:spPr>
      </p:sp>
      <p:sp>
        <p:nvSpPr>
          <p:cNvPr id="18" name="Rectangle 17">
            <a:extLst>
              <a:ext uri="{FF2B5EF4-FFF2-40B4-BE49-F238E27FC236}">
                <a16:creationId xmlns:a16="http://schemas.microsoft.com/office/drawing/2014/main" id="{C9ADE4B1-B5E2-4BA6-A1E9-1D8DA29C1310}"/>
              </a:ext>
            </a:extLst>
          </p:cNvPr>
          <p:cNvSpPr>
            <a:spLocks noGrp="1"/>
          </p:cNvSpPr>
          <p:nvPr/>
        </p:nvSpPr>
        <p:spPr>
          <a:xfrm>
            <a:off x="7046595" y="1905000"/>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9" name="Rectangle: Rounded Corners 18">
            <a:extLst>
              <a:ext uri="{FF2B5EF4-FFF2-40B4-BE49-F238E27FC236}">
                <a16:creationId xmlns:a16="http://schemas.microsoft.com/office/drawing/2014/main" id="{D83D7FF2-BC23-430B-8BA8-DF5C3DCF97C1}"/>
              </a:ext>
            </a:extLst>
          </p:cNvPr>
          <p:cNvSpPr>
            <a:spLocks noGrp="1"/>
          </p:cNvSpPr>
          <p:nvPr/>
        </p:nvSpPr>
        <p:spPr>
          <a:xfrm>
            <a:off x="7265670" y="1619250"/>
            <a:ext cx="1882140" cy="857250"/>
          </a:xfrm>
          <a:prstGeom prst="roundRect">
            <a:avLst>
              <a:gd name="adj" fmla="val 8889"/>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21C93C3F-AA4B-4AA2-86CE-E685DA108081}"/>
              </a:ext>
            </a:extLst>
          </p:cNvPr>
          <p:cNvSpPr>
            <a:spLocks noGrp="1"/>
          </p:cNvSpPr>
          <p:nvPr/>
        </p:nvSpPr>
        <p:spPr>
          <a:xfrm>
            <a:off x="7379970" y="1857375"/>
            <a:ext cx="165354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Evaluation</a:t>
            </a:r>
          </a:p>
        </p:txBody>
      </p:sp>
      <p:sp>
        <p:nvSpPr>
          <p:cNvPr id="21" name="Rectangle 20">
            <a:extLst>
              <a:ext uri="{FF2B5EF4-FFF2-40B4-BE49-F238E27FC236}">
                <a16:creationId xmlns:a16="http://schemas.microsoft.com/office/drawing/2014/main" id="{06EFEDBD-A613-40CE-8348-97BC132BEB57}"/>
              </a:ext>
            </a:extLst>
          </p:cNvPr>
          <p:cNvSpPr>
            <a:spLocks noGrp="1"/>
          </p:cNvSpPr>
          <p:nvPr/>
        </p:nvSpPr>
        <p:spPr>
          <a:xfrm>
            <a:off x="7265670" y="1619250"/>
            <a:ext cx="1882140" cy="66675"/>
          </a:xfrm>
          <a:prstGeom prst="rect">
            <a:avLst/>
          </a:prstGeom>
          <a:solidFill>
            <a:srgbClr val="0B6EFD"/>
          </a:solidFill>
          <a:ln w="0">
            <a:solidFill>
              <a:srgbClr val="000000">
                <a:alpha val="0"/>
              </a:srgbClr>
            </a:solidFill>
            <a:prstDash val="solid"/>
          </a:ln>
        </p:spPr>
      </p:sp>
      <p:sp>
        <p:nvSpPr>
          <p:cNvPr id="22" name="Rectangle 21">
            <a:extLst>
              <a:ext uri="{FF2B5EF4-FFF2-40B4-BE49-F238E27FC236}">
                <a16:creationId xmlns:a16="http://schemas.microsoft.com/office/drawing/2014/main" id="{386C6567-9686-477F-8A26-33E17A9BF060}"/>
              </a:ext>
            </a:extLst>
          </p:cNvPr>
          <p:cNvSpPr>
            <a:spLocks noGrp="1"/>
          </p:cNvSpPr>
          <p:nvPr/>
        </p:nvSpPr>
        <p:spPr>
          <a:xfrm>
            <a:off x="9195435" y="1905000"/>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23" name="Rectangle: Rounded Corners 22">
            <a:extLst>
              <a:ext uri="{FF2B5EF4-FFF2-40B4-BE49-F238E27FC236}">
                <a16:creationId xmlns:a16="http://schemas.microsoft.com/office/drawing/2014/main" id="{A0C4371D-6DA3-4448-9AE0-A39DC522E3B1}"/>
              </a:ext>
            </a:extLst>
          </p:cNvPr>
          <p:cNvSpPr>
            <a:spLocks noGrp="1"/>
          </p:cNvSpPr>
          <p:nvPr/>
        </p:nvSpPr>
        <p:spPr>
          <a:xfrm>
            <a:off x="9414510" y="1619250"/>
            <a:ext cx="1882140" cy="857250"/>
          </a:xfrm>
          <a:prstGeom prst="roundRect">
            <a:avLst>
              <a:gd name="adj" fmla="val 8889"/>
            </a:avLst>
          </a:prstGeom>
          <a:solidFill>
            <a:srgbClr val="FFFFFF"/>
          </a:solidFill>
          <a:ln w="9525">
            <a:solidFill>
              <a:srgbClr val="D8E8F4"/>
            </a:solidFill>
            <a:prstDash val="solid"/>
          </a:ln>
        </p:spPr>
      </p:sp>
      <p:sp>
        <p:nvSpPr>
          <p:cNvPr id="24" name="Rectangle 23">
            <a:extLst>
              <a:ext uri="{FF2B5EF4-FFF2-40B4-BE49-F238E27FC236}">
                <a16:creationId xmlns:a16="http://schemas.microsoft.com/office/drawing/2014/main" id="{7005C42F-1676-4D7F-8817-373A1AB8E391}"/>
              </a:ext>
            </a:extLst>
          </p:cNvPr>
          <p:cNvSpPr>
            <a:spLocks noGrp="1"/>
          </p:cNvSpPr>
          <p:nvPr/>
        </p:nvSpPr>
        <p:spPr>
          <a:xfrm>
            <a:off x="9528810" y="1857375"/>
            <a:ext cx="165354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Final XGBoost</a:t>
            </a:r>
          </a:p>
        </p:txBody>
      </p:sp>
      <p:sp>
        <p:nvSpPr>
          <p:cNvPr id="25" name="Rectangle 24">
            <a:extLst>
              <a:ext uri="{FF2B5EF4-FFF2-40B4-BE49-F238E27FC236}">
                <a16:creationId xmlns:a16="http://schemas.microsoft.com/office/drawing/2014/main" id="{60C53718-BF13-4E75-89E4-9354CDC3CA63}"/>
              </a:ext>
            </a:extLst>
          </p:cNvPr>
          <p:cNvSpPr>
            <a:spLocks noGrp="1"/>
          </p:cNvSpPr>
          <p:nvPr/>
        </p:nvSpPr>
        <p:spPr>
          <a:xfrm>
            <a:off x="9414510" y="1619250"/>
            <a:ext cx="1882140" cy="66675"/>
          </a:xfrm>
          <a:prstGeom prst="rect">
            <a:avLst/>
          </a:prstGeom>
          <a:solidFill>
            <a:srgbClr val="0B6EFD"/>
          </a:solidFill>
          <a:ln w="0">
            <a:solidFill>
              <a:srgbClr val="000000">
                <a:alpha val="0"/>
              </a:srgbClr>
            </a:solidFill>
            <a:prstDash val="solid"/>
          </a:ln>
        </p:spPr>
      </p:sp>
      <p:sp>
        <p:nvSpPr>
          <p:cNvPr id="26" name="Rectangle: Rounded Corners 25">
            <a:extLst>
              <a:ext uri="{FF2B5EF4-FFF2-40B4-BE49-F238E27FC236}">
                <a16:creationId xmlns:a16="http://schemas.microsoft.com/office/drawing/2014/main" id="{2E9AAC02-7699-47AB-A977-0B43F37A80D1}"/>
              </a:ext>
            </a:extLst>
          </p:cNvPr>
          <p:cNvSpPr>
            <a:spLocks noGrp="1"/>
          </p:cNvSpPr>
          <p:nvPr/>
        </p:nvSpPr>
        <p:spPr>
          <a:xfrm>
            <a:off x="1047750" y="3143250"/>
            <a:ext cx="2857500" cy="1428750"/>
          </a:xfrm>
          <a:prstGeom prst="roundRect">
            <a:avLst>
              <a:gd name="adj" fmla="val 5333"/>
            </a:avLst>
          </a:prstGeom>
          <a:solidFill>
            <a:srgbClr val="FFFFFF"/>
          </a:solidFill>
          <a:ln w="9525">
            <a:solidFill>
              <a:srgbClr val="D8E8F4"/>
            </a:solidFill>
            <a:prstDash val="solid"/>
          </a:ln>
        </p:spPr>
      </p:sp>
      <p:sp>
        <p:nvSpPr>
          <p:cNvPr id="27" name="Rectangle 26">
            <a:extLst>
              <a:ext uri="{FF2B5EF4-FFF2-40B4-BE49-F238E27FC236}">
                <a16:creationId xmlns:a16="http://schemas.microsoft.com/office/drawing/2014/main" id="{57FCE04A-632F-4AF6-9030-B03157CA195F}"/>
              </a:ext>
            </a:extLst>
          </p:cNvPr>
          <p:cNvSpPr>
            <a:spLocks noGrp="1"/>
          </p:cNvSpPr>
          <p:nvPr/>
        </p:nvSpPr>
        <p:spPr>
          <a:xfrm>
            <a:off x="1047750" y="3143250"/>
            <a:ext cx="66675" cy="1428750"/>
          </a:xfrm>
          <a:prstGeom prst="rect">
            <a:avLst/>
          </a:prstGeom>
          <a:solidFill>
            <a:srgbClr val="0B2559"/>
          </a:solidFill>
          <a:ln w="0">
            <a:solidFill>
              <a:srgbClr val="000000">
                <a:alpha val="0"/>
              </a:srgbClr>
            </a:solidFill>
            <a:prstDash val="solid"/>
          </a:ln>
        </p:spPr>
      </p:sp>
      <p:sp>
        <p:nvSpPr>
          <p:cNvPr id="28" name="Rectangle 27">
            <a:extLst>
              <a:ext uri="{FF2B5EF4-FFF2-40B4-BE49-F238E27FC236}">
                <a16:creationId xmlns:a16="http://schemas.microsoft.com/office/drawing/2014/main" id="{E3AB133A-2FBC-46A0-B154-719CC76FFE47}"/>
              </a:ext>
            </a:extLst>
          </p:cNvPr>
          <p:cNvSpPr>
            <a:spLocks noGrp="1"/>
          </p:cNvSpPr>
          <p:nvPr/>
        </p:nvSpPr>
        <p:spPr>
          <a:xfrm>
            <a:off x="1257300" y="3314700"/>
            <a:ext cx="24765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Logistic Regression</a:t>
            </a:r>
          </a:p>
        </p:txBody>
      </p:sp>
      <p:sp>
        <p:nvSpPr>
          <p:cNvPr id="29" name="Rectangle 28">
            <a:extLst>
              <a:ext uri="{FF2B5EF4-FFF2-40B4-BE49-F238E27FC236}">
                <a16:creationId xmlns:a16="http://schemas.microsoft.com/office/drawing/2014/main" id="{C3D5BA2E-62E5-43F3-BBF8-2E8B12CA9587}"/>
              </a:ext>
            </a:extLst>
          </p:cNvPr>
          <p:cNvSpPr>
            <a:spLocks noGrp="1"/>
          </p:cNvSpPr>
          <p:nvPr/>
        </p:nvSpPr>
        <p:spPr>
          <a:xfrm>
            <a:off x="1257300" y="3676650"/>
            <a:ext cx="2476500" cy="8001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Baseline interpretable classifier for comparison.</a:t>
            </a:r>
          </a:p>
        </p:txBody>
      </p:sp>
      <p:sp>
        <p:nvSpPr>
          <p:cNvPr id="30" name="Rectangle: Rounded Corners 29">
            <a:extLst>
              <a:ext uri="{FF2B5EF4-FFF2-40B4-BE49-F238E27FC236}">
                <a16:creationId xmlns:a16="http://schemas.microsoft.com/office/drawing/2014/main" id="{C5C0D294-49CD-4948-8EDA-5760C76E3809}"/>
              </a:ext>
            </a:extLst>
          </p:cNvPr>
          <p:cNvSpPr>
            <a:spLocks noGrp="1"/>
          </p:cNvSpPr>
          <p:nvPr/>
        </p:nvSpPr>
        <p:spPr>
          <a:xfrm>
            <a:off x="4667250" y="3143250"/>
            <a:ext cx="2857500" cy="1428750"/>
          </a:xfrm>
          <a:prstGeom prst="roundRect">
            <a:avLst>
              <a:gd name="adj" fmla="val 5333"/>
            </a:avLst>
          </a:prstGeom>
          <a:solidFill>
            <a:srgbClr val="FFFFFF"/>
          </a:solidFill>
          <a:ln w="9525">
            <a:solidFill>
              <a:srgbClr val="D8E8F4"/>
            </a:solidFill>
            <a:prstDash val="solid"/>
          </a:ln>
        </p:spPr>
      </p:sp>
      <p:sp>
        <p:nvSpPr>
          <p:cNvPr id="31" name="Rectangle 30">
            <a:extLst>
              <a:ext uri="{FF2B5EF4-FFF2-40B4-BE49-F238E27FC236}">
                <a16:creationId xmlns:a16="http://schemas.microsoft.com/office/drawing/2014/main" id="{39199BB8-E2DD-4494-8501-0E92ED6AF839}"/>
              </a:ext>
            </a:extLst>
          </p:cNvPr>
          <p:cNvSpPr>
            <a:spLocks noGrp="1"/>
          </p:cNvSpPr>
          <p:nvPr/>
        </p:nvSpPr>
        <p:spPr>
          <a:xfrm>
            <a:off x="4667250" y="3143250"/>
            <a:ext cx="66675" cy="1428750"/>
          </a:xfrm>
          <a:prstGeom prst="rect">
            <a:avLst/>
          </a:prstGeom>
          <a:solidFill>
            <a:srgbClr val="10B981"/>
          </a:solidFill>
          <a:ln w="0">
            <a:solidFill>
              <a:srgbClr val="000000">
                <a:alpha val="0"/>
              </a:srgbClr>
            </a:solidFill>
            <a:prstDash val="solid"/>
          </a:ln>
        </p:spPr>
      </p:sp>
      <p:sp>
        <p:nvSpPr>
          <p:cNvPr id="32" name="Rectangle 31">
            <a:extLst>
              <a:ext uri="{FF2B5EF4-FFF2-40B4-BE49-F238E27FC236}">
                <a16:creationId xmlns:a16="http://schemas.microsoft.com/office/drawing/2014/main" id="{CA93D711-D3F6-4CCB-92C2-B0B102EB9583}"/>
              </a:ext>
            </a:extLst>
          </p:cNvPr>
          <p:cNvSpPr>
            <a:spLocks noGrp="1"/>
          </p:cNvSpPr>
          <p:nvPr/>
        </p:nvSpPr>
        <p:spPr>
          <a:xfrm>
            <a:off x="4876800" y="3314700"/>
            <a:ext cx="24765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Random Forest</a:t>
            </a:r>
          </a:p>
        </p:txBody>
      </p:sp>
      <p:sp>
        <p:nvSpPr>
          <p:cNvPr id="33" name="Rectangle 32">
            <a:extLst>
              <a:ext uri="{FF2B5EF4-FFF2-40B4-BE49-F238E27FC236}">
                <a16:creationId xmlns:a16="http://schemas.microsoft.com/office/drawing/2014/main" id="{00CEF668-A08B-46D3-88C3-63178232B2E4}"/>
              </a:ext>
            </a:extLst>
          </p:cNvPr>
          <p:cNvSpPr>
            <a:spLocks noGrp="1"/>
          </p:cNvSpPr>
          <p:nvPr/>
        </p:nvSpPr>
        <p:spPr>
          <a:xfrm>
            <a:off x="4876800" y="3676650"/>
            <a:ext cx="2476500" cy="8001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Ensemble model for nonlinear patterns.</a:t>
            </a:r>
          </a:p>
        </p:txBody>
      </p:sp>
      <p:sp>
        <p:nvSpPr>
          <p:cNvPr id="34" name="Rectangle: Rounded Corners 33">
            <a:extLst>
              <a:ext uri="{FF2B5EF4-FFF2-40B4-BE49-F238E27FC236}">
                <a16:creationId xmlns:a16="http://schemas.microsoft.com/office/drawing/2014/main" id="{E0FCED92-C3DA-4687-9723-A2D643D53089}"/>
              </a:ext>
            </a:extLst>
          </p:cNvPr>
          <p:cNvSpPr>
            <a:spLocks noGrp="1"/>
          </p:cNvSpPr>
          <p:nvPr/>
        </p:nvSpPr>
        <p:spPr>
          <a:xfrm>
            <a:off x="8286750" y="3143250"/>
            <a:ext cx="2857500" cy="1428750"/>
          </a:xfrm>
          <a:prstGeom prst="roundRect">
            <a:avLst>
              <a:gd name="adj" fmla="val 5333"/>
            </a:avLst>
          </a:prstGeom>
          <a:solidFill>
            <a:srgbClr val="FFFFFF"/>
          </a:solidFill>
          <a:ln w="9525">
            <a:solidFill>
              <a:srgbClr val="D8E8F4"/>
            </a:solidFill>
            <a:prstDash val="solid"/>
          </a:ln>
        </p:spPr>
      </p:sp>
      <p:sp>
        <p:nvSpPr>
          <p:cNvPr id="35" name="Rectangle 34">
            <a:extLst>
              <a:ext uri="{FF2B5EF4-FFF2-40B4-BE49-F238E27FC236}">
                <a16:creationId xmlns:a16="http://schemas.microsoft.com/office/drawing/2014/main" id="{3C3A80C2-F26A-46F5-920C-774C58FB058B}"/>
              </a:ext>
            </a:extLst>
          </p:cNvPr>
          <p:cNvSpPr>
            <a:spLocks noGrp="1"/>
          </p:cNvSpPr>
          <p:nvPr/>
        </p:nvSpPr>
        <p:spPr>
          <a:xfrm>
            <a:off x="8286750" y="3143250"/>
            <a:ext cx="66675" cy="1428750"/>
          </a:xfrm>
          <a:prstGeom prst="rect">
            <a:avLst/>
          </a:prstGeom>
          <a:solidFill>
            <a:srgbClr val="0B6EFD"/>
          </a:solidFill>
          <a:ln w="0">
            <a:solidFill>
              <a:srgbClr val="000000">
                <a:alpha val="0"/>
              </a:srgbClr>
            </a:solidFill>
            <a:prstDash val="solid"/>
          </a:ln>
        </p:spPr>
      </p:sp>
      <p:sp>
        <p:nvSpPr>
          <p:cNvPr id="36" name="Rectangle 35">
            <a:extLst>
              <a:ext uri="{FF2B5EF4-FFF2-40B4-BE49-F238E27FC236}">
                <a16:creationId xmlns:a16="http://schemas.microsoft.com/office/drawing/2014/main" id="{C4920C8F-1361-4347-A061-5109B99A215A}"/>
              </a:ext>
            </a:extLst>
          </p:cNvPr>
          <p:cNvSpPr>
            <a:spLocks noGrp="1"/>
          </p:cNvSpPr>
          <p:nvPr/>
        </p:nvSpPr>
        <p:spPr>
          <a:xfrm>
            <a:off x="8496300" y="3314700"/>
            <a:ext cx="24765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XGBoost</a:t>
            </a:r>
          </a:p>
        </p:txBody>
      </p:sp>
      <p:sp>
        <p:nvSpPr>
          <p:cNvPr id="37" name="Rectangle 36">
            <a:extLst>
              <a:ext uri="{FF2B5EF4-FFF2-40B4-BE49-F238E27FC236}">
                <a16:creationId xmlns:a16="http://schemas.microsoft.com/office/drawing/2014/main" id="{F8C67E63-828C-411F-9EFE-3CDEB37AA62E}"/>
              </a:ext>
            </a:extLst>
          </p:cNvPr>
          <p:cNvSpPr>
            <a:spLocks noGrp="1"/>
          </p:cNvSpPr>
          <p:nvPr/>
        </p:nvSpPr>
        <p:spPr>
          <a:xfrm>
            <a:off x="8496300" y="3676650"/>
            <a:ext cx="2476500" cy="8001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Selected for high predictive performance and feature importance support.</a:t>
            </a:r>
          </a:p>
        </p:txBody>
      </p:sp>
      <p:sp>
        <p:nvSpPr>
          <p:cNvPr id="38" name="Rectangle 37">
            <a:extLst>
              <a:ext uri="{FF2B5EF4-FFF2-40B4-BE49-F238E27FC236}">
                <a16:creationId xmlns:a16="http://schemas.microsoft.com/office/drawing/2014/main" id="{22444803-3DAC-4239-AC8D-EA780FF2D795}"/>
              </a:ext>
            </a:extLst>
          </p:cNvPr>
          <p:cNvSpPr>
            <a:spLocks noGrp="1"/>
          </p:cNvSpPr>
          <p:nvPr/>
        </p:nvSpPr>
        <p:spPr>
          <a:xfrm>
            <a:off x="1143000" y="5191125"/>
            <a:ext cx="9906000" cy="41910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102033"/>
                </a:solidFill>
                <a:latin typeface="Aptos"/>
                <a:ea typeface="Aptos"/>
                <a:cs typeface="Aptos"/>
              </a:defRPr>
            </a:pPr>
            <a:r>
              <a:rPr sz="1500" b="1" dirty="0">
                <a:solidFill>
                  <a:srgbClr val="102033"/>
                </a:solidFill>
                <a:latin typeface="Aptos"/>
                <a:ea typeface="Aptos"/>
                <a:cs typeface="Aptos"/>
              </a:rPr>
              <a:t>Why </a:t>
            </a:r>
            <a:r>
              <a:rPr sz="1500" b="1" dirty="0" err="1">
                <a:solidFill>
                  <a:srgbClr val="102033"/>
                </a:solidFill>
                <a:latin typeface="Aptos"/>
                <a:ea typeface="Aptos"/>
                <a:cs typeface="Aptos"/>
              </a:rPr>
              <a:t>XGBoost</a:t>
            </a:r>
            <a:r>
              <a:rPr sz="1500" b="1" dirty="0">
                <a:solidFill>
                  <a:srgbClr val="102033"/>
                </a:solidFill>
                <a:latin typeface="Aptos"/>
                <a:ea typeface="Aptos"/>
                <a:cs typeface="Aptos"/>
              </a:rPr>
              <a:t>? Gradient boosting handles non</a:t>
            </a:r>
            <a:r>
              <a:rPr lang="en-US" sz="1500" b="1" dirty="0">
                <a:solidFill>
                  <a:srgbClr val="102033"/>
                </a:solidFill>
                <a:latin typeface="Aptos"/>
                <a:ea typeface="Aptos"/>
                <a:cs typeface="Aptos"/>
              </a:rPr>
              <a:t>-</a:t>
            </a:r>
            <a:r>
              <a:rPr sz="1500" b="1" dirty="0">
                <a:solidFill>
                  <a:srgbClr val="102033"/>
                </a:solidFill>
                <a:latin typeface="Aptos"/>
                <a:ea typeface="Aptos"/>
                <a:cs typeface="Aptos"/>
              </a:rPr>
              <a:t>linear clinical relationships and often performs strongly on structured tabular datasets.</a:t>
            </a:r>
          </a:p>
        </p:txBody>
      </p:sp>
    </p:spTree>
    <p:extLst>
      <p:ext uri="{BB962C8B-B14F-4D97-AF65-F5344CB8AC3E}">
        <p14:creationId xmlns:p14="http://schemas.microsoft.com/office/powerpoint/2010/main" val="677378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772481B-A59C-446E-AB9C-FA88A8735FF9}"/>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CDEB9651-B27C-456E-93CA-2834F9F75101}"/>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2060F95C-3F60-492E-8F19-DD2A7BA8A975}"/>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11</a:t>
            </a:r>
          </a:p>
        </p:txBody>
      </p:sp>
      <p:sp>
        <p:nvSpPr>
          <p:cNvPr id="5" name="Rectangle 4">
            <a:extLst>
              <a:ext uri="{FF2B5EF4-FFF2-40B4-BE49-F238E27FC236}">
                <a16:creationId xmlns:a16="http://schemas.microsoft.com/office/drawing/2014/main" id="{F0EA7B6C-7384-4CB0-BDFB-A9A87518E534}"/>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Model Training Process</a:t>
            </a:r>
          </a:p>
        </p:txBody>
      </p:sp>
      <p:sp>
        <p:nvSpPr>
          <p:cNvPr id="6" name="Straight Connector 5">
            <a:extLst>
              <a:ext uri="{FF2B5EF4-FFF2-40B4-BE49-F238E27FC236}">
                <a16:creationId xmlns:a16="http://schemas.microsoft.com/office/drawing/2014/main" id="{C6E3FD1A-6F51-4CFE-ADFF-917D8352CA56}"/>
              </a:ext>
            </a:extLst>
          </p:cNvPr>
          <p:cNvSpPr>
            <a:spLocks noGrp="1"/>
          </p:cNvSpPr>
          <p:nvPr/>
        </p:nvSpPr>
        <p:spPr>
          <a:xfrm flipV="1">
            <a:off x="552449" y="971551"/>
            <a:ext cx="3518105" cy="1905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DDBDBD1C-6340-440B-B9B4-DA3A8A93822E}"/>
              </a:ext>
            </a:extLst>
          </p:cNvPr>
          <p:cNvSpPr>
            <a:spLocks noGrp="1"/>
          </p:cNvSpPr>
          <p:nvPr/>
        </p:nvSpPr>
        <p:spPr>
          <a:xfrm>
            <a:off x="3714750" y="1314450"/>
            <a:ext cx="4762500" cy="533400"/>
          </a:xfrm>
          <a:prstGeom prst="roundRect">
            <a:avLst>
              <a:gd name="adj" fmla="val 14286"/>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D849D27B-0884-43BA-B215-CF19F8B63E86}"/>
              </a:ext>
            </a:extLst>
          </p:cNvPr>
          <p:cNvSpPr>
            <a:spLocks noGrp="1"/>
          </p:cNvSpPr>
          <p:nvPr/>
        </p:nvSpPr>
        <p:spPr>
          <a:xfrm>
            <a:off x="3867150" y="1438275"/>
            <a:ext cx="445770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Dataset</a:t>
            </a:r>
          </a:p>
        </p:txBody>
      </p:sp>
      <p:sp>
        <p:nvSpPr>
          <p:cNvPr id="9" name="Rectangle 8">
            <a:extLst>
              <a:ext uri="{FF2B5EF4-FFF2-40B4-BE49-F238E27FC236}">
                <a16:creationId xmlns:a16="http://schemas.microsoft.com/office/drawing/2014/main" id="{B0B070C9-E4E7-4BAA-B0DE-95DA26D67725}"/>
              </a:ext>
            </a:extLst>
          </p:cNvPr>
          <p:cNvSpPr>
            <a:spLocks noGrp="1"/>
          </p:cNvSpPr>
          <p:nvPr/>
        </p:nvSpPr>
        <p:spPr>
          <a:xfrm>
            <a:off x="6000750" y="18097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0" name="Rectangle: Rounded Corners 9">
            <a:extLst>
              <a:ext uri="{FF2B5EF4-FFF2-40B4-BE49-F238E27FC236}">
                <a16:creationId xmlns:a16="http://schemas.microsoft.com/office/drawing/2014/main" id="{4C426931-F024-40FE-AF80-D314A7C1B1D0}"/>
              </a:ext>
            </a:extLst>
          </p:cNvPr>
          <p:cNvSpPr>
            <a:spLocks noGrp="1"/>
          </p:cNvSpPr>
          <p:nvPr/>
        </p:nvSpPr>
        <p:spPr>
          <a:xfrm>
            <a:off x="3714750" y="2038350"/>
            <a:ext cx="4762500" cy="533400"/>
          </a:xfrm>
          <a:prstGeom prst="roundRect">
            <a:avLst>
              <a:gd name="adj" fmla="val 14286"/>
            </a:avLst>
          </a:prstGeom>
          <a:solidFill>
            <a:srgbClr val="FFFFFF"/>
          </a:solidFill>
          <a:ln w="9525">
            <a:solidFill>
              <a:srgbClr val="D8E8F4"/>
            </a:solidFill>
            <a:prstDash val="solid"/>
          </a:ln>
        </p:spPr>
      </p:sp>
      <p:sp>
        <p:nvSpPr>
          <p:cNvPr id="11" name="Rectangle 10">
            <a:extLst>
              <a:ext uri="{FF2B5EF4-FFF2-40B4-BE49-F238E27FC236}">
                <a16:creationId xmlns:a16="http://schemas.microsoft.com/office/drawing/2014/main" id="{FFF56319-6DD4-4512-A75B-821564FFE668}"/>
              </a:ext>
            </a:extLst>
          </p:cNvPr>
          <p:cNvSpPr>
            <a:spLocks noGrp="1"/>
          </p:cNvSpPr>
          <p:nvPr/>
        </p:nvSpPr>
        <p:spPr>
          <a:xfrm>
            <a:off x="3867150" y="2162175"/>
            <a:ext cx="445770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Train-Test Split</a:t>
            </a:r>
          </a:p>
        </p:txBody>
      </p:sp>
      <p:sp>
        <p:nvSpPr>
          <p:cNvPr id="12" name="Rectangle 11">
            <a:extLst>
              <a:ext uri="{FF2B5EF4-FFF2-40B4-BE49-F238E27FC236}">
                <a16:creationId xmlns:a16="http://schemas.microsoft.com/office/drawing/2014/main" id="{93A83A6B-7077-4709-AB79-1203D38501A4}"/>
              </a:ext>
            </a:extLst>
          </p:cNvPr>
          <p:cNvSpPr>
            <a:spLocks noGrp="1"/>
          </p:cNvSpPr>
          <p:nvPr/>
        </p:nvSpPr>
        <p:spPr>
          <a:xfrm>
            <a:off x="6000750" y="25336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3" name="Rectangle: Rounded Corners 12">
            <a:extLst>
              <a:ext uri="{FF2B5EF4-FFF2-40B4-BE49-F238E27FC236}">
                <a16:creationId xmlns:a16="http://schemas.microsoft.com/office/drawing/2014/main" id="{9C56800A-0F00-48CB-9AEE-84D5B69F440C}"/>
              </a:ext>
            </a:extLst>
          </p:cNvPr>
          <p:cNvSpPr>
            <a:spLocks noGrp="1"/>
          </p:cNvSpPr>
          <p:nvPr/>
        </p:nvSpPr>
        <p:spPr>
          <a:xfrm>
            <a:off x="3714750" y="2762250"/>
            <a:ext cx="4762500" cy="533400"/>
          </a:xfrm>
          <a:prstGeom prst="roundRect">
            <a:avLst>
              <a:gd name="adj" fmla="val 14286"/>
            </a:avLst>
          </a:prstGeom>
          <a:solidFill>
            <a:srgbClr val="FFFFFF"/>
          </a:solidFill>
          <a:ln w="9525">
            <a:solidFill>
              <a:srgbClr val="D8E8F4"/>
            </a:solidFill>
            <a:prstDash val="solid"/>
          </a:ln>
        </p:spPr>
      </p:sp>
      <p:sp>
        <p:nvSpPr>
          <p:cNvPr id="14" name="Rectangle 13">
            <a:extLst>
              <a:ext uri="{FF2B5EF4-FFF2-40B4-BE49-F238E27FC236}">
                <a16:creationId xmlns:a16="http://schemas.microsoft.com/office/drawing/2014/main" id="{6BA7892E-5772-4DC6-BFA3-5E62112556E9}"/>
              </a:ext>
            </a:extLst>
          </p:cNvPr>
          <p:cNvSpPr>
            <a:spLocks noGrp="1"/>
          </p:cNvSpPr>
          <p:nvPr/>
        </p:nvSpPr>
        <p:spPr>
          <a:xfrm>
            <a:off x="3867150" y="2886075"/>
            <a:ext cx="445770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Model Training</a:t>
            </a:r>
          </a:p>
        </p:txBody>
      </p:sp>
      <p:sp>
        <p:nvSpPr>
          <p:cNvPr id="15" name="Rectangle 14">
            <a:extLst>
              <a:ext uri="{FF2B5EF4-FFF2-40B4-BE49-F238E27FC236}">
                <a16:creationId xmlns:a16="http://schemas.microsoft.com/office/drawing/2014/main" id="{A3F93239-3177-49BC-85C6-2BF998CE2F9F}"/>
              </a:ext>
            </a:extLst>
          </p:cNvPr>
          <p:cNvSpPr>
            <a:spLocks noGrp="1"/>
          </p:cNvSpPr>
          <p:nvPr/>
        </p:nvSpPr>
        <p:spPr>
          <a:xfrm>
            <a:off x="6000750" y="32575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6" name="Rectangle: Rounded Corners 15">
            <a:extLst>
              <a:ext uri="{FF2B5EF4-FFF2-40B4-BE49-F238E27FC236}">
                <a16:creationId xmlns:a16="http://schemas.microsoft.com/office/drawing/2014/main" id="{925712DF-CB87-409E-A921-D318A80DC1F0}"/>
              </a:ext>
            </a:extLst>
          </p:cNvPr>
          <p:cNvSpPr>
            <a:spLocks noGrp="1"/>
          </p:cNvSpPr>
          <p:nvPr/>
        </p:nvSpPr>
        <p:spPr>
          <a:xfrm>
            <a:off x="3714750" y="3486150"/>
            <a:ext cx="4762500" cy="533400"/>
          </a:xfrm>
          <a:prstGeom prst="roundRect">
            <a:avLst>
              <a:gd name="adj" fmla="val 14286"/>
            </a:avLst>
          </a:prstGeom>
          <a:solidFill>
            <a:srgbClr val="FFFFFF"/>
          </a:solidFill>
          <a:ln w="9525">
            <a:solidFill>
              <a:srgbClr val="D8E8F4"/>
            </a:solidFill>
            <a:prstDash val="solid"/>
          </a:ln>
        </p:spPr>
      </p:sp>
      <p:sp>
        <p:nvSpPr>
          <p:cNvPr id="17" name="Rectangle 16">
            <a:extLst>
              <a:ext uri="{FF2B5EF4-FFF2-40B4-BE49-F238E27FC236}">
                <a16:creationId xmlns:a16="http://schemas.microsoft.com/office/drawing/2014/main" id="{966D4AD6-81AE-44FE-AA22-7AFF51710BAF}"/>
              </a:ext>
            </a:extLst>
          </p:cNvPr>
          <p:cNvSpPr>
            <a:spLocks noGrp="1"/>
          </p:cNvSpPr>
          <p:nvPr/>
        </p:nvSpPr>
        <p:spPr>
          <a:xfrm>
            <a:off x="3867150" y="3609975"/>
            <a:ext cx="445770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Hyperparameter Tuning</a:t>
            </a:r>
          </a:p>
        </p:txBody>
      </p:sp>
      <p:sp>
        <p:nvSpPr>
          <p:cNvPr id="18" name="Rectangle 17">
            <a:extLst>
              <a:ext uri="{FF2B5EF4-FFF2-40B4-BE49-F238E27FC236}">
                <a16:creationId xmlns:a16="http://schemas.microsoft.com/office/drawing/2014/main" id="{AED793CC-EECC-4D68-AF7D-906111A9F94D}"/>
              </a:ext>
            </a:extLst>
          </p:cNvPr>
          <p:cNvSpPr>
            <a:spLocks noGrp="1"/>
          </p:cNvSpPr>
          <p:nvPr/>
        </p:nvSpPr>
        <p:spPr>
          <a:xfrm>
            <a:off x="6000750" y="39814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19" name="Rectangle: Rounded Corners 18">
            <a:extLst>
              <a:ext uri="{FF2B5EF4-FFF2-40B4-BE49-F238E27FC236}">
                <a16:creationId xmlns:a16="http://schemas.microsoft.com/office/drawing/2014/main" id="{3642D573-4760-4B2E-A5D6-F0BA35E35BFF}"/>
              </a:ext>
            </a:extLst>
          </p:cNvPr>
          <p:cNvSpPr>
            <a:spLocks noGrp="1"/>
          </p:cNvSpPr>
          <p:nvPr/>
        </p:nvSpPr>
        <p:spPr>
          <a:xfrm>
            <a:off x="3714750" y="4210050"/>
            <a:ext cx="4762500" cy="533400"/>
          </a:xfrm>
          <a:prstGeom prst="roundRect">
            <a:avLst>
              <a:gd name="adj" fmla="val 14286"/>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8D365D01-FC09-4404-BC1D-7608927B729C}"/>
              </a:ext>
            </a:extLst>
          </p:cNvPr>
          <p:cNvSpPr>
            <a:spLocks noGrp="1"/>
          </p:cNvSpPr>
          <p:nvPr/>
        </p:nvSpPr>
        <p:spPr>
          <a:xfrm>
            <a:off x="3867150" y="4333875"/>
            <a:ext cx="445770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Evaluation</a:t>
            </a:r>
          </a:p>
        </p:txBody>
      </p:sp>
      <p:sp>
        <p:nvSpPr>
          <p:cNvPr id="21" name="Rectangle 20">
            <a:extLst>
              <a:ext uri="{FF2B5EF4-FFF2-40B4-BE49-F238E27FC236}">
                <a16:creationId xmlns:a16="http://schemas.microsoft.com/office/drawing/2014/main" id="{38FB5930-B96F-48C2-BC06-C50C28595172}"/>
              </a:ext>
            </a:extLst>
          </p:cNvPr>
          <p:cNvSpPr>
            <a:spLocks noGrp="1"/>
          </p:cNvSpPr>
          <p:nvPr/>
        </p:nvSpPr>
        <p:spPr>
          <a:xfrm>
            <a:off x="6000750" y="4705350"/>
            <a:ext cx="190500" cy="171450"/>
          </a:xfrm>
          <a:prstGeom prst="rect">
            <a:avLst/>
          </a:prstGeom>
          <a:solidFill>
            <a:srgbClr val="000000">
              <a:alpha val="0"/>
            </a:srgbClr>
          </a:solidFill>
          <a:ln w="0">
            <a:solidFill>
              <a:srgbClr val="000000">
                <a:alpha val="0"/>
              </a:srgbClr>
            </a:solidFill>
            <a:prstDash val="solid"/>
          </a:ln>
        </p:spPr>
        <p:txBody>
          <a:bodyPr/>
          <a:lstStyle/>
          <a:p>
            <a:pPr algn="ctr">
              <a:defRPr sz="1500" b="1">
                <a:solidFill>
                  <a:srgbClr val="2CB7D5"/>
                </a:solidFill>
                <a:latin typeface="Aptos"/>
                <a:ea typeface="Aptos"/>
                <a:cs typeface="Aptos"/>
              </a:defRPr>
            </a:pPr>
            <a:r>
              <a:rPr sz="1500" b="1">
                <a:solidFill>
                  <a:srgbClr val="2CB7D5"/>
                </a:solidFill>
                <a:latin typeface="Aptos"/>
                <a:ea typeface="Aptos"/>
                <a:cs typeface="Aptos"/>
              </a:rPr>
              <a:t>v</a:t>
            </a:r>
          </a:p>
        </p:txBody>
      </p:sp>
      <p:sp>
        <p:nvSpPr>
          <p:cNvPr id="22" name="Rectangle: Rounded Corners 21">
            <a:extLst>
              <a:ext uri="{FF2B5EF4-FFF2-40B4-BE49-F238E27FC236}">
                <a16:creationId xmlns:a16="http://schemas.microsoft.com/office/drawing/2014/main" id="{8A528876-2BDC-41DF-9975-BCC2C156F749}"/>
              </a:ext>
            </a:extLst>
          </p:cNvPr>
          <p:cNvSpPr>
            <a:spLocks noGrp="1"/>
          </p:cNvSpPr>
          <p:nvPr/>
        </p:nvSpPr>
        <p:spPr>
          <a:xfrm>
            <a:off x="3714750" y="4933950"/>
            <a:ext cx="4762500" cy="533400"/>
          </a:xfrm>
          <a:prstGeom prst="roundRect">
            <a:avLst>
              <a:gd name="adj" fmla="val 14286"/>
            </a:avLst>
          </a:prstGeom>
          <a:solidFill>
            <a:srgbClr val="FFFFFF"/>
          </a:solidFill>
          <a:ln w="9525">
            <a:solidFill>
              <a:srgbClr val="D8E8F4"/>
            </a:solidFill>
            <a:prstDash val="solid"/>
          </a:ln>
        </p:spPr>
      </p:sp>
      <p:sp>
        <p:nvSpPr>
          <p:cNvPr id="23" name="Rectangle 22">
            <a:extLst>
              <a:ext uri="{FF2B5EF4-FFF2-40B4-BE49-F238E27FC236}">
                <a16:creationId xmlns:a16="http://schemas.microsoft.com/office/drawing/2014/main" id="{95CAC07D-9083-40D5-9A83-28345B94D318}"/>
              </a:ext>
            </a:extLst>
          </p:cNvPr>
          <p:cNvSpPr>
            <a:spLocks noGrp="1"/>
          </p:cNvSpPr>
          <p:nvPr/>
        </p:nvSpPr>
        <p:spPr>
          <a:xfrm>
            <a:off x="3867150" y="5057775"/>
            <a:ext cx="4457700" cy="247650"/>
          </a:xfrm>
          <a:prstGeom prst="rect">
            <a:avLst/>
          </a:prstGeom>
          <a:solidFill>
            <a:srgbClr val="000000">
              <a:alpha val="0"/>
            </a:srgbClr>
          </a:solidFill>
          <a:ln w="0">
            <a:solidFill>
              <a:srgbClr val="000000">
                <a:alpha val="0"/>
              </a:srgbClr>
            </a:solidFill>
            <a:prstDash val="solid"/>
          </a:ln>
        </p:spPr>
        <p:txBody>
          <a:bodyPr/>
          <a:lstStyle/>
          <a:p>
            <a:pPr algn="ctr">
              <a:defRPr sz="1350" b="1">
                <a:solidFill>
                  <a:srgbClr val="0B2559"/>
                </a:solidFill>
                <a:latin typeface="Aptos"/>
                <a:ea typeface="Aptos"/>
                <a:cs typeface="Aptos"/>
              </a:defRPr>
            </a:pPr>
            <a:r>
              <a:rPr sz="1350" b="1">
                <a:solidFill>
                  <a:srgbClr val="0B2559"/>
                </a:solidFill>
                <a:latin typeface="Aptos"/>
                <a:ea typeface="Aptos"/>
                <a:cs typeface="Aptos"/>
              </a:rPr>
              <a:t>Final Model</a:t>
            </a:r>
          </a:p>
        </p:txBody>
      </p:sp>
      <p:pic>
        <p:nvPicPr>
          <p:cNvPr id="51" name="Graphic 50"/>
          <p:cNvPicPr>
            <a:picLocks noChangeAspect="1"/>
          </p:cNvPicPr>
          <p:nvPr/>
        </p:nvPicPr>
        <p:blipFill>
          <a:blip>
            <a:extLst>
              <a:ext uri="{96DAC541-7B7A-43D3-8B79-37D633B846F1}">
                <asvg:svgBlip xmlns:asvg="http://schemas.microsoft.com/office/drawing/2016/SVG/main" r:embed="rId3"/>
              </a:ext>
            </a:extLst>
          </a:blip>
          <a:stretch/>
        </p:blipFill>
        <p:spPr>
          <a:xfrm>
            <a:off x="1952625" y="2000250"/>
            <a:ext cx="552450" cy="552450"/>
          </a:xfrm>
          <a:prstGeom prst="rect">
            <a:avLst/>
          </a:prstGeom>
        </p:spPr>
      </p:pic>
      <p:pic>
        <p:nvPicPr>
          <p:cNvPr id="52" name="Graphic 51"/>
          <p:cNvPicPr>
            <a:picLocks noChangeAspect="1"/>
          </p:cNvPicPr>
          <p:nvPr/>
        </p:nvPicPr>
        <p:blipFill>
          <a:blip>
            <a:extLst>
              <a:ext uri="{96DAC541-7B7A-43D3-8B79-37D633B846F1}">
                <asvg:svgBlip xmlns:asvg="http://schemas.microsoft.com/office/drawing/2016/SVG/main" r:embed="rId4"/>
              </a:ext>
            </a:extLst>
          </a:blip>
          <a:stretch/>
        </p:blipFill>
        <p:spPr>
          <a:xfrm>
            <a:off x="9525000" y="3143250"/>
            <a:ext cx="552450" cy="552450"/>
          </a:xfrm>
          <a:prstGeom prst="rect">
            <a:avLst/>
          </a:prstGeom>
        </p:spPr>
      </p:pic>
      <p:sp>
        <p:nvSpPr>
          <p:cNvPr id="26" name="Rectangle 25">
            <a:extLst>
              <a:ext uri="{FF2B5EF4-FFF2-40B4-BE49-F238E27FC236}">
                <a16:creationId xmlns:a16="http://schemas.microsoft.com/office/drawing/2014/main" id="{CEA886DC-7B91-40B3-BB5E-7AB7E1B1944C}"/>
              </a:ext>
            </a:extLst>
          </p:cNvPr>
          <p:cNvSpPr>
            <a:spLocks noGrp="1"/>
          </p:cNvSpPr>
          <p:nvPr/>
        </p:nvSpPr>
        <p:spPr>
          <a:xfrm>
            <a:off x="1428750" y="2686050"/>
            <a:ext cx="1619250" cy="247650"/>
          </a:xfrm>
          <a:prstGeom prst="rect">
            <a:avLst/>
          </a:prstGeom>
          <a:solidFill>
            <a:srgbClr val="000000">
              <a:alpha val="0"/>
            </a:srgbClr>
          </a:solidFill>
          <a:ln w="0">
            <a:solidFill>
              <a:srgbClr val="000000">
                <a:alpha val="0"/>
              </a:srgbClr>
            </a:solidFill>
            <a:prstDash val="solid"/>
          </a:ln>
        </p:spPr>
        <p:txBody>
          <a:bodyPr/>
          <a:lstStyle/>
          <a:p>
            <a:pPr algn="ctr">
              <a:defRPr sz="1575" b="1">
                <a:solidFill>
                  <a:srgbClr val="0B2559"/>
                </a:solidFill>
                <a:latin typeface="Aptos"/>
                <a:ea typeface="Aptos"/>
                <a:cs typeface="Aptos"/>
              </a:defRPr>
            </a:pPr>
            <a:r>
              <a:rPr sz="1575" b="1">
                <a:solidFill>
                  <a:srgbClr val="0B2559"/>
                </a:solidFill>
                <a:latin typeface="Aptos"/>
                <a:ea typeface="Aptos"/>
                <a:cs typeface="Aptos"/>
              </a:rPr>
              <a:t>Training data</a:t>
            </a:r>
          </a:p>
        </p:txBody>
      </p:sp>
      <p:sp>
        <p:nvSpPr>
          <p:cNvPr id="27" name="Rectangle 26">
            <a:extLst>
              <a:ext uri="{FF2B5EF4-FFF2-40B4-BE49-F238E27FC236}">
                <a16:creationId xmlns:a16="http://schemas.microsoft.com/office/drawing/2014/main" id="{5284A9C9-D040-4556-B58B-3ED636847C19}"/>
              </a:ext>
            </a:extLst>
          </p:cNvPr>
          <p:cNvSpPr>
            <a:spLocks noGrp="1"/>
          </p:cNvSpPr>
          <p:nvPr/>
        </p:nvSpPr>
        <p:spPr>
          <a:xfrm>
            <a:off x="9029700" y="3829050"/>
            <a:ext cx="1619250" cy="247650"/>
          </a:xfrm>
          <a:prstGeom prst="rect">
            <a:avLst/>
          </a:prstGeom>
          <a:solidFill>
            <a:srgbClr val="000000">
              <a:alpha val="0"/>
            </a:srgbClr>
          </a:solidFill>
          <a:ln w="0">
            <a:solidFill>
              <a:srgbClr val="000000">
                <a:alpha val="0"/>
              </a:srgbClr>
            </a:solidFill>
            <a:prstDash val="solid"/>
          </a:ln>
        </p:spPr>
        <p:txBody>
          <a:bodyPr/>
          <a:lstStyle/>
          <a:p>
            <a:pPr algn="ctr">
              <a:defRPr sz="1575" b="1">
                <a:solidFill>
                  <a:srgbClr val="0B2559"/>
                </a:solidFill>
                <a:latin typeface="Aptos"/>
                <a:ea typeface="Aptos"/>
                <a:cs typeface="Aptos"/>
              </a:defRPr>
            </a:pPr>
            <a:r>
              <a:rPr sz="1575" b="1">
                <a:solidFill>
                  <a:srgbClr val="0B2559"/>
                </a:solidFill>
                <a:latin typeface="Aptos"/>
                <a:ea typeface="Aptos"/>
                <a:cs typeface="Aptos"/>
              </a:rPr>
              <a:t>Tuned model</a:t>
            </a:r>
          </a:p>
        </p:txBody>
      </p:sp>
    </p:spTree>
    <p:extLst>
      <p:ext uri="{BB962C8B-B14F-4D97-AF65-F5344CB8AC3E}">
        <p14:creationId xmlns:p14="http://schemas.microsoft.com/office/powerpoint/2010/main" val="1502940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8ECE040-F3A5-4CBD-9BA4-FEBD21E7E2A7}"/>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3533946E-1AA7-4AB5-B894-13F4556455C8}"/>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7E82187B-5760-49A6-9FD3-A476F408C197}"/>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12</a:t>
            </a:r>
          </a:p>
        </p:txBody>
      </p:sp>
      <p:sp>
        <p:nvSpPr>
          <p:cNvPr id="5" name="Rectangle 4">
            <a:extLst>
              <a:ext uri="{FF2B5EF4-FFF2-40B4-BE49-F238E27FC236}">
                <a16:creationId xmlns:a16="http://schemas.microsoft.com/office/drawing/2014/main" id="{8B42791A-7E56-41A3-982B-E15B0969DDF4}"/>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Evaluation Metrics</a:t>
            </a:r>
          </a:p>
        </p:txBody>
      </p:sp>
      <p:sp>
        <p:nvSpPr>
          <p:cNvPr id="6" name="Straight Connector 5">
            <a:extLst>
              <a:ext uri="{FF2B5EF4-FFF2-40B4-BE49-F238E27FC236}">
                <a16:creationId xmlns:a16="http://schemas.microsoft.com/office/drawing/2014/main" id="{58D69992-91EA-4359-82F6-547BE634031B}"/>
              </a:ext>
            </a:extLst>
          </p:cNvPr>
          <p:cNvSpPr>
            <a:spLocks noGrp="1"/>
          </p:cNvSpPr>
          <p:nvPr/>
        </p:nvSpPr>
        <p:spPr>
          <a:xfrm>
            <a:off x="552449" y="990601"/>
            <a:ext cx="3047999" cy="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BF2EAE32-2628-455C-8BC0-BBAA4229C022}"/>
              </a:ext>
            </a:extLst>
          </p:cNvPr>
          <p:cNvSpPr>
            <a:spLocks noGrp="1"/>
          </p:cNvSpPr>
          <p:nvPr/>
        </p:nvSpPr>
        <p:spPr>
          <a:xfrm>
            <a:off x="666750" y="1238250"/>
            <a:ext cx="3048000" cy="819150"/>
          </a:xfrm>
          <a:prstGeom prst="roundRect">
            <a:avLst>
              <a:gd name="adj" fmla="val 9302"/>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C21385F2-46ED-4166-BFEE-6B863CBC56C0}"/>
              </a:ext>
            </a:extLst>
          </p:cNvPr>
          <p:cNvSpPr>
            <a:spLocks noGrp="1"/>
          </p:cNvSpPr>
          <p:nvPr/>
        </p:nvSpPr>
        <p:spPr>
          <a:xfrm>
            <a:off x="666750" y="1238250"/>
            <a:ext cx="66675" cy="819150"/>
          </a:xfrm>
          <a:prstGeom prst="rect">
            <a:avLst/>
          </a:prstGeom>
          <a:solidFill>
            <a:srgbClr val="0B6EFD"/>
          </a:solidFill>
          <a:ln w="0">
            <a:solidFill>
              <a:srgbClr val="000000">
                <a:alpha val="0"/>
              </a:srgbClr>
            </a:solidFill>
            <a:prstDash val="solid"/>
          </a:ln>
        </p:spPr>
      </p:sp>
      <p:sp>
        <p:nvSpPr>
          <p:cNvPr id="9" name="Rectangle 8">
            <a:extLst>
              <a:ext uri="{FF2B5EF4-FFF2-40B4-BE49-F238E27FC236}">
                <a16:creationId xmlns:a16="http://schemas.microsoft.com/office/drawing/2014/main" id="{E43B0A3F-02B5-4F13-820A-2BD91AC4096A}"/>
              </a:ext>
            </a:extLst>
          </p:cNvPr>
          <p:cNvSpPr>
            <a:spLocks noGrp="1"/>
          </p:cNvSpPr>
          <p:nvPr/>
        </p:nvSpPr>
        <p:spPr>
          <a:xfrm>
            <a:off x="876300" y="1409700"/>
            <a:ext cx="2667000" cy="266700"/>
          </a:xfrm>
          <a:prstGeom prst="rect">
            <a:avLst/>
          </a:prstGeom>
          <a:solidFill>
            <a:srgbClr val="000000">
              <a:alpha val="0"/>
            </a:srgbClr>
          </a:solidFill>
          <a:ln w="0">
            <a:solidFill>
              <a:srgbClr val="000000">
                <a:alpha val="0"/>
              </a:srgbClr>
            </a:solidFill>
            <a:prstDash val="solid"/>
          </a:ln>
        </p:spPr>
        <p:txBody>
          <a:bodyPr/>
          <a:lstStyle/>
          <a:p>
            <a:pPr>
              <a:defRPr sz="1650" b="1">
                <a:solidFill>
                  <a:srgbClr val="0B2559"/>
                </a:solidFill>
                <a:latin typeface="Aptos"/>
                <a:ea typeface="Aptos"/>
                <a:cs typeface="Aptos"/>
              </a:defRPr>
            </a:pPr>
            <a:r>
              <a:rPr sz="1650" b="1" dirty="0">
                <a:solidFill>
                  <a:srgbClr val="0B2559"/>
                </a:solidFill>
                <a:latin typeface="Aptos"/>
                <a:ea typeface="Aptos"/>
                <a:cs typeface="Aptos"/>
              </a:rPr>
              <a:t>Accuracy</a:t>
            </a:r>
            <a:r>
              <a:rPr lang="en-US" sz="1650" b="1" dirty="0">
                <a:solidFill>
                  <a:srgbClr val="0B2559"/>
                </a:solidFill>
                <a:latin typeface="Aptos"/>
                <a:ea typeface="Aptos"/>
                <a:cs typeface="Aptos"/>
              </a:rPr>
              <a:t> - </a:t>
            </a:r>
            <a:r>
              <a:rPr lang="en-IN" sz="1650" b="1" dirty="0"/>
              <a:t>91.7%</a:t>
            </a:r>
          </a:p>
          <a:p>
            <a:pPr algn="l">
              <a:defRPr sz="1650" b="1">
                <a:solidFill>
                  <a:srgbClr val="0B2559"/>
                </a:solidFill>
                <a:latin typeface="Aptos"/>
                <a:ea typeface="Aptos"/>
                <a:cs typeface="Aptos"/>
              </a:defRPr>
            </a:pPr>
            <a:endParaRPr sz="1650" b="1" dirty="0">
              <a:solidFill>
                <a:srgbClr val="0B2559"/>
              </a:solidFill>
              <a:latin typeface="Aptos"/>
              <a:ea typeface="Aptos"/>
              <a:cs typeface="Aptos"/>
            </a:endParaRPr>
          </a:p>
        </p:txBody>
      </p:sp>
      <p:sp>
        <p:nvSpPr>
          <p:cNvPr id="10" name="Rectangle 9">
            <a:extLst>
              <a:ext uri="{FF2B5EF4-FFF2-40B4-BE49-F238E27FC236}">
                <a16:creationId xmlns:a16="http://schemas.microsoft.com/office/drawing/2014/main" id="{E6EDF895-5E0F-4973-8E27-D7E7D10BE0F4}"/>
              </a:ext>
            </a:extLst>
          </p:cNvPr>
          <p:cNvSpPr>
            <a:spLocks noGrp="1"/>
          </p:cNvSpPr>
          <p:nvPr/>
        </p:nvSpPr>
        <p:spPr>
          <a:xfrm>
            <a:off x="876300" y="1771650"/>
            <a:ext cx="2667000" cy="1905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Overall correct predictions</a:t>
            </a:r>
          </a:p>
        </p:txBody>
      </p:sp>
      <p:sp>
        <p:nvSpPr>
          <p:cNvPr id="11" name="Rectangle: Rounded Corners 10">
            <a:extLst>
              <a:ext uri="{FF2B5EF4-FFF2-40B4-BE49-F238E27FC236}">
                <a16:creationId xmlns:a16="http://schemas.microsoft.com/office/drawing/2014/main" id="{42105281-01C9-404E-B95F-7DA65E918125}"/>
              </a:ext>
            </a:extLst>
          </p:cNvPr>
          <p:cNvSpPr>
            <a:spLocks noGrp="1"/>
          </p:cNvSpPr>
          <p:nvPr/>
        </p:nvSpPr>
        <p:spPr>
          <a:xfrm>
            <a:off x="4286250" y="1238250"/>
            <a:ext cx="3048000" cy="819150"/>
          </a:xfrm>
          <a:prstGeom prst="roundRect">
            <a:avLst>
              <a:gd name="adj" fmla="val 9302"/>
            </a:avLst>
          </a:prstGeom>
          <a:solidFill>
            <a:srgbClr val="FFFFFF"/>
          </a:solidFill>
          <a:ln w="9525">
            <a:solidFill>
              <a:srgbClr val="D8E8F4"/>
            </a:solidFill>
            <a:prstDash val="solid"/>
          </a:ln>
        </p:spPr>
      </p:sp>
      <p:sp>
        <p:nvSpPr>
          <p:cNvPr id="12" name="Rectangle 11">
            <a:extLst>
              <a:ext uri="{FF2B5EF4-FFF2-40B4-BE49-F238E27FC236}">
                <a16:creationId xmlns:a16="http://schemas.microsoft.com/office/drawing/2014/main" id="{E516252A-F034-45BE-B760-59F3B76A6926}"/>
              </a:ext>
            </a:extLst>
          </p:cNvPr>
          <p:cNvSpPr>
            <a:spLocks noGrp="1"/>
          </p:cNvSpPr>
          <p:nvPr/>
        </p:nvSpPr>
        <p:spPr>
          <a:xfrm>
            <a:off x="4286250" y="1238250"/>
            <a:ext cx="66675" cy="819150"/>
          </a:xfrm>
          <a:prstGeom prst="rect">
            <a:avLst/>
          </a:prstGeom>
          <a:solidFill>
            <a:srgbClr val="10B981"/>
          </a:solidFill>
          <a:ln w="0">
            <a:solidFill>
              <a:srgbClr val="000000">
                <a:alpha val="0"/>
              </a:srgbClr>
            </a:solidFill>
            <a:prstDash val="solid"/>
          </a:ln>
        </p:spPr>
      </p:sp>
      <p:sp>
        <p:nvSpPr>
          <p:cNvPr id="13" name="Rectangle 12">
            <a:extLst>
              <a:ext uri="{FF2B5EF4-FFF2-40B4-BE49-F238E27FC236}">
                <a16:creationId xmlns:a16="http://schemas.microsoft.com/office/drawing/2014/main" id="{2E6708E5-1489-4B04-9C78-02625C87F094}"/>
              </a:ext>
            </a:extLst>
          </p:cNvPr>
          <p:cNvSpPr>
            <a:spLocks noGrp="1"/>
          </p:cNvSpPr>
          <p:nvPr/>
        </p:nvSpPr>
        <p:spPr>
          <a:xfrm>
            <a:off x="4407312" y="1409700"/>
            <a:ext cx="2667000" cy="266700"/>
          </a:xfrm>
          <a:prstGeom prst="rect">
            <a:avLst/>
          </a:prstGeom>
          <a:solidFill>
            <a:srgbClr val="000000">
              <a:alpha val="0"/>
            </a:srgbClr>
          </a:solidFill>
          <a:ln w="0">
            <a:solidFill>
              <a:srgbClr val="000000">
                <a:alpha val="0"/>
              </a:srgbClr>
            </a:solidFill>
            <a:prstDash val="solid"/>
          </a:ln>
        </p:spPr>
        <p:txBody>
          <a:bodyPr/>
          <a:lstStyle/>
          <a:p>
            <a:pPr>
              <a:defRPr sz="1650" b="1">
                <a:solidFill>
                  <a:srgbClr val="0B2559"/>
                </a:solidFill>
                <a:latin typeface="Aptos"/>
                <a:ea typeface="Aptos"/>
                <a:cs typeface="Aptos"/>
              </a:defRPr>
            </a:pPr>
            <a:r>
              <a:rPr sz="1650" b="1" dirty="0">
                <a:solidFill>
                  <a:srgbClr val="0B2559"/>
                </a:solidFill>
                <a:latin typeface="Aptos"/>
                <a:ea typeface="Aptos"/>
                <a:cs typeface="Aptos"/>
              </a:rPr>
              <a:t>Precision</a:t>
            </a:r>
            <a:r>
              <a:rPr lang="en-US" sz="1650" b="1" dirty="0">
                <a:solidFill>
                  <a:srgbClr val="0B2559"/>
                </a:solidFill>
                <a:latin typeface="Aptos"/>
                <a:ea typeface="Aptos"/>
                <a:cs typeface="Aptos"/>
              </a:rPr>
              <a:t> - </a:t>
            </a:r>
            <a:r>
              <a:rPr lang="en-IN" sz="1650" b="1" dirty="0"/>
              <a:t>89.3%</a:t>
            </a:r>
          </a:p>
          <a:p>
            <a:pPr algn="l">
              <a:defRPr sz="1650" b="1">
                <a:solidFill>
                  <a:srgbClr val="0B2559"/>
                </a:solidFill>
                <a:latin typeface="Aptos"/>
                <a:ea typeface="Aptos"/>
                <a:cs typeface="Aptos"/>
              </a:defRPr>
            </a:pPr>
            <a:endParaRPr sz="1650" b="1" dirty="0">
              <a:solidFill>
                <a:srgbClr val="0B2559"/>
              </a:solidFill>
              <a:latin typeface="Aptos"/>
              <a:ea typeface="Aptos"/>
              <a:cs typeface="Aptos"/>
            </a:endParaRPr>
          </a:p>
        </p:txBody>
      </p:sp>
      <p:sp>
        <p:nvSpPr>
          <p:cNvPr id="14" name="Rectangle 13">
            <a:extLst>
              <a:ext uri="{FF2B5EF4-FFF2-40B4-BE49-F238E27FC236}">
                <a16:creationId xmlns:a16="http://schemas.microsoft.com/office/drawing/2014/main" id="{B9219064-CA1C-41CB-8F2C-5DBCA256BC8D}"/>
              </a:ext>
            </a:extLst>
          </p:cNvPr>
          <p:cNvSpPr>
            <a:spLocks noGrp="1"/>
          </p:cNvSpPr>
          <p:nvPr/>
        </p:nvSpPr>
        <p:spPr>
          <a:xfrm>
            <a:off x="4387647" y="1771650"/>
            <a:ext cx="3047999" cy="1905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dirty="0">
                <a:solidFill>
                  <a:srgbClr val="5B6B7A"/>
                </a:solidFill>
                <a:latin typeface="Aptos"/>
                <a:ea typeface="Aptos"/>
                <a:cs typeface="Aptos"/>
              </a:rPr>
              <a:t>Correctness among high-risk predictions</a:t>
            </a:r>
          </a:p>
        </p:txBody>
      </p:sp>
      <p:sp>
        <p:nvSpPr>
          <p:cNvPr id="15" name="Rectangle: Rounded Corners 14">
            <a:extLst>
              <a:ext uri="{FF2B5EF4-FFF2-40B4-BE49-F238E27FC236}">
                <a16:creationId xmlns:a16="http://schemas.microsoft.com/office/drawing/2014/main" id="{EE9E1D9F-393F-4355-86AB-46DA96813505}"/>
              </a:ext>
            </a:extLst>
          </p:cNvPr>
          <p:cNvSpPr>
            <a:spLocks noGrp="1"/>
          </p:cNvSpPr>
          <p:nvPr/>
        </p:nvSpPr>
        <p:spPr>
          <a:xfrm>
            <a:off x="7905750" y="1238250"/>
            <a:ext cx="3048000" cy="819150"/>
          </a:xfrm>
          <a:prstGeom prst="roundRect">
            <a:avLst>
              <a:gd name="adj" fmla="val 9302"/>
            </a:avLst>
          </a:prstGeom>
          <a:solidFill>
            <a:srgbClr val="FFFFFF"/>
          </a:solidFill>
          <a:ln w="9525">
            <a:solidFill>
              <a:srgbClr val="D8E8F4"/>
            </a:solidFill>
            <a:prstDash val="solid"/>
          </a:ln>
        </p:spPr>
      </p:sp>
      <p:sp>
        <p:nvSpPr>
          <p:cNvPr id="16" name="Rectangle 15">
            <a:extLst>
              <a:ext uri="{FF2B5EF4-FFF2-40B4-BE49-F238E27FC236}">
                <a16:creationId xmlns:a16="http://schemas.microsoft.com/office/drawing/2014/main" id="{95767BB8-FD5A-4131-8B9E-E4DEFC9AA2AD}"/>
              </a:ext>
            </a:extLst>
          </p:cNvPr>
          <p:cNvSpPr>
            <a:spLocks noGrp="1"/>
          </p:cNvSpPr>
          <p:nvPr/>
        </p:nvSpPr>
        <p:spPr>
          <a:xfrm>
            <a:off x="7905750" y="1238250"/>
            <a:ext cx="66675" cy="819150"/>
          </a:xfrm>
          <a:prstGeom prst="rect">
            <a:avLst/>
          </a:prstGeom>
          <a:solidFill>
            <a:srgbClr val="EF4444"/>
          </a:solidFill>
          <a:ln w="0">
            <a:solidFill>
              <a:srgbClr val="000000">
                <a:alpha val="0"/>
              </a:srgbClr>
            </a:solidFill>
            <a:prstDash val="solid"/>
          </a:ln>
        </p:spPr>
      </p:sp>
      <p:sp>
        <p:nvSpPr>
          <p:cNvPr id="17" name="Rectangle 16">
            <a:extLst>
              <a:ext uri="{FF2B5EF4-FFF2-40B4-BE49-F238E27FC236}">
                <a16:creationId xmlns:a16="http://schemas.microsoft.com/office/drawing/2014/main" id="{B3AAE59C-654C-4B5B-90C9-73CE19EC13EE}"/>
              </a:ext>
            </a:extLst>
          </p:cNvPr>
          <p:cNvSpPr>
            <a:spLocks noGrp="1"/>
          </p:cNvSpPr>
          <p:nvPr/>
        </p:nvSpPr>
        <p:spPr>
          <a:xfrm>
            <a:off x="8115300" y="1409700"/>
            <a:ext cx="2667000" cy="266700"/>
          </a:xfrm>
          <a:prstGeom prst="rect">
            <a:avLst/>
          </a:prstGeom>
          <a:solidFill>
            <a:srgbClr val="000000">
              <a:alpha val="0"/>
            </a:srgbClr>
          </a:solidFill>
          <a:ln w="0">
            <a:solidFill>
              <a:srgbClr val="000000">
                <a:alpha val="0"/>
              </a:srgbClr>
            </a:solidFill>
            <a:prstDash val="solid"/>
          </a:ln>
        </p:spPr>
        <p:txBody>
          <a:bodyPr/>
          <a:lstStyle/>
          <a:p>
            <a:pPr>
              <a:defRPr sz="1650" b="1">
                <a:solidFill>
                  <a:srgbClr val="0B2559"/>
                </a:solidFill>
                <a:latin typeface="Aptos"/>
                <a:ea typeface="Aptos"/>
                <a:cs typeface="Aptos"/>
              </a:defRPr>
            </a:pPr>
            <a:r>
              <a:rPr sz="1650" b="1" dirty="0">
                <a:solidFill>
                  <a:srgbClr val="0B2559"/>
                </a:solidFill>
                <a:latin typeface="Aptos"/>
                <a:ea typeface="Aptos"/>
                <a:cs typeface="Aptos"/>
              </a:rPr>
              <a:t>Recall</a:t>
            </a:r>
            <a:r>
              <a:rPr lang="en-US" sz="1650" b="1" dirty="0">
                <a:solidFill>
                  <a:srgbClr val="0B2559"/>
                </a:solidFill>
                <a:latin typeface="Aptos"/>
                <a:ea typeface="Aptos"/>
                <a:cs typeface="Aptos"/>
              </a:rPr>
              <a:t> - </a:t>
            </a:r>
            <a:r>
              <a:rPr lang="en-IN" sz="1650" b="1" dirty="0"/>
              <a:t>88.1%</a:t>
            </a:r>
          </a:p>
          <a:p>
            <a:pPr algn="l">
              <a:defRPr sz="1650" b="1">
                <a:solidFill>
                  <a:srgbClr val="0B2559"/>
                </a:solidFill>
                <a:latin typeface="Aptos"/>
                <a:ea typeface="Aptos"/>
                <a:cs typeface="Aptos"/>
              </a:defRPr>
            </a:pPr>
            <a:endParaRPr sz="1650" b="1" dirty="0">
              <a:solidFill>
                <a:srgbClr val="0B2559"/>
              </a:solidFill>
              <a:latin typeface="Aptos"/>
              <a:ea typeface="Aptos"/>
              <a:cs typeface="Aptos"/>
            </a:endParaRPr>
          </a:p>
        </p:txBody>
      </p:sp>
      <p:sp>
        <p:nvSpPr>
          <p:cNvPr id="18" name="Rectangle 17">
            <a:extLst>
              <a:ext uri="{FF2B5EF4-FFF2-40B4-BE49-F238E27FC236}">
                <a16:creationId xmlns:a16="http://schemas.microsoft.com/office/drawing/2014/main" id="{387ADBA1-F18D-48EA-87BA-1A8D54DCDEB8}"/>
              </a:ext>
            </a:extLst>
          </p:cNvPr>
          <p:cNvSpPr>
            <a:spLocks noGrp="1"/>
          </p:cNvSpPr>
          <p:nvPr/>
        </p:nvSpPr>
        <p:spPr>
          <a:xfrm>
            <a:off x="8115300" y="1771650"/>
            <a:ext cx="2838450" cy="1905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Ability to detect actual readmissions</a:t>
            </a:r>
          </a:p>
        </p:txBody>
      </p:sp>
      <p:sp>
        <p:nvSpPr>
          <p:cNvPr id="19" name="Rectangle: Rounded Corners 18">
            <a:extLst>
              <a:ext uri="{FF2B5EF4-FFF2-40B4-BE49-F238E27FC236}">
                <a16:creationId xmlns:a16="http://schemas.microsoft.com/office/drawing/2014/main" id="{DE1AA86D-53E2-4AC6-B8B7-5E1EC8617BBD}"/>
              </a:ext>
            </a:extLst>
          </p:cNvPr>
          <p:cNvSpPr>
            <a:spLocks noGrp="1"/>
          </p:cNvSpPr>
          <p:nvPr/>
        </p:nvSpPr>
        <p:spPr>
          <a:xfrm>
            <a:off x="666750" y="4857750"/>
            <a:ext cx="3048000" cy="819150"/>
          </a:xfrm>
          <a:prstGeom prst="roundRect">
            <a:avLst>
              <a:gd name="adj" fmla="val 9302"/>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3CDE7BA9-0670-4E40-A679-7CE8D0A68072}"/>
              </a:ext>
            </a:extLst>
          </p:cNvPr>
          <p:cNvSpPr>
            <a:spLocks noGrp="1"/>
          </p:cNvSpPr>
          <p:nvPr/>
        </p:nvSpPr>
        <p:spPr>
          <a:xfrm>
            <a:off x="666750" y="4857750"/>
            <a:ext cx="66675" cy="819150"/>
          </a:xfrm>
          <a:prstGeom prst="rect">
            <a:avLst/>
          </a:prstGeom>
          <a:solidFill>
            <a:srgbClr val="F59E0B"/>
          </a:solidFill>
          <a:ln w="0">
            <a:solidFill>
              <a:srgbClr val="000000">
                <a:alpha val="0"/>
              </a:srgbClr>
            </a:solidFill>
            <a:prstDash val="solid"/>
          </a:ln>
        </p:spPr>
      </p:sp>
      <p:sp>
        <p:nvSpPr>
          <p:cNvPr id="21" name="Rectangle 20">
            <a:extLst>
              <a:ext uri="{FF2B5EF4-FFF2-40B4-BE49-F238E27FC236}">
                <a16:creationId xmlns:a16="http://schemas.microsoft.com/office/drawing/2014/main" id="{DAAAD944-F720-431B-BF14-295790B11DA5}"/>
              </a:ext>
            </a:extLst>
          </p:cNvPr>
          <p:cNvSpPr>
            <a:spLocks noGrp="1"/>
          </p:cNvSpPr>
          <p:nvPr/>
        </p:nvSpPr>
        <p:spPr>
          <a:xfrm>
            <a:off x="876300" y="5029200"/>
            <a:ext cx="2667000" cy="266700"/>
          </a:xfrm>
          <a:prstGeom prst="rect">
            <a:avLst/>
          </a:prstGeom>
          <a:solidFill>
            <a:srgbClr val="000000">
              <a:alpha val="0"/>
            </a:srgbClr>
          </a:solidFill>
          <a:ln w="0">
            <a:solidFill>
              <a:srgbClr val="000000">
                <a:alpha val="0"/>
              </a:srgbClr>
            </a:solidFill>
            <a:prstDash val="solid"/>
          </a:ln>
        </p:spPr>
        <p:txBody>
          <a:bodyPr/>
          <a:lstStyle/>
          <a:p>
            <a:pPr>
              <a:defRPr sz="1650" b="1">
                <a:solidFill>
                  <a:srgbClr val="0B2559"/>
                </a:solidFill>
                <a:latin typeface="Aptos"/>
                <a:ea typeface="Aptos"/>
                <a:cs typeface="Aptos"/>
              </a:defRPr>
            </a:pPr>
            <a:r>
              <a:rPr sz="1650" b="1" dirty="0">
                <a:solidFill>
                  <a:srgbClr val="0B2559"/>
                </a:solidFill>
                <a:latin typeface="Aptos"/>
                <a:ea typeface="Aptos"/>
                <a:cs typeface="Aptos"/>
              </a:rPr>
              <a:t>F1 Score</a:t>
            </a:r>
            <a:r>
              <a:rPr lang="en-US" sz="1650" b="1" dirty="0">
                <a:solidFill>
                  <a:srgbClr val="0B2559"/>
                </a:solidFill>
                <a:latin typeface="Aptos"/>
                <a:ea typeface="Aptos"/>
                <a:cs typeface="Aptos"/>
              </a:rPr>
              <a:t> - </a:t>
            </a:r>
            <a:r>
              <a:rPr lang="en-IN" sz="1650" b="1" dirty="0"/>
              <a:t>88.7%</a:t>
            </a:r>
          </a:p>
          <a:p>
            <a:pPr algn="l">
              <a:defRPr sz="1650" b="1">
                <a:solidFill>
                  <a:srgbClr val="0B2559"/>
                </a:solidFill>
                <a:latin typeface="Aptos"/>
                <a:ea typeface="Aptos"/>
                <a:cs typeface="Aptos"/>
              </a:defRPr>
            </a:pPr>
            <a:endParaRPr sz="1650" b="1" dirty="0">
              <a:solidFill>
                <a:srgbClr val="0B2559"/>
              </a:solidFill>
              <a:latin typeface="Aptos"/>
              <a:ea typeface="Aptos"/>
              <a:cs typeface="Aptos"/>
            </a:endParaRPr>
          </a:p>
        </p:txBody>
      </p:sp>
      <p:sp>
        <p:nvSpPr>
          <p:cNvPr id="22" name="Rectangle 21">
            <a:extLst>
              <a:ext uri="{FF2B5EF4-FFF2-40B4-BE49-F238E27FC236}">
                <a16:creationId xmlns:a16="http://schemas.microsoft.com/office/drawing/2014/main" id="{8B69BEB3-1357-4883-88B5-0B6839AAE81D}"/>
              </a:ext>
            </a:extLst>
          </p:cNvPr>
          <p:cNvSpPr>
            <a:spLocks noGrp="1"/>
          </p:cNvSpPr>
          <p:nvPr/>
        </p:nvSpPr>
        <p:spPr>
          <a:xfrm>
            <a:off x="876300" y="5391150"/>
            <a:ext cx="2667000" cy="1905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Balance of precision and recall</a:t>
            </a:r>
          </a:p>
        </p:txBody>
      </p:sp>
      <p:sp>
        <p:nvSpPr>
          <p:cNvPr id="23" name="Rectangle: Rounded Corners 22">
            <a:extLst>
              <a:ext uri="{FF2B5EF4-FFF2-40B4-BE49-F238E27FC236}">
                <a16:creationId xmlns:a16="http://schemas.microsoft.com/office/drawing/2014/main" id="{F49A6681-3FF9-4107-9237-AAEA8E6020A8}"/>
              </a:ext>
            </a:extLst>
          </p:cNvPr>
          <p:cNvSpPr>
            <a:spLocks noGrp="1"/>
          </p:cNvSpPr>
          <p:nvPr/>
        </p:nvSpPr>
        <p:spPr>
          <a:xfrm>
            <a:off x="4286250" y="4857750"/>
            <a:ext cx="3048000" cy="819150"/>
          </a:xfrm>
          <a:prstGeom prst="roundRect">
            <a:avLst>
              <a:gd name="adj" fmla="val 9302"/>
            </a:avLst>
          </a:prstGeom>
          <a:solidFill>
            <a:srgbClr val="FFFFFF"/>
          </a:solidFill>
          <a:ln w="9525">
            <a:solidFill>
              <a:srgbClr val="D8E8F4"/>
            </a:solidFill>
            <a:prstDash val="solid"/>
          </a:ln>
        </p:spPr>
      </p:sp>
      <p:sp>
        <p:nvSpPr>
          <p:cNvPr id="24" name="Rectangle 23">
            <a:extLst>
              <a:ext uri="{FF2B5EF4-FFF2-40B4-BE49-F238E27FC236}">
                <a16:creationId xmlns:a16="http://schemas.microsoft.com/office/drawing/2014/main" id="{DF6E9EEE-0CB7-42B5-A040-E7671EF70698}"/>
              </a:ext>
            </a:extLst>
          </p:cNvPr>
          <p:cNvSpPr>
            <a:spLocks noGrp="1"/>
          </p:cNvSpPr>
          <p:nvPr/>
        </p:nvSpPr>
        <p:spPr>
          <a:xfrm>
            <a:off x="4286250" y="4857750"/>
            <a:ext cx="66675" cy="819150"/>
          </a:xfrm>
          <a:prstGeom prst="rect">
            <a:avLst/>
          </a:prstGeom>
          <a:solidFill>
            <a:srgbClr val="0B2559"/>
          </a:solidFill>
          <a:ln w="0">
            <a:solidFill>
              <a:srgbClr val="000000">
                <a:alpha val="0"/>
              </a:srgbClr>
            </a:solidFill>
            <a:prstDash val="solid"/>
          </a:ln>
        </p:spPr>
      </p:sp>
      <p:sp>
        <p:nvSpPr>
          <p:cNvPr id="25" name="Rectangle 24">
            <a:extLst>
              <a:ext uri="{FF2B5EF4-FFF2-40B4-BE49-F238E27FC236}">
                <a16:creationId xmlns:a16="http://schemas.microsoft.com/office/drawing/2014/main" id="{CF15D04B-EDCC-498F-84A8-0563810F1F24}"/>
              </a:ext>
            </a:extLst>
          </p:cNvPr>
          <p:cNvSpPr>
            <a:spLocks noGrp="1"/>
          </p:cNvSpPr>
          <p:nvPr/>
        </p:nvSpPr>
        <p:spPr>
          <a:xfrm>
            <a:off x="4495800" y="5029200"/>
            <a:ext cx="2667000" cy="266700"/>
          </a:xfrm>
          <a:prstGeom prst="rect">
            <a:avLst/>
          </a:prstGeom>
          <a:solidFill>
            <a:srgbClr val="000000">
              <a:alpha val="0"/>
            </a:srgbClr>
          </a:solidFill>
          <a:ln w="0">
            <a:solidFill>
              <a:srgbClr val="000000">
                <a:alpha val="0"/>
              </a:srgbClr>
            </a:solidFill>
            <a:prstDash val="solid"/>
          </a:ln>
        </p:spPr>
        <p:txBody>
          <a:bodyPr/>
          <a:lstStyle/>
          <a:p>
            <a:pPr>
              <a:defRPr sz="1650" b="1">
                <a:solidFill>
                  <a:srgbClr val="0B2559"/>
                </a:solidFill>
                <a:latin typeface="Aptos"/>
                <a:ea typeface="Aptos"/>
                <a:cs typeface="Aptos"/>
              </a:defRPr>
            </a:pPr>
            <a:r>
              <a:rPr sz="1650" b="1" dirty="0">
                <a:solidFill>
                  <a:srgbClr val="0B2559"/>
                </a:solidFill>
                <a:latin typeface="Aptos"/>
                <a:ea typeface="Aptos"/>
                <a:cs typeface="Aptos"/>
              </a:rPr>
              <a:t>ROC-AUC</a:t>
            </a:r>
            <a:r>
              <a:rPr lang="en-US" sz="1650" b="1" dirty="0">
                <a:solidFill>
                  <a:srgbClr val="0B2559"/>
                </a:solidFill>
                <a:latin typeface="Aptos"/>
                <a:ea typeface="Aptos"/>
                <a:cs typeface="Aptos"/>
              </a:rPr>
              <a:t> - </a:t>
            </a:r>
            <a:r>
              <a:rPr lang="en-IN" sz="1650" b="1" dirty="0"/>
              <a:t>0.946</a:t>
            </a:r>
          </a:p>
          <a:p>
            <a:pPr algn="l">
              <a:defRPr sz="1650" b="1">
                <a:solidFill>
                  <a:srgbClr val="0B2559"/>
                </a:solidFill>
                <a:latin typeface="Aptos"/>
                <a:ea typeface="Aptos"/>
                <a:cs typeface="Aptos"/>
              </a:defRPr>
            </a:pPr>
            <a:endParaRPr sz="1650" b="1" dirty="0">
              <a:solidFill>
                <a:srgbClr val="0B2559"/>
              </a:solidFill>
              <a:latin typeface="Aptos"/>
              <a:ea typeface="Aptos"/>
              <a:cs typeface="Aptos"/>
            </a:endParaRPr>
          </a:p>
        </p:txBody>
      </p:sp>
      <p:sp>
        <p:nvSpPr>
          <p:cNvPr id="26" name="Rectangle 25">
            <a:extLst>
              <a:ext uri="{FF2B5EF4-FFF2-40B4-BE49-F238E27FC236}">
                <a16:creationId xmlns:a16="http://schemas.microsoft.com/office/drawing/2014/main" id="{6E52D325-249B-46BC-ADAF-E3EE371BC3B4}"/>
              </a:ext>
            </a:extLst>
          </p:cNvPr>
          <p:cNvSpPr>
            <a:spLocks noGrp="1"/>
          </p:cNvSpPr>
          <p:nvPr/>
        </p:nvSpPr>
        <p:spPr>
          <a:xfrm>
            <a:off x="4495800" y="5391150"/>
            <a:ext cx="2667000" cy="1905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Class separation ability</a:t>
            </a:r>
          </a:p>
        </p:txBody>
      </p:sp>
      <p:graphicFrame>
        <p:nvGraphicFramePr>
          <p:cNvPr id="54" name="Chart"/>
          <p:cNvGraphicFramePr/>
          <p:nvPr/>
        </p:nvGraphicFramePr>
        <p:xfrm>
          <a:off x="2238375" y="2571750"/>
          <a:ext cx="7620000" cy="2095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88186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FB4855D-B678-4CA8-AABC-E7E08CE68E38}"/>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75304BF3-C174-487C-AACD-F1A3FD1EFD4C}"/>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5D3CB13E-73A6-4ABC-8100-9581B6119987}"/>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13</a:t>
            </a:r>
          </a:p>
        </p:txBody>
      </p:sp>
      <p:sp>
        <p:nvSpPr>
          <p:cNvPr id="5" name="Rectangle 4">
            <a:extLst>
              <a:ext uri="{FF2B5EF4-FFF2-40B4-BE49-F238E27FC236}">
                <a16:creationId xmlns:a16="http://schemas.microsoft.com/office/drawing/2014/main" id="{BA04CF57-DA9C-4E45-8A60-5E97482CFCB9}"/>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Feature Importance Analysis</a:t>
            </a:r>
          </a:p>
        </p:txBody>
      </p:sp>
      <p:sp>
        <p:nvSpPr>
          <p:cNvPr id="6" name="Straight Connector 5">
            <a:extLst>
              <a:ext uri="{FF2B5EF4-FFF2-40B4-BE49-F238E27FC236}">
                <a16:creationId xmlns:a16="http://schemas.microsoft.com/office/drawing/2014/main" id="{97884079-D29A-4CCE-8ECA-E111B22A4FDB}"/>
              </a:ext>
            </a:extLst>
          </p:cNvPr>
          <p:cNvSpPr>
            <a:spLocks noGrp="1"/>
          </p:cNvSpPr>
          <p:nvPr/>
        </p:nvSpPr>
        <p:spPr>
          <a:xfrm flipV="1">
            <a:off x="552449" y="971551"/>
            <a:ext cx="4363679" cy="19050"/>
          </a:xfrm>
          <a:prstGeom prst="line">
            <a:avLst/>
          </a:prstGeom>
          <a:solidFill>
            <a:srgbClr val="000000">
              <a:alpha val="0"/>
            </a:srgbClr>
          </a:solidFill>
          <a:ln w="28575">
            <a:solidFill>
              <a:srgbClr val="2CB7D5"/>
            </a:solidFill>
            <a:prstDash val="solid"/>
          </a:ln>
        </p:spPr>
      </p:sp>
      <p:sp>
        <p:nvSpPr>
          <p:cNvPr id="8" name="Rectangle: Rounded Corners 7">
            <a:extLst>
              <a:ext uri="{FF2B5EF4-FFF2-40B4-BE49-F238E27FC236}">
                <a16:creationId xmlns:a16="http://schemas.microsoft.com/office/drawing/2014/main" id="{35EAA312-C491-482D-B837-4BA603F0DAB4}"/>
              </a:ext>
            </a:extLst>
          </p:cNvPr>
          <p:cNvSpPr>
            <a:spLocks noGrp="1"/>
          </p:cNvSpPr>
          <p:nvPr/>
        </p:nvSpPr>
        <p:spPr>
          <a:xfrm>
            <a:off x="8979002" y="1762125"/>
            <a:ext cx="2000250" cy="2428875"/>
          </a:xfrm>
          <a:prstGeom prst="roundRect">
            <a:avLst>
              <a:gd name="adj" fmla="val 3810"/>
            </a:avLst>
          </a:prstGeom>
          <a:solidFill>
            <a:srgbClr val="FFFFFF"/>
          </a:solidFill>
          <a:ln w="9525">
            <a:solidFill>
              <a:srgbClr val="D8E8F4"/>
            </a:solidFill>
            <a:prstDash val="solid"/>
          </a:ln>
        </p:spPr>
      </p:sp>
      <p:sp>
        <p:nvSpPr>
          <p:cNvPr id="9" name="Rectangle 8">
            <a:extLst>
              <a:ext uri="{FF2B5EF4-FFF2-40B4-BE49-F238E27FC236}">
                <a16:creationId xmlns:a16="http://schemas.microsoft.com/office/drawing/2014/main" id="{A89E849D-2803-48C9-8964-053BFF62F81A}"/>
              </a:ext>
            </a:extLst>
          </p:cNvPr>
          <p:cNvSpPr>
            <a:spLocks noGrp="1"/>
          </p:cNvSpPr>
          <p:nvPr/>
        </p:nvSpPr>
        <p:spPr>
          <a:xfrm>
            <a:off x="8949507" y="1762125"/>
            <a:ext cx="66675" cy="2428875"/>
          </a:xfrm>
          <a:prstGeom prst="rect">
            <a:avLst/>
          </a:prstGeom>
          <a:solidFill>
            <a:srgbClr val="EF4444"/>
          </a:solidFill>
          <a:ln w="0">
            <a:solidFill>
              <a:srgbClr val="000000">
                <a:alpha val="0"/>
              </a:srgbClr>
            </a:solidFill>
            <a:prstDash val="solid"/>
          </a:ln>
        </p:spPr>
      </p:sp>
      <p:sp>
        <p:nvSpPr>
          <p:cNvPr id="10" name="Rectangle 9">
            <a:extLst>
              <a:ext uri="{FF2B5EF4-FFF2-40B4-BE49-F238E27FC236}">
                <a16:creationId xmlns:a16="http://schemas.microsoft.com/office/drawing/2014/main" id="{EE182935-3729-44A3-808B-767E34FE5883}"/>
              </a:ext>
            </a:extLst>
          </p:cNvPr>
          <p:cNvSpPr>
            <a:spLocks noGrp="1"/>
          </p:cNvSpPr>
          <p:nvPr/>
        </p:nvSpPr>
        <p:spPr>
          <a:xfrm>
            <a:off x="9188552" y="1933575"/>
            <a:ext cx="161925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Clinical insight</a:t>
            </a:r>
          </a:p>
        </p:txBody>
      </p:sp>
      <p:sp>
        <p:nvSpPr>
          <p:cNvPr id="11" name="Rectangle 10">
            <a:extLst>
              <a:ext uri="{FF2B5EF4-FFF2-40B4-BE49-F238E27FC236}">
                <a16:creationId xmlns:a16="http://schemas.microsoft.com/office/drawing/2014/main" id="{AE4677D0-CA2B-4184-B697-C721FF17D313}"/>
              </a:ext>
            </a:extLst>
          </p:cNvPr>
          <p:cNvSpPr>
            <a:spLocks noGrp="1"/>
          </p:cNvSpPr>
          <p:nvPr/>
        </p:nvSpPr>
        <p:spPr>
          <a:xfrm>
            <a:off x="9188552" y="2295525"/>
            <a:ext cx="1619250" cy="1800225"/>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Lower ejection fraction and abnormal metabolic indicators can strongly influence readmission risk.</a:t>
            </a:r>
          </a:p>
        </p:txBody>
      </p:sp>
      <p:pic>
        <p:nvPicPr>
          <p:cNvPr id="13" name="Picture 12">
            <a:extLst>
              <a:ext uri="{FF2B5EF4-FFF2-40B4-BE49-F238E27FC236}">
                <a16:creationId xmlns:a16="http://schemas.microsoft.com/office/drawing/2014/main" id="{89F6E620-6118-8292-9F16-36098C3714F8}"/>
              </a:ext>
            </a:extLst>
          </p:cNvPr>
          <p:cNvPicPr>
            <a:picLocks noChangeAspect="1"/>
          </p:cNvPicPr>
          <p:nvPr/>
        </p:nvPicPr>
        <p:blipFill>
          <a:blip r:embed="rId3"/>
          <a:stretch>
            <a:fillRect/>
          </a:stretch>
        </p:blipFill>
        <p:spPr>
          <a:xfrm>
            <a:off x="552449" y="1310456"/>
            <a:ext cx="8050777" cy="4237087"/>
          </a:xfrm>
          <a:prstGeom prst="rect">
            <a:avLst/>
          </a:prstGeom>
        </p:spPr>
      </p:pic>
    </p:spTree>
    <p:extLst>
      <p:ext uri="{BB962C8B-B14F-4D97-AF65-F5344CB8AC3E}">
        <p14:creationId xmlns:p14="http://schemas.microsoft.com/office/powerpoint/2010/main" val="593969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68BFCB3-6FC1-4CDC-95C7-8E1E39BAAA23}"/>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0ED45783-1C82-407F-B4D1-ABC0BA7BF4CE}"/>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50055FD1-A7FF-4265-B893-7C8601916274}"/>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14</a:t>
            </a:r>
          </a:p>
        </p:txBody>
      </p:sp>
      <p:sp>
        <p:nvSpPr>
          <p:cNvPr id="5" name="Rectangle 4">
            <a:extLst>
              <a:ext uri="{FF2B5EF4-FFF2-40B4-BE49-F238E27FC236}">
                <a16:creationId xmlns:a16="http://schemas.microsoft.com/office/drawing/2014/main" id="{23756753-3B62-4998-91D4-23AFCD582E97}"/>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Database Design</a:t>
            </a:r>
          </a:p>
        </p:txBody>
      </p:sp>
      <p:sp>
        <p:nvSpPr>
          <p:cNvPr id="6" name="Straight Connector 5">
            <a:extLst>
              <a:ext uri="{FF2B5EF4-FFF2-40B4-BE49-F238E27FC236}">
                <a16:creationId xmlns:a16="http://schemas.microsoft.com/office/drawing/2014/main" id="{A6D6283F-6609-4F65-9C37-A6CC31784ECB}"/>
              </a:ext>
            </a:extLst>
          </p:cNvPr>
          <p:cNvSpPr>
            <a:spLocks noGrp="1"/>
          </p:cNvSpPr>
          <p:nvPr/>
        </p:nvSpPr>
        <p:spPr>
          <a:xfrm flipV="1">
            <a:off x="552450" y="971551"/>
            <a:ext cx="2705100" cy="1905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761CB791-F56E-44EC-9E66-D99AAE311251}"/>
              </a:ext>
            </a:extLst>
          </p:cNvPr>
          <p:cNvSpPr>
            <a:spLocks noGrp="1"/>
          </p:cNvSpPr>
          <p:nvPr/>
        </p:nvSpPr>
        <p:spPr>
          <a:xfrm>
            <a:off x="857250" y="1571625"/>
            <a:ext cx="2762250" cy="1619250"/>
          </a:xfrm>
          <a:prstGeom prst="roundRect">
            <a:avLst>
              <a:gd name="adj" fmla="val 4706"/>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04E6FFA6-3411-4AAA-86B8-C534A2D5B54D}"/>
              </a:ext>
            </a:extLst>
          </p:cNvPr>
          <p:cNvSpPr>
            <a:spLocks noGrp="1"/>
          </p:cNvSpPr>
          <p:nvPr/>
        </p:nvSpPr>
        <p:spPr>
          <a:xfrm>
            <a:off x="857250" y="1571625"/>
            <a:ext cx="2762250" cy="419100"/>
          </a:xfrm>
          <a:prstGeom prst="rect">
            <a:avLst/>
          </a:prstGeom>
          <a:solidFill>
            <a:srgbClr val="0B6EFD"/>
          </a:solidFill>
          <a:ln w="0">
            <a:solidFill>
              <a:srgbClr val="000000">
                <a:alpha val="0"/>
              </a:srgbClr>
            </a:solidFill>
            <a:prstDash val="solid"/>
          </a:ln>
        </p:spPr>
      </p:sp>
      <p:sp>
        <p:nvSpPr>
          <p:cNvPr id="9" name="Rectangle 8">
            <a:extLst>
              <a:ext uri="{FF2B5EF4-FFF2-40B4-BE49-F238E27FC236}">
                <a16:creationId xmlns:a16="http://schemas.microsoft.com/office/drawing/2014/main" id="{0ED3C23F-2BAA-46FD-9D6F-3089B64EDB57}"/>
              </a:ext>
            </a:extLst>
          </p:cNvPr>
          <p:cNvSpPr>
            <a:spLocks noGrp="1"/>
          </p:cNvSpPr>
          <p:nvPr/>
        </p:nvSpPr>
        <p:spPr>
          <a:xfrm>
            <a:off x="1009650" y="1666875"/>
            <a:ext cx="2381250" cy="228600"/>
          </a:xfrm>
          <a:prstGeom prst="rect">
            <a:avLst/>
          </a:prstGeom>
          <a:solidFill>
            <a:srgbClr val="000000">
              <a:alpha val="0"/>
            </a:srgbClr>
          </a:solidFill>
          <a:ln w="0">
            <a:solidFill>
              <a:srgbClr val="000000">
                <a:alpha val="0"/>
              </a:srgbClr>
            </a:solidFill>
            <a:prstDash val="solid"/>
          </a:ln>
        </p:spPr>
        <p:txBody>
          <a:bodyPr/>
          <a:lstStyle/>
          <a:p>
            <a:pPr algn="l">
              <a:defRPr sz="1500" b="1">
                <a:solidFill>
                  <a:srgbClr val="FFFFFF"/>
                </a:solidFill>
                <a:latin typeface="Aptos"/>
                <a:ea typeface="Aptos"/>
                <a:cs typeface="Aptos"/>
              </a:defRPr>
            </a:pPr>
            <a:r>
              <a:rPr sz="1500" b="1">
                <a:solidFill>
                  <a:srgbClr val="FFFFFF"/>
                </a:solidFill>
                <a:latin typeface="Aptos"/>
                <a:ea typeface="Aptos"/>
                <a:cs typeface="Aptos"/>
              </a:rPr>
              <a:t>Patient</a:t>
            </a:r>
          </a:p>
        </p:txBody>
      </p:sp>
      <p:sp>
        <p:nvSpPr>
          <p:cNvPr id="10" name="Rectangle 9">
            <a:extLst>
              <a:ext uri="{FF2B5EF4-FFF2-40B4-BE49-F238E27FC236}">
                <a16:creationId xmlns:a16="http://schemas.microsoft.com/office/drawing/2014/main" id="{B182EBBC-FBB9-4123-909D-EC40D33B12B2}"/>
              </a:ext>
            </a:extLst>
          </p:cNvPr>
          <p:cNvSpPr>
            <a:spLocks noGrp="1"/>
          </p:cNvSpPr>
          <p:nvPr/>
        </p:nvSpPr>
        <p:spPr>
          <a:xfrm>
            <a:off x="1066800" y="21431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patient_id</a:t>
            </a:r>
          </a:p>
        </p:txBody>
      </p:sp>
      <p:sp>
        <p:nvSpPr>
          <p:cNvPr id="11" name="Rectangle 10">
            <a:extLst>
              <a:ext uri="{FF2B5EF4-FFF2-40B4-BE49-F238E27FC236}">
                <a16:creationId xmlns:a16="http://schemas.microsoft.com/office/drawing/2014/main" id="{B31488E4-F324-4C75-8908-D5B7127B047F}"/>
              </a:ext>
            </a:extLst>
          </p:cNvPr>
          <p:cNvSpPr>
            <a:spLocks noGrp="1"/>
          </p:cNvSpPr>
          <p:nvPr/>
        </p:nvSpPr>
        <p:spPr>
          <a:xfrm>
            <a:off x="1066800" y="23717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name</a:t>
            </a:r>
          </a:p>
        </p:txBody>
      </p:sp>
      <p:sp>
        <p:nvSpPr>
          <p:cNvPr id="12" name="Rectangle 11">
            <a:extLst>
              <a:ext uri="{FF2B5EF4-FFF2-40B4-BE49-F238E27FC236}">
                <a16:creationId xmlns:a16="http://schemas.microsoft.com/office/drawing/2014/main" id="{5CE2F7BB-2755-4DE7-88D9-01F81394144E}"/>
              </a:ext>
            </a:extLst>
          </p:cNvPr>
          <p:cNvSpPr>
            <a:spLocks noGrp="1"/>
          </p:cNvSpPr>
          <p:nvPr/>
        </p:nvSpPr>
        <p:spPr>
          <a:xfrm>
            <a:off x="1066800" y="26003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age</a:t>
            </a:r>
          </a:p>
        </p:txBody>
      </p:sp>
      <p:sp>
        <p:nvSpPr>
          <p:cNvPr id="13" name="Rectangle 12">
            <a:extLst>
              <a:ext uri="{FF2B5EF4-FFF2-40B4-BE49-F238E27FC236}">
                <a16:creationId xmlns:a16="http://schemas.microsoft.com/office/drawing/2014/main" id="{AE1E94CC-4BD0-4A7A-A9BB-2168A5207A11}"/>
              </a:ext>
            </a:extLst>
          </p:cNvPr>
          <p:cNvSpPr>
            <a:spLocks noGrp="1"/>
          </p:cNvSpPr>
          <p:nvPr/>
        </p:nvSpPr>
        <p:spPr>
          <a:xfrm>
            <a:off x="1066800" y="28289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contact</a:t>
            </a:r>
          </a:p>
        </p:txBody>
      </p:sp>
      <p:sp>
        <p:nvSpPr>
          <p:cNvPr id="14" name="Rectangle: Rounded Corners 13">
            <a:extLst>
              <a:ext uri="{FF2B5EF4-FFF2-40B4-BE49-F238E27FC236}">
                <a16:creationId xmlns:a16="http://schemas.microsoft.com/office/drawing/2014/main" id="{B7FB8352-09B5-4F7A-9D8A-42AB3E3427E9}"/>
              </a:ext>
            </a:extLst>
          </p:cNvPr>
          <p:cNvSpPr>
            <a:spLocks noGrp="1"/>
          </p:cNvSpPr>
          <p:nvPr/>
        </p:nvSpPr>
        <p:spPr>
          <a:xfrm>
            <a:off x="4048125" y="1571625"/>
            <a:ext cx="2762250" cy="1619250"/>
          </a:xfrm>
          <a:prstGeom prst="roundRect">
            <a:avLst>
              <a:gd name="adj" fmla="val 4706"/>
            </a:avLst>
          </a:prstGeom>
          <a:solidFill>
            <a:srgbClr val="FFFFFF"/>
          </a:solidFill>
          <a:ln w="9525">
            <a:solidFill>
              <a:srgbClr val="D8E8F4"/>
            </a:solidFill>
            <a:prstDash val="solid"/>
          </a:ln>
        </p:spPr>
      </p:sp>
      <p:sp>
        <p:nvSpPr>
          <p:cNvPr id="15" name="Rectangle 14">
            <a:extLst>
              <a:ext uri="{FF2B5EF4-FFF2-40B4-BE49-F238E27FC236}">
                <a16:creationId xmlns:a16="http://schemas.microsoft.com/office/drawing/2014/main" id="{47D903DF-B05D-470A-B77A-9C9A2A91A7C6}"/>
              </a:ext>
            </a:extLst>
          </p:cNvPr>
          <p:cNvSpPr>
            <a:spLocks noGrp="1"/>
          </p:cNvSpPr>
          <p:nvPr/>
        </p:nvSpPr>
        <p:spPr>
          <a:xfrm>
            <a:off x="4048125" y="1571625"/>
            <a:ext cx="2762250" cy="419100"/>
          </a:xfrm>
          <a:prstGeom prst="rect">
            <a:avLst/>
          </a:prstGeom>
          <a:solidFill>
            <a:srgbClr val="10B981"/>
          </a:solidFill>
          <a:ln w="0">
            <a:solidFill>
              <a:srgbClr val="000000">
                <a:alpha val="0"/>
              </a:srgbClr>
            </a:solidFill>
            <a:prstDash val="solid"/>
          </a:ln>
        </p:spPr>
      </p:sp>
      <p:sp>
        <p:nvSpPr>
          <p:cNvPr id="16" name="Rectangle 15">
            <a:extLst>
              <a:ext uri="{FF2B5EF4-FFF2-40B4-BE49-F238E27FC236}">
                <a16:creationId xmlns:a16="http://schemas.microsoft.com/office/drawing/2014/main" id="{D458590A-8AFD-433B-9413-6AB5381EBBA3}"/>
              </a:ext>
            </a:extLst>
          </p:cNvPr>
          <p:cNvSpPr>
            <a:spLocks noGrp="1"/>
          </p:cNvSpPr>
          <p:nvPr/>
        </p:nvSpPr>
        <p:spPr>
          <a:xfrm>
            <a:off x="4200525" y="1666875"/>
            <a:ext cx="2381250" cy="228600"/>
          </a:xfrm>
          <a:prstGeom prst="rect">
            <a:avLst/>
          </a:prstGeom>
          <a:solidFill>
            <a:srgbClr val="000000">
              <a:alpha val="0"/>
            </a:srgbClr>
          </a:solidFill>
          <a:ln w="0">
            <a:solidFill>
              <a:srgbClr val="000000">
                <a:alpha val="0"/>
              </a:srgbClr>
            </a:solidFill>
            <a:prstDash val="solid"/>
          </a:ln>
        </p:spPr>
        <p:txBody>
          <a:bodyPr/>
          <a:lstStyle/>
          <a:p>
            <a:pPr algn="l">
              <a:defRPr sz="1500" b="1">
                <a:solidFill>
                  <a:srgbClr val="FFFFFF"/>
                </a:solidFill>
                <a:latin typeface="Aptos"/>
                <a:ea typeface="Aptos"/>
                <a:cs typeface="Aptos"/>
              </a:defRPr>
            </a:pPr>
            <a:r>
              <a:rPr sz="1500" b="1">
                <a:solidFill>
                  <a:srgbClr val="FFFFFF"/>
                </a:solidFill>
                <a:latin typeface="Aptos"/>
                <a:ea typeface="Aptos"/>
                <a:cs typeface="Aptos"/>
              </a:rPr>
              <a:t>Medical History</a:t>
            </a:r>
          </a:p>
        </p:txBody>
      </p:sp>
      <p:sp>
        <p:nvSpPr>
          <p:cNvPr id="17" name="Rectangle 16">
            <a:extLst>
              <a:ext uri="{FF2B5EF4-FFF2-40B4-BE49-F238E27FC236}">
                <a16:creationId xmlns:a16="http://schemas.microsoft.com/office/drawing/2014/main" id="{63307E2F-773A-49D1-8525-5DDABD619645}"/>
              </a:ext>
            </a:extLst>
          </p:cNvPr>
          <p:cNvSpPr>
            <a:spLocks noGrp="1"/>
          </p:cNvSpPr>
          <p:nvPr/>
        </p:nvSpPr>
        <p:spPr>
          <a:xfrm>
            <a:off x="4257675" y="21431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history_id</a:t>
            </a:r>
          </a:p>
        </p:txBody>
      </p:sp>
      <p:sp>
        <p:nvSpPr>
          <p:cNvPr id="18" name="Rectangle 17">
            <a:extLst>
              <a:ext uri="{FF2B5EF4-FFF2-40B4-BE49-F238E27FC236}">
                <a16:creationId xmlns:a16="http://schemas.microsoft.com/office/drawing/2014/main" id="{297C22D9-0DC6-4CC7-AE3A-49FCE8048D55}"/>
              </a:ext>
            </a:extLst>
          </p:cNvPr>
          <p:cNvSpPr>
            <a:spLocks noGrp="1"/>
          </p:cNvSpPr>
          <p:nvPr/>
        </p:nvSpPr>
        <p:spPr>
          <a:xfrm>
            <a:off x="4257675" y="23717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patient_id</a:t>
            </a:r>
          </a:p>
        </p:txBody>
      </p:sp>
      <p:sp>
        <p:nvSpPr>
          <p:cNvPr id="19" name="Rectangle 18">
            <a:extLst>
              <a:ext uri="{FF2B5EF4-FFF2-40B4-BE49-F238E27FC236}">
                <a16:creationId xmlns:a16="http://schemas.microsoft.com/office/drawing/2014/main" id="{ABF1BA8E-6CA4-4700-8A81-6880FF5895D9}"/>
              </a:ext>
            </a:extLst>
          </p:cNvPr>
          <p:cNvSpPr>
            <a:spLocks noGrp="1"/>
          </p:cNvSpPr>
          <p:nvPr/>
        </p:nvSpPr>
        <p:spPr>
          <a:xfrm>
            <a:off x="4257675" y="26003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diabetes</a:t>
            </a:r>
          </a:p>
        </p:txBody>
      </p:sp>
      <p:sp>
        <p:nvSpPr>
          <p:cNvPr id="20" name="Rectangle 19">
            <a:extLst>
              <a:ext uri="{FF2B5EF4-FFF2-40B4-BE49-F238E27FC236}">
                <a16:creationId xmlns:a16="http://schemas.microsoft.com/office/drawing/2014/main" id="{D283FD8C-440C-4694-AB50-BD97AA4A5AA2}"/>
              </a:ext>
            </a:extLst>
          </p:cNvPr>
          <p:cNvSpPr>
            <a:spLocks noGrp="1"/>
          </p:cNvSpPr>
          <p:nvPr/>
        </p:nvSpPr>
        <p:spPr>
          <a:xfrm>
            <a:off x="4257675" y="28289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hypertension</a:t>
            </a:r>
          </a:p>
        </p:txBody>
      </p:sp>
      <p:sp>
        <p:nvSpPr>
          <p:cNvPr id="21" name="Rectangle: Rounded Corners 20">
            <a:extLst>
              <a:ext uri="{FF2B5EF4-FFF2-40B4-BE49-F238E27FC236}">
                <a16:creationId xmlns:a16="http://schemas.microsoft.com/office/drawing/2014/main" id="{3B2F16F5-B246-4FC5-9E34-E5723F9EB01D}"/>
              </a:ext>
            </a:extLst>
          </p:cNvPr>
          <p:cNvSpPr>
            <a:spLocks noGrp="1"/>
          </p:cNvSpPr>
          <p:nvPr/>
        </p:nvSpPr>
        <p:spPr>
          <a:xfrm>
            <a:off x="7239000" y="1571625"/>
            <a:ext cx="2762250" cy="1619250"/>
          </a:xfrm>
          <a:prstGeom prst="roundRect">
            <a:avLst>
              <a:gd name="adj" fmla="val 4706"/>
            </a:avLst>
          </a:prstGeom>
          <a:solidFill>
            <a:srgbClr val="FFFFFF"/>
          </a:solidFill>
          <a:ln w="9525">
            <a:solidFill>
              <a:srgbClr val="D8E8F4"/>
            </a:solidFill>
            <a:prstDash val="solid"/>
          </a:ln>
        </p:spPr>
      </p:sp>
      <p:sp>
        <p:nvSpPr>
          <p:cNvPr id="22" name="Rectangle 21">
            <a:extLst>
              <a:ext uri="{FF2B5EF4-FFF2-40B4-BE49-F238E27FC236}">
                <a16:creationId xmlns:a16="http://schemas.microsoft.com/office/drawing/2014/main" id="{EE0F55C5-FAF6-4DD7-8A5C-A277BC9313C0}"/>
              </a:ext>
            </a:extLst>
          </p:cNvPr>
          <p:cNvSpPr>
            <a:spLocks noGrp="1"/>
          </p:cNvSpPr>
          <p:nvPr/>
        </p:nvSpPr>
        <p:spPr>
          <a:xfrm>
            <a:off x="7239000" y="1571625"/>
            <a:ext cx="2762250" cy="419100"/>
          </a:xfrm>
          <a:prstGeom prst="rect">
            <a:avLst/>
          </a:prstGeom>
          <a:solidFill>
            <a:srgbClr val="EF4444"/>
          </a:solidFill>
          <a:ln w="0">
            <a:solidFill>
              <a:srgbClr val="000000">
                <a:alpha val="0"/>
              </a:srgbClr>
            </a:solidFill>
            <a:prstDash val="solid"/>
          </a:ln>
        </p:spPr>
      </p:sp>
      <p:sp>
        <p:nvSpPr>
          <p:cNvPr id="23" name="Rectangle 22">
            <a:extLst>
              <a:ext uri="{FF2B5EF4-FFF2-40B4-BE49-F238E27FC236}">
                <a16:creationId xmlns:a16="http://schemas.microsoft.com/office/drawing/2014/main" id="{781B0EE1-45CB-4F36-8C43-AD7A679E4048}"/>
              </a:ext>
            </a:extLst>
          </p:cNvPr>
          <p:cNvSpPr>
            <a:spLocks noGrp="1"/>
          </p:cNvSpPr>
          <p:nvPr/>
        </p:nvSpPr>
        <p:spPr>
          <a:xfrm>
            <a:off x="7391400" y="1666875"/>
            <a:ext cx="2381250" cy="228600"/>
          </a:xfrm>
          <a:prstGeom prst="rect">
            <a:avLst/>
          </a:prstGeom>
          <a:solidFill>
            <a:srgbClr val="000000">
              <a:alpha val="0"/>
            </a:srgbClr>
          </a:solidFill>
          <a:ln w="0">
            <a:solidFill>
              <a:srgbClr val="000000">
                <a:alpha val="0"/>
              </a:srgbClr>
            </a:solidFill>
            <a:prstDash val="solid"/>
          </a:ln>
        </p:spPr>
        <p:txBody>
          <a:bodyPr/>
          <a:lstStyle/>
          <a:p>
            <a:pPr algn="l">
              <a:defRPr sz="1500" b="1">
                <a:solidFill>
                  <a:srgbClr val="FFFFFF"/>
                </a:solidFill>
                <a:latin typeface="Aptos"/>
                <a:ea typeface="Aptos"/>
                <a:cs typeface="Aptos"/>
              </a:defRPr>
            </a:pPr>
            <a:r>
              <a:rPr sz="1500" b="1">
                <a:solidFill>
                  <a:srgbClr val="FFFFFF"/>
                </a:solidFill>
                <a:latin typeface="Aptos"/>
                <a:ea typeface="Aptos"/>
                <a:cs typeface="Aptos"/>
              </a:rPr>
              <a:t>Prediction</a:t>
            </a:r>
          </a:p>
        </p:txBody>
      </p:sp>
      <p:sp>
        <p:nvSpPr>
          <p:cNvPr id="24" name="Rectangle 23">
            <a:extLst>
              <a:ext uri="{FF2B5EF4-FFF2-40B4-BE49-F238E27FC236}">
                <a16:creationId xmlns:a16="http://schemas.microsoft.com/office/drawing/2014/main" id="{D835C02E-E417-4E97-899D-9FA9402CD3C9}"/>
              </a:ext>
            </a:extLst>
          </p:cNvPr>
          <p:cNvSpPr>
            <a:spLocks noGrp="1"/>
          </p:cNvSpPr>
          <p:nvPr/>
        </p:nvSpPr>
        <p:spPr>
          <a:xfrm>
            <a:off x="7448550" y="21431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prediction_id</a:t>
            </a:r>
          </a:p>
        </p:txBody>
      </p:sp>
      <p:sp>
        <p:nvSpPr>
          <p:cNvPr id="25" name="Rectangle 24">
            <a:extLst>
              <a:ext uri="{FF2B5EF4-FFF2-40B4-BE49-F238E27FC236}">
                <a16:creationId xmlns:a16="http://schemas.microsoft.com/office/drawing/2014/main" id="{FA74AF1A-36C2-4FBC-8284-4B494795C5E9}"/>
              </a:ext>
            </a:extLst>
          </p:cNvPr>
          <p:cNvSpPr>
            <a:spLocks noGrp="1"/>
          </p:cNvSpPr>
          <p:nvPr/>
        </p:nvSpPr>
        <p:spPr>
          <a:xfrm>
            <a:off x="7448550" y="23717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patient_id</a:t>
            </a:r>
          </a:p>
        </p:txBody>
      </p:sp>
      <p:sp>
        <p:nvSpPr>
          <p:cNvPr id="26" name="Rectangle 25">
            <a:extLst>
              <a:ext uri="{FF2B5EF4-FFF2-40B4-BE49-F238E27FC236}">
                <a16:creationId xmlns:a16="http://schemas.microsoft.com/office/drawing/2014/main" id="{29568730-4C4B-417D-9C4C-27F3E7F2812C}"/>
              </a:ext>
            </a:extLst>
          </p:cNvPr>
          <p:cNvSpPr>
            <a:spLocks noGrp="1"/>
          </p:cNvSpPr>
          <p:nvPr/>
        </p:nvSpPr>
        <p:spPr>
          <a:xfrm>
            <a:off x="7448550" y="26003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risk_level</a:t>
            </a:r>
          </a:p>
        </p:txBody>
      </p:sp>
      <p:sp>
        <p:nvSpPr>
          <p:cNvPr id="27" name="Rectangle 26">
            <a:extLst>
              <a:ext uri="{FF2B5EF4-FFF2-40B4-BE49-F238E27FC236}">
                <a16:creationId xmlns:a16="http://schemas.microsoft.com/office/drawing/2014/main" id="{E14A3D6A-22DA-4BCA-A195-EDBC425C3B14}"/>
              </a:ext>
            </a:extLst>
          </p:cNvPr>
          <p:cNvSpPr>
            <a:spLocks noGrp="1"/>
          </p:cNvSpPr>
          <p:nvPr/>
        </p:nvSpPr>
        <p:spPr>
          <a:xfrm>
            <a:off x="7448550" y="2828925"/>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probability</a:t>
            </a:r>
          </a:p>
        </p:txBody>
      </p:sp>
      <p:sp>
        <p:nvSpPr>
          <p:cNvPr id="28" name="Rectangle: Rounded Corners 27">
            <a:extLst>
              <a:ext uri="{FF2B5EF4-FFF2-40B4-BE49-F238E27FC236}">
                <a16:creationId xmlns:a16="http://schemas.microsoft.com/office/drawing/2014/main" id="{4C0CF421-1B56-46FB-93C0-F1E0FF0C17D2}"/>
              </a:ext>
            </a:extLst>
          </p:cNvPr>
          <p:cNvSpPr>
            <a:spLocks noGrp="1"/>
          </p:cNvSpPr>
          <p:nvPr/>
        </p:nvSpPr>
        <p:spPr>
          <a:xfrm>
            <a:off x="4048125" y="4286250"/>
            <a:ext cx="2762250" cy="1619250"/>
          </a:xfrm>
          <a:prstGeom prst="roundRect">
            <a:avLst>
              <a:gd name="adj" fmla="val 4706"/>
            </a:avLst>
          </a:prstGeom>
          <a:solidFill>
            <a:srgbClr val="FFFFFF"/>
          </a:solidFill>
          <a:ln w="9525">
            <a:solidFill>
              <a:srgbClr val="D8E8F4"/>
            </a:solidFill>
            <a:prstDash val="solid"/>
          </a:ln>
        </p:spPr>
      </p:sp>
      <p:sp>
        <p:nvSpPr>
          <p:cNvPr id="29" name="Rectangle 28">
            <a:extLst>
              <a:ext uri="{FF2B5EF4-FFF2-40B4-BE49-F238E27FC236}">
                <a16:creationId xmlns:a16="http://schemas.microsoft.com/office/drawing/2014/main" id="{2C5969DD-06E5-461E-84AA-03778DAC4220}"/>
              </a:ext>
            </a:extLst>
          </p:cNvPr>
          <p:cNvSpPr>
            <a:spLocks noGrp="1"/>
          </p:cNvSpPr>
          <p:nvPr/>
        </p:nvSpPr>
        <p:spPr>
          <a:xfrm>
            <a:off x="4048125" y="4286250"/>
            <a:ext cx="2762250" cy="419100"/>
          </a:xfrm>
          <a:prstGeom prst="rect">
            <a:avLst/>
          </a:prstGeom>
          <a:solidFill>
            <a:srgbClr val="0B2559"/>
          </a:solidFill>
          <a:ln w="0">
            <a:solidFill>
              <a:srgbClr val="000000">
                <a:alpha val="0"/>
              </a:srgbClr>
            </a:solidFill>
            <a:prstDash val="solid"/>
          </a:ln>
        </p:spPr>
      </p:sp>
      <p:sp>
        <p:nvSpPr>
          <p:cNvPr id="30" name="Rectangle 29">
            <a:extLst>
              <a:ext uri="{FF2B5EF4-FFF2-40B4-BE49-F238E27FC236}">
                <a16:creationId xmlns:a16="http://schemas.microsoft.com/office/drawing/2014/main" id="{635C5AE0-12AD-48E4-8406-6311145FC0CE}"/>
              </a:ext>
            </a:extLst>
          </p:cNvPr>
          <p:cNvSpPr>
            <a:spLocks noGrp="1"/>
          </p:cNvSpPr>
          <p:nvPr/>
        </p:nvSpPr>
        <p:spPr>
          <a:xfrm>
            <a:off x="4200525" y="4381500"/>
            <a:ext cx="2381250" cy="228600"/>
          </a:xfrm>
          <a:prstGeom prst="rect">
            <a:avLst/>
          </a:prstGeom>
          <a:solidFill>
            <a:srgbClr val="000000">
              <a:alpha val="0"/>
            </a:srgbClr>
          </a:solidFill>
          <a:ln w="0">
            <a:solidFill>
              <a:srgbClr val="000000">
                <a:alpha val="0"/>
              </a:srgbClr>
            </a:solidFill>
            <a:prstDash val="solid"/>
          </a:ln>
        </p:spPr>
        <p:txBody>
          <a:bodyPr/>
          <a:lstStyle/>
          <a:p>
            <a:pPr algn="l">
              <a:defRPr sz="1500" b="1">
                <a:solidFill>
                  <a:srgbClr val="FFFFFF"/>
                </a:solidFill>
                <a:latin typeface="Aptos"/>
                <a:ea typeface="Aptos"/>
                <a:cs typeface="Aptos"/>
              </a:defRPr>
            </a:pPr>
            <a:r>
              <a:rPr sz="1500" b="1">
                <a:solidFill>
                  <a:srgbClr val="FFFFFF"/>
                </a:solidFill>
                <a:latin typeface="Aptos"/>
                <a:ea typeface="Aptos"/>
                <a:cs typeface="Aptos"/>
              </a:rPr>
              <a:t>Doctor</a:t>
            </a:r>
          </a:p>
        </p:txBody>
      </p:sp>
      <p:sp>
        <p:nvSpPr>
          <p:cNvPr id="31" name="Rectangle 30">
            <a:extLst>
              <a:ext uri="{FF2B5EF4-FFF2-40B4-BE49-F238E27FC236}">
                <a16:creationId xmlns:a16="http://schemas.microsoft.com/office/drawing/2014/main" id="{8828DF14-CF40-4BD5-ABB0-9912FF1784EF}"/>
              </a:ext>
            </a:extLst>
          </p:cNvPr>
          <p:cNvSpPr>
            <a:spLocks noGrp="1"/>
          </p:cNvSpPr>
          <p:nvPr/>
        </p:nvSpPr>
        <p:spPr>
          <a:xfrm>
            <a:off x="4257675" y="4857750"/>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doctor_id</a:t>
            </a:r>
          </a:p>
        </p:txBody>
      </p:sp>
      <p:sp>
        <p:nvSpPr>
          <p:cNvPr id="32" name="Rectangle 31">
            <a:extLst>
              <a:ext uri="{FF2B5EF4-FFF2-40B4-BE49-F238E27FC236}">
                <a16:creationId xmlns:a16="http://schemas.microsoft.com/office/drawing/2014/main" id="{398AF2AD-AD8C-41A0-B7AE-AA536423C2F7}"/>
              </a:ext>
            </a:extLst>
          </p:cNvPr>
          <p:cNvSpPr>
            <a:spLocks noGrp="1"/>
          </p:cNvSpPr>
          <p:nvPr/>
        </p:nvSpPr>
        <p:spPr>
          <a:xfrm>
            <a:off x="4257675" y="5086350"/>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name</a:t>
            </a:r>
          </a:p>
        </p:txBody>
      </p:sp>
      <p:sp>
        <p:nvSpPr>
          <p:cNvPr id="33" name="Rectangle 32">
            <a:extLst>
              <a:ext uri="{FF2B5EF4-FFF2-40B4-BE49-F238E27FC236}">
                <a16:creationId xmlns:a16="http://schemas.microsoft.com/office/drawing/2014/main" id="{2DBFF13F-CF49-4CBB-B864-640E68398BDA}"/>
              </a:ext>
            </a:extLst>
          </p:cNvPr>
          <p:cNvSpPr>
            <a:spLocks noGrp="1"/>
          </p:cNvSpPr>
          <p:nvPr/>
        </p:nvSpPr>
        <p:spPr>
          <a:xfrm>
            <a:off x="4257675" y="5314950"/>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specialization</a:t>
            </a:r>
          </a:p>
        </p:txBody>
      </p:sp>
      <p:sp>
        <p:nvSpPr>
          <p:cNvPr id="34" name="Rectangle 33">
            <a:extLst>
              <a:ext uri="{FF2B5EF4-FFF2-40B4-BE49-F238E27FC236}">
                <a16:creationId xmlns:a16="http://schemas.microsoft.com/office/drawing/2014/main" id="{426BA942-C6E3-4D3B-B466-BB1CA1A2EE1F}"/>
              </a:ext>
            </a:extLst>
          </p:cNvPr>
          <p:cNvSpPr>
            <a:spLocks noGrp="1"/>
          </p:cNvSpPr>
          <p:nvPr/>
        </p:nvSpPr>
        <p:spPr>
          <a:xfrm>
            <a:off x="4257675" y="5543550"/>
            <a:ext cx="2190750" cy="190500"/>
          </a:xfrm>
          <a:prstGeom prst="rect">
            <a:avLst/>
          </a:prstGeom>
          <a:solidFill>
            <a:srgbClr val="000000">
              <a:alpha val="0"/>
            </a:srgbClr>
          </a:solidFill>
          <a:ln w="0">
            <a:solidFill>
              <a:srgbClr val="000000">
                <a:alpha val="0"/>
              </a:srgbClr>
            </a:solidFill>
            <a:prstDash val="solid"/>
          </a:ln>
        </p:spPr>
        <p:txBody>
          <a:bodyPr/>
          <a:lstStyle/>
          <a:p>
            <a:pPr algn="l">
              <a:defRPr sz="1200" b="0">
                <a:solidFill>
                  <a:srgbClr val="102033"/>
                </a:solidFill>
                <a:latin typeface="Aptos"/>
                <a:ea typeface="Aptos"/>
                <a:cs typeface="Aptos"/>
              </a:defRPr>
            </a:pPr>
            <a:r>
              <a:rPr sz="1200" b="0">
                <a:solidFill>
                  <a:srgbClr val="102033"/>
                </a:solidFill>
                <a:latin typeface="Aptos"/>
                <a:ea typeface="Aptos"/>
                <a:cs typeface="Aptos"/>
              </a:rPr>
              <a:t>login</a:t>
            </a:r>
          </a:p>
        </p:txBody>
      </p:sp>
      <p:sp>
        <p:nvSpPr>
          <p:cNvPr id="35" name="Rectangle 34">
            <a:extLst>
              <a:ext uri="{FF2B5EF4-FFF2-40B4-BE49-F238E27FC236}">
                <a16:creationId xmlns:a16="http://schemas.microsoft.com/office/drawing/2014/main" id="{FC5EB622-08E2-4047-B1AE-5FB535FE2309}"/>
              </a:ext>
            </a:extLst>
          </p:cNvPr>
          <p:cNvSpPr>
            <a:spLocks noGrp="1"/>
          </p:cNvSpPr>
          <p:nvPr/>
        </p:nvSpPr>
        <p:spPr>
          <a:xfrm>
            <a:off x="3538687" y="2143125"/>
            <a:ext cx="571500" cy="228600"/>
          </a:xfrm>
          <a:prstGeom prst="rect">
            <a:avLst/>
          </a:prstGeom>
          <a:solidFill>
            <a:srgbClr val="000000">
              <a:alpha val="0"/>
            </a:srgbClr>
          </a:solidFill>
          <a:ln w="0">
            <a:solidFill>
              <a:srgbClr val="000000">
                <a:alpha val="0"/>
              </a:srgbClr>
            </a:solidFill>
            <a:prstDash val="solid"/>
          </a:ln>
        </p:spPr>
        <p:txBody>
          <a:bodyPr/>
          <a:lstStyle/>
          <a:p>
            <a:pPr algn="ctr">
              <a:defRPr sz="1200" b="1">
                <a:solidFill>
                  <a:srgbClr val="5B6B7A"/>
                </a:solidFill>
                <a:latin typeface="Aptos"/>
                <a:ea typeface="Aptos"/>
                <a:cs typeface="Aptos"/>
              </a:defRPr>
            </a:pPr>
            <a:r>
              <a:rPr sz="1200" b="1" dirty="0">
                <a:solidFill>
                  <a:srgbClr val="5B6B7A"/>
                </a:solidFill>
                <a:latin typeface="Aptos"/>
                <a:ea typeface="Aptos"/>
                <a:cs typeface="Aptos"/>
              </a:rPr>
              <a:t>1..N</a:t>
            </a:r>
          </a:p>
        </p:txBody>
      </p:sp>
      <p:sp>
        <p:nvSpPr>
          <p:cNvPr id="36" name="Rectangle 35">
            <a:extLst>
              <a:ext uri="{FF2B5EF4-FFF2-40B4-BE49-F238E27FC236}">
                <a16:creationId xmlns:a16="http://schemas.microsoft.com/office/drawing/2014/main" id="{98E0A725-740C-4197-9B5D-AD0F1BB87B49}"/>
              </a:ext>
            </a:extLst>
          </p:cNvPr>
          <p:cNvSpPr>
            <a:spLocks noGrp="1"/>
          </p:cNvSpPr>
          <p:nvPr/>
        </p:nvSpPr>
        <p:spPr>
          <a:xfrm>
            <a:off x="6709902" y="2143125"/>
            <a:ext cx="571500" cy="228600"/>
          </a:xfrm>
          <a:prstGeom prst="rect">
            <a:avLst/>
          </a:prstGeom>
          <a:solidFill>
            <a:srgbClr val="000000">
              <a:alpha val="0"/>
            </a:srgbClr>
          </a:solidFill>
          <a:ln w="0">
            <a:solidFill>
              <a:srgbClr val="000000">
                <a:alpha val="0"/>
              </a:srgbClr>
            </a:solidFill>
            <a:prstDash val="solid"/>
          </a:ln>
        </p:spPr>
        <p:txBody>
          <a:bodyPr/>
          <a:lstStyle/>
          <a:p>
            <a:pPr algn="ctr">
              <a:defRPr sz="1200" b="1">
                <a:solidFill>
                  <a:srgbClr val="5B6B7A"/>
                </a:solidFill>
                <a:latin typeface="Aptos"/>
                <a:ea typeface="Aptos"/>
                <a:cs typeface="Aptos"/>
              </a:defRPr>
            </a:pPr>
            <a:r>
              <a:rPr sz="1200" b="1">
                <a:solidFill>
                  <a:srgbClr val="5B6B7A"/>
                </a:solidFill>
                <a:latin typeface="Aptos"/>
                <a:ea typeface="Aptos"/>
                <a:cs typeface="Aptos"/>
              </a:rPr>
              <a:t>1..N</a:t>
            </a:r>
          </a:p>
        </p:txBody>
      </p:sp>
      <p:sp>
        <p:nvSpPr>
          <p:cNvPr id="37" name="Rectangle 36">
            <a:extLst>
              <a:ext uri="{FF2B5EF4-FFF2-40B4-BE49-F238E27FC236}">
                <a16:creationId xmlns:a16="http://schemas.microsoft.com/office/drawing/2014/main" id="{8B98C0D5-E64C-41FE-9A6D-8E2070227327}"/>
              </a:ext>
            </a:extLst>
          </p:cNvPr>
          <p:cNvSpPr>
            <a:spLocks noGrp="1"/>
          </p:cNvSpPr>
          <p:nvPr/>
        </p:nvSpPr>
        <p:spPr>
          <a:xfrm>
            <a:off x="5381625" y="3667125"/>
            <a:ext cx="1143000" cy="228600"/>
          </a:xfrm>
          <a:prstGeom prst="rect">
            <a:avLst/>
          </a:prstGeom>
          <a:solidFill>
            <a:srgbClr val="000000">
              <a:alpha val="0"/>
            </a:srgbClr>
          </a:solidFill>
          <a:ln w="0">
            <a:solidFill>
              <a:srgbClr val="000000">
                <a:alpha val="0"/>
              </a:srgbClr>
            </a:solidFill>
            <a:prstDash val="solid"/>
          </a:ln>
        </p:spPr>
        <p:txBody>
          <a:bodyPr/>
          <a:lstStyle/>
          <a:p>
            <a:pPr algn="ctr">
              <a:defRPr sz="1200" b="1">
                <a:solidFill>
                  <a:srgbClr val="5B6B7A"/>
                </a:solidFill>
                <a:latin typeface="Aptos"/>
                <a:ea typeface="Aptos"/>
                <a:cs typeface="Aptos"/>
              </a:defRPr>
            </a:pPr>
            <a:r>
              <a:rPr sz="1200" b="1" dirty="0">
                <a:solidFill>
                  <a:srgbClr val="5B6B7A"/>
                </a:solidFill>
                <a:latin typeface="Aptos"/>
                <a:ea typeface="Aptos"/>
                <a:cs typeface="Aptos"/>
              </a:rPr>
              <a:t>reviews</a:t>
            </a:r>
          </a:p>
        </p:txBody>
      </p:sp>
      <p:sp>
        <p:nvSpPr>
          <p:cNvPr id="38" name="Straight Connector 37">
            <a:extLst>
              <a:ext uri="{FF2B5EF4-FFF2-40B4-BE49-F238E27FC236}">
                <a16:creationId xmlns:a16="http://schemas.microsoft.com/office/drawing/2014/main" id="{49E6ADF9-1147-4954-A691-FF35B3FB7A79}"/>
              </a:ext>
            </a:extLst>
          </p:cNvPr>
          <p:cNvSpPr>
            <a:spLocks noGrp="1"/>
          </p:cNvSpPr>
          <p:nvPr/>
        </p:nvSpPr>
        <p:spPr>
          <a:xfrm>
            <a:off x="3619500" y="2381250"/>
            <a:ext cx="428625" cy="9525"/>
          </a:xfrm>
          <a:prstGeom prst="line">
            <a:avLst/>
          </a:prstGeom>
          <a:solidFill>
            <a:srgbClr val="000000">
              <a:alpha val="0"/>
            </a:srgbClr>
          </a:solidFill>
          <a:ln w="28575">
            <a:solidFill>
              <a:srgbClr val="2CB7D5"/>
            </a:solidFill>
            <a:prstDash val="solid"/>
          </a:ln>
        </p:spPr>
      </p:sp>
      <p:sp>
        <p:nvSpPr>
          <p:cNvPr id="39" name="Straight Connector 38">
            <a:extLst>
              <a:ext uri="{FF2B5EF4-FFF2-40B4-BE49-F238E27FC236}">
                <a16:creationId xmlns:a16="http://schemas.microsoft.com/office/drawing/2014/main" id="{56CF86A9-679A-4E09-AA42-A2ABBAA2CC0F}"/>
              </a:ext>
            </a:extLst>
          </p:cNvPr>
          <p:cNvSpPr>
            <a:spLocks noGrp="1"/>
          </p:cNvSpPr>
          <p:nvPr/>
        </p:nvSpPr>
        <p:spPr>
          <a:xfrm>
            <a:off x="6810375" y="2381250"/>
            <a:ext cx="428625" cy="9525"/>
          </a:xfrm>
          <a:prstGeom prst="line">
            <a:avLst/>
          </a:prstGeom>
          <a:solidFill>
            <a:srgbClr val="000000">
              <a:alpha val="0"/>
            </a:srgbClr>
          </a:solidFill>
          <a:ln w="28575">
            <a:solidFill>
              <a:srgbClr val="2CB7D5"/>
            </a:solidFill>
            <a:prstDash val="solid"/>
          </a:ln>
        </p:spPr>
      </p:sp>
      <p:sp>
        <p:nvSpPr>
          <p:cNvPr id="40" name="Straight Connector 39">
            <a:extLst>
              <a:ext uri="{FF2B5EF4-FFF2-40B4-BE49-F238E27FC236}">
                <a16:creationId xmlns:a16="http://schemas.microsoft.com/office/drawing/2014/main" id="{7EFD0F2D-5C36-4359-AB3D-267077A2CF91}"/>
              </a:ext>
            </a:extLst>
          </p:cNvPr>
          <p:cNvSpPr>
            <a:spLocks noGrp="1"/>
          </p:cNvSpPr>
          <p:nvPr/>
        </p:nvSpPr>
        <p:spPr>
          <a:xfrm>
            <a:off x="5429250" y="3190875"/>
            <a:ext cx="9525" cy="1095375"/>
          </a:xfrm>
          <a:prstGeom prst="line">
            <a:avLst/>
          </a:prstGeom>
          <a:solidFill>
            <a:srgbClr val="000000">
              <a:alpha val="0"/>
            </a:srgbClr>
          </a:solidFill>
          <a:ln w="28575">
            <a:solidFill>
              <a:srgbClr val="2CB7D5"/>
            </a:solidFill>
            <a:prstDash val="solid"/>
          </a:ln>
        </p:spPr>
      </p:sp>
    </p:spTree>
    <p:extLst>
      <p:ext uri="{BB962C8B-B14F-4D97-AF65-F5344CB8AC3E}">
        <p14:creationId xmlns:p14="http://schemas.microsoft.com/office/powerpoint/2010/main" val="358737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CA2DD30-2411-460D-BC2B-F1012A13B310}"/>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3137CF8E-12E5-4409-A103-B5C0A8B7A205}"/>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8F48AF02-BAE3-47FE-B57A-FF29B1848033}"/>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15</a:t>
            </a:r>
          </a:p>
        </p:txBody>
      </p:sp>
      <p:sp>
        <p:nvSpPr>
          <p:cNvPr id="5" name="Rectangle 4">
            <a:extLst>
              <a:ext uri="{FF2B5EF4-FFF2-40B4-BE49-F238E27FC236}">
                <a16:creationId xmlns:a16="http://schemas.microsoft.com/office/drawing/2014/main" id="{21E8E917-F657-4C92-8EE9-72BA77D7D4C6}"/>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Application Modules</a:t>
            </a:r>
          </a:p>
        </p:txBody>
      </p:sp>
      <p:sp>
        <p:nvSpPr>
          <p:cNvPr id="6" name="Straight Connector 5">
            <a:extLst>
              <a:ext uri="{FF2B5EF4-FFF2-40B4-BE49-F238E27FC236}">
                <a16:creationId xmlns:a16="http://schemas.microsoft.com/office/drawing/2014/main" id="{0A08F04D-196B-4741-B566-5CC35C0291D5}"/>
              </a:ext>
            </a:extLst>
          </p:cNvPr>
          <p:cNvSpPr>
            <a:spLocks noGrp="1"/>
          </p:cNvSpPr>
          <p:nvPr/>
        </p:nvSpPr>
        <p:spPr>
          <a:xfrm flipV="1">
            <a:off x="552449" y="971551"/>
            <a:ext cx="3203473" cy="1905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A2E2BB6C-FF71-4584-8F96-D14637BB6CD0}"/>
              </a:ext>
            </a:extLst>
          </p:cNvPr>
          <p:cNvSpPr>
            <a:spLocks noGrp="1"/>
          </p:cNvSpPr>
          <p:nvPr/>
        </p:nvSpPr>
        <p:spPr>
          <a:xfrm>
            <a:off x="809625" y="1952625"/>
            <a:ext cx="1714500" cy="1809750"/>
          </a:xfrm>
          <a:prstGeom prst="roundRect">
            <a:avLst>
              <a:gd name="adj" fmla="val 4444"/>
            </a:avLst>
          </a:prstGeom>
          <a:solidFill>
            <a:srgbClr val="FFFFFF"/>
          </a:solidFill>
          <a:ln w="9525">
            <a:solidFill>
              <a:srgbClr val="D8E8F4"/>
            </a:solidFill>
            <a:prstDash val="solid"/>
          </a:ln>
        </p:spPr>
      </p:sp>
      <p:sp>
        <p:nvSpPr>
          <p:cNvPr id="8" name="Oval 7">
            <a:extLst>
              <a:ext uri="{FF2B5EF4-FFF2-40B4-BE49-F238E27FC236}">
                <a16:creationId xmlns:a16="http://schemas.microsoft.com/office/drawing/2014/main" id="{3159C470-9E34-41B6-9B81-8D16ACE46C1E}"/>
              </a:ext>
            </a:extLst>
          </p:cNvPr>
          <p:cNvSpPr>
            <a:spLocks noGrp="1"/>
          </p:cNvSpPr>
          <p:nvPr/>
        </p:nvSpPr>
        <p:spPr>
          <a:xfrm>
            <a:off x="1323975" y="2238375"/>
            <a:ext cx="685800" cy="685800"/>
          </a:xfrm>
          <a:prstGeom prst="ellipse">
            <a:avLst/>
          </a:prstGeom>
          <a:solidFill>
            <a:srgbClr val="EAF6FF"/>
          </a:solidFill>
          <a:ln w="0">
            <a:solidFill>
              <a:srgbClr val="000000">
                <a:alpha val="0"/>
              </a:srgbClr>
            </a:solidFill>
            <a:prstDash val="solid"/>
          </a:ln>
        </p:spPr>
      </p:sp>
      <p:sp>
        <p:nvSpPr>
          <p:cNvPr id="9" name="Rectangle 8">
            <a:extLst>
              <a:ext uri="{FF2B5EF4-FFF2-40B4-BE49-F238E27FC236}">
                <a16:creationId xmlns:a16="http://schemas.microsoft.com/office/drawing/2014/main" id="{7A26C715-55DB-4579-BA68-6619964105CA}"/>
              </a:ext>
            </a:extLst>
          </p:cNvPr>
          <p:cNvSpPr>
            <a:spLocks noGrp="1"/>
          </p:cNvSpPr>
          <p:nvPr/>
        </p:nvSpPr>
        <p:spPr>
          <a:xfrm>
            <a:off x="981075" y="3143250"/>
            <a:ext cx="1371600" cy="514350"/>
          </a:xfrm>
          <a:prstGeom prst="rect">
            <a:avLst/>
          </a:prstGeom>
          <a:solidFill>
            <a:srgbClr val="000000">
              <a:alpha val="0"/>
            </a:srgbClr>
          </a:solidFill>
          <a:ln w="0">
            <a:solidFill>
              <a:srgbClr val="000000">
                <a:alpha val="0"/>
              </a:srgbClr>
            </a:solidFill>
            <a:prstDash val="solid"/>
          </a:ln>
        </p:spPr>
        <p:txBody>
          <a:bodyPr/>
          <a:lstStyle/>
          <a:p>
            <a:pPr algn="ctr">
              <a:defRPr sz="1425" b="1">
                <a:solidFill>
                  <a:srgbClr val="0B2559"/>
                </a:solidFill>
                <a:latin typeface="Aptos"/>
                <a:ea typeface="Aptos"/>
                <a:cs typeface="Aptos"/>
              </a:defRPr>
            </a:pPr>
            <a:r>
              <a:rPr sz="1425" b="1">
                <a:solidFill>
                  <a:srgbClr val="0B2559"/>
                </a:solidFill>
                <a:latin typeface="Aptos"/>
                <a:ea typeface="Aptos"/>
                <a:cs typeface="Aptos"/>
              </a:rPr>
              <a:t>Dashboard</a:t>
            </a:r>
          </a:p>
        </p:txBody>
      </p:sp>
      <p:sp>
        <p:nvSpPr>
          <p:cNvPr id="10" name="Rectangle: Rounded Corners 9">
            <a:extLst>
              <a:ext uri="{FF2B5EF4-FFF2-40B4-BE49-F238E27FC236}">
                <a16:creationId xmlns:a16="http://schemas.microsoft.com/office/drawing/2014/main" id="{6422E673-4DB3-48BC-B539-618FBA5B4AD6}"/>
              </a:ext>
            </a:extLst>
          </p:cNvPr>
          <p:cNvSpPr>
            <a:spLocks noGrp="1"/>
          </p:cNvSpPr>
          <p:nvPr/>
        </p:nvSpPr>
        <p:spPr>
          <a:xfrm>
            <a:off x="2952750" y="1952625"/>
            <a:ext cx="1714500" cy="1809750"/>
          </a:xfrm>
          <a:prstGeom prst="roundRect">
            <a:avLst>
              <a:gd name="adj" fmla="val 4444"/>
            </a:avLst>
          </a:prstGeom>
          <a:solidFill>
            <a:srgbClr val="FFFFFF"/>
          </a:solidFill>
          <a:ln w="9525">
            <a:solidFill>
              <a:srgbClr val="D8E8F4"/>
            </a:solidFill>
            <a:prstDash val="solid"/>
          </a:ln>
        </p:spPr>
      </p:sp>
      <p:sp>
        <p:nvSpPr>
          <p:cNvPr id="11" name="Oval 10">
            <a:extLst>
              <a:ext uri="{FF2B5EF4-FFF2-40B4-BE49-F238E27FC236}">
                <a16:creationId xmlns:a16="http://schemas.microsoft.com/office/drawing/2014/main" id="{BDA69CEB-5889-4B18-817C-06A0B9810128}"/>
              </a:ext>
            </a:extLst>
          </p:cNvPr>
          <p:cNvSpPr>
            <a:spLocks noGrp="1"/>
          </p:cNvSpPr>
          <p:nvPr/>
        </p:nvSpPr>
        <p:spPr>
          <a:xfrm>
            <a:off x="3467100" y="2238375"/>
            <a:ext cx="685800" cy="685800"/>
          </a:xfrm>
          <a:prstGeom prst="ellipse">
            <a:avLst/>
          </a:prstGeom>
          <a:solidFill>
            <a:srgbClr val="EAF6FF"/>
          </a:solidFill>
          <a:ln w="0">
            <a:solidFill>
              <a:srgbClr val="000000">
                <a:alpha val="0"/>
              </a:srgbClr>
            </a:solidFill>
            <a:prstDash val="solid"/>
          </a:ln>
        </p:spPr>
      </p:sp>
      <p:sp>
        <p:nvSpPr>
          <p:cNvPr id="12" name="Rectangle 11">
            <a:extLst>
              <a:ext uri="{FF2B5EF4-FFF2-40B4-BE49-F238E27FC236}">
                <a16:creationId xmlns:a16="http://schemas.microsoft.com/office/drawing/2014/main" id="{53609986-A12E-474E-A015-0788F7FE2697}"/>
              </a:ext>
            </a:extLst>
          </p:cNvPr>
          <p:cNvSpPr>
            <a:spLocks noGrp="1"/>
          </p:cNvSpPr>
          <p:nvPr/>
        </p:nvSpPr>
        <p:spPr>
          <a:xfrm>
            <a:off x="3124200" y="3143250"/>
            <a:ext cx="1371600" cy="514350"/>
          </a:xfrm>
          <a:prstGeom prst="rect">
            <a:avLst/>
          </a:prstGeom>
          <a:solidFill>
            <a:srgbClr val="000000">
              <a:alpha val="0"/>
            </a:srgbClr>
          </a:solidFill>
          <a:ln w="0">
            <a:solidFill>
              <a:srgbClr val="000000">
                <a:alpha val="0"/>
              </a:srgbClr>
            </a:solidFill>
            <a:prstDash val="solid"/>
          </a:ln>
        </p:spPr>
        <p:txBody>
          <a:bodyPr/>
          <a:lstStyle/>
          <a:p>
            <a:pPr algn="ctr">
              <a:defRPr sz="1425" b="1">
                <a:solidFill>
                  <a:srgbClr val="0B2559"/>
                </a:solidFill>
                <a:latin typeface="Aptos"/>
                <a:ea typeface="Aptos"/>
                <a:cs typeface="Aptos"/>
              </a:defRPr>
            </a:pPr>
            <a:r>
              <a:rPr sz="1425" b="1">
                <a:solidFill>
                  <a:srgbClr val="0B2559"/>
                </a:solidFill>
                <a:latin typeface="Aptos"/>
                <a:ea typeface="Aptos"/>
                <a:cs typeface="Aptos"/>
              </a:rPr>
              <a:t>Prediction Module</a:t>
            </a:r>
          </a:p>
        </p:txBody>
      </p:sp>
      <p:sp>
        <p:nvSpPr>
          <p:cNvPr id="13" name="Rectangle: Rounded Corners 12">
            <a:extLst>
              <a:ext uri="{FF2B5EF4-FFF2-40B4-BE49-F238E27FC236}">
                <a16:creationId xmlns:a16="http://schemas.microsoft.com/office/drawing/2014/main" id="{3E069D05-8187-4238-9960-BC76E23D2C69}"/>
              </a:ext>
            </a:extLst>
          </p:cNvPr>
          <p:cNvSpPr>
            <a:spLocks noGrp="1"/>
          </p:cNvSpPr>
          <p:nvPr/>
        </p:nvSpPr>
        <p:spPr>
          <a:xfrm>
            <a:off x="5095875" y="1952625"/>
            <a:ext cx="1714500" cy="1809750"/>
          </a:xfrm>
          <a:prstGeom prst="roundRect">
            <a:avLst>
              <a:gd name="adj" fmla="val 4444"/>
            </a:avLst>
          </a:prstGeom>
          <a:solidFill>
            <a:srgbClr val="FFFFFF"/>
          </a:solidFill>
          <a:ln w="9525">
            <a:solidFill>
              <a:srgbClr val="D8E8F4"/>
            </a:solidFill>
            <a:prstDash val="solid"/>
          </a:ln>
        </p:spPr>
      </p:sp>
      <p:sp>
        <p:nvSpPr>
          <p:cNvPr id="14" name="Oval 13">
            <a:extLst>
              <a:ext uri="{FF2B5EF4-FFF2-40B4-BE49-F238E27FC236}">
                <a16:creationId xmlns:a16="http://schemas.microsoft.com/office/drawing/2014/main" id="{5B3D052D-700C-4D64-8099-B82AB0E9E999}"/>
              </a:ext>
            </a:extLst>
          </p:cNvPr>
          <p:cNvSpPr>
            <a:spLocks noGrp="1"/>
          </p:cNvSpPr>
          <p:nvPr/>
        </p:nvSpPr>
        <p:spPr>
          <a:xfrm>
            <a:off x="5610225" y="2238375"/>
            <a:ext cx="685800" cy="685800"/>
          </a:xfrm>
          <a:prstGeom prst="ellipse">
            <a:avLst/>
          </a:prstGeom>
          <a:solidFill>
            <a:srgbClr val="EAF6FF"/>
          </a:solidFill>
          <a:ln w="0">
            <a:solidFill>
              <a:srgbClr val="000000">
                <a:alpha val="0"/>
              </a:srgbClr>
            </a:solidFill>
            <a:prstDash val="solid"/>
          </a:ln>
        </p:spPr>
      </p:sp>
      <p:sp>
        <p:nvSpPr>
          <p:cNvPr id="15" name="Rectangle 14">
            <a:extLst>
              <a:ext uri="{FF2B5EF4-FFF2-40B4-BE49-F238E27FC236}">
                <a16:creationId xmlns:a16="http://schemas.microsoft.com/office/drawing/2014/main" id="{90712788-75AA-49DE-A7A8-47B2A0783405}"/>
              </a:ext>
            </a:extLst>
          </p:cNvPr>
          <p:cNvSpPr>
            <a:spLocks noGrp="1"/>
          </p:cNvSpPr>
          <p:nvPr/>
        </p:nvSpPr>
        <p:spPr>
          <a:xfrm>
            <a:off x="5267325" y="3143250"/>
            <a:ext cx="1371600" cy="514350"/>
          </a:xfrm>
          <a:prstGeom prst="rect">
            <a:avLst/>
          </a:prstGeom>
          <a:solidFill>
            <a:srgbClr val="000000">
              <a:alpha val="0"/>
            </a:srgbClr>
          </a:solidFill>
          <a:ln w="0">
            <a:solidFill>
              <a:srgbClr val="000000">
                <a:alpha val="0"/>
              </a:srgbClr>
            </a:solidFill>
            <a:prstDash val="solid"/>
          </a:ln>
        </p:spPr>
        <p:txBody>
          <a:bodyPr/>
          <a:lstStyle/>
          <a:p>
            <a:pPr algn="ctr">
              <a:defRPr sz="1425" b="1">
                <a:solidFill>
                  <a:srgbClr val="0B2559"/>
                </a:solidFill>
                <a:latin typeface="Aptos"/>
                <a:ea typeface="Aptos"/>
                <a:cs typeface="Aptos"/>
              </a:defRPr>
            </a:pPr>
            <a:r>
              <a:rPr sz="1425" b="1">
                <a:solidFill>
                  <a:srgbClr val="0B2559"/>
                </a:solidFill>
                <a:latin typeface="Aptos"/>
                <a:ea typeface="Aptos"/>
                <a:cs typeface="Aptos"/>
              </a:rPr>
              <a:t>Patient Monitoring</a:t>
            </a:r>
          </a:p>
        </p:txBody>
      </p:sp>
      <p:sp>
        <p:nvSpPr>
          <p:cNvPr id="16" name="Rectangle: Rounded Corners 15">
            <a:extLst>
              <a:ext uri="{FF2B5EF4-FFF2-40B4-BE49-F238E27FC236}">
                <a16:creationId xmlns:a16="http://schemas.microsoft.com/office/drawing/2014/main" id="{FB7ADC52-C3FE-4695-9D96-9938A179417E}"/>
              </a:ext>
            </a:extLst>
          </p:cNvPr>
          <p:cNvSpPr>
            <a:spLocks noGrp="1"/>
          </p:cNvSpPr>
          <p:nvPr/>
        </p:nvSpPr>
        <p:spPr>
          <a:xfrm>
            <a:off x="7239000" y="1952625"/>
            <a:ext cx="1714500" cy="1809750"/>
          </a:xfrm>
          <a:prstGeom prst="roundRect">
            <a:avLst>
              <a:gd name="adj" fmla="val 4444"/>
            </a:avLst>
          </a:prstGeom>
          <a:solidFill>
            <a:srgbClr val="FFFFFF"/>
          </a:solidFill>
          <a:ln w="9525">
            <a:solidFill>
              <a:srgbClr val="D8E8F4"/>
            </a:solidFill>
            <a:prstDash val="solid"/>
          </a:ln>
        </p:spPr>
      </p:sp>
      <p:sp>
        <p:nvSpPr>
          <p:cNvPr id="17" name="Oval 16">
            <a:extLst>
              <a:ext uri="{FF2B5EF4-FFF2-40B4-BE49-F238E27FC236}">
                <a16:creationId xmlns:a16="http://schemas.microsoft.com/office/drawing/2014/main" id="{274A2680-521A-4C5B-BF71-5629E8FC5121}"/>
              </a:ext>
            </a:extLst>
          </p:cNvPr>
          <p:cNvSpPr>
            <a:spLocks noGrp="1"/>
          </p:cNvSpPr>
          <p:nvPr/>
        </p:nvSpPr>
        <p:spPr>
          <a:xfrm>
            <a:off x="7753350" y="2238375"/>
            <a:ext cx="685800" cy="685800"/>
          </a:xfrm>
          <a:prstGeom prst="ellipse">
            <a:avLst/>
          </a:prstGeom>
          <a:solidFill>
            <a:srgbClr val="EAF6FF"/>
          </a:solidFill>
          <a:ln w="0">
            <a:solidFill>
              <a:srgbClr val="000000">
                <a:alpha val="0"/>
              </a:srgbClr>
            </a:solidFill>
            <a:prstDash val="solid"/>
          </a:ln>
        </p:spPr>
      </p:sp>
      <p:sp>
        <p:nvSpPr>
          <p:cNvPr id="18" name="Rectangle 17">
            <a:extLst>
              <a:ext uri="{FF2B5EF4-FFF2-40B4-BE49-F238E27FC236}">
                <a16:creationId xmlns:a16="http://schemas.microsoft.com/office/drawing/2014/main" id="{4A3984D1-6A43-4CBE-866C-F340441C38B0}"/>
              </a:ext>
            </a:extLst>
          </p:cNvPr>
          <p:cNvSpPr>
            <a:spLocks noGrp="1"/>
          </p:cNvSpPr>
          <p:nvPr/>
        </p:nvSpPr>
        <p:spPr>
          <a:xfrm>
            <a:off x="7410450" y="3143250"/>
            <a:ext cx="1371600" cy="514350"/>
          </a:xfrm>
          <a:prstGeom prst="rect">
            <a:avLst/>
          </a:prstGeom>
          <a:solidFill>
            <a:srgbClr val="000000">
              <a:alpha val="0"/>
            </a:srgbClr>
          </a:solidFill>
          <a:ln w="0">
            <a:solidFill>
              <a:srgbClr val="000000">
                <a:alpha val="0"/>
              </a:srgbClr>
            </a:solidFill>
            <a:prstDash val="solid"/>
          </a:ln>
        </p:spPr>
        <p:txBody>
          <a:bodyPr/>
          <a:lstStyle/>
          <a:p>
            <a:pPr algn="ctr">
              <a:defRPr sz="1425" b="1">
                <a:solidFill>
                  <a:srgbClr val="0B2559"/>
                </a:solidFill>
                <a:latin typeface="Aptos"/>
                <a:ea typeface="Aptos"/>
                <a:cs typeface="Aptos"/>
              </a:defRPr>
            </a:pPr>
            <a:r>
              <a:rPr sz="1425" b="1">
                <a:solidFill>
                  <a:srgbClr val="0B2559"/>
                </a:solidFill>
                <a:latin typeface="Aptos"/>
                <a:ea typeface="Aptos"/>
                <a:cs typeface="Aptos"/>
              </a:rPr>
              <a:t>Report Analysis</a:t>
            </a:r>
          </a:p>
        </p:txBody>
      </p:sp>
      <p:sp>
        <p:nvSpPr>
          <p:cNvPr id="19" name="Rectangle: Rounded Corners 18">
            <a:extLst>
              <a:ext uri="{FF2B5EF4-FFF2-40B4-BE49-F238E27FC236}">
                <a16:creationId xmlns:a16="http://schemas.microsoft.com/office/drawing/2014/main" id="{55ECA6B6-19BA-4999-82A4-4561600CF699}"/>
              </a:ext>
            </a:extLst>
          </p:cNvPr>
          <p:cNvSpPr>
            <a:spLocks noGrp="1"/>
          </p:cNvSpPr>
          <p:nvPr/>
        </p:nvSpPr>
        <p:spPr>
          <a:xfrm>
            <a:off x="9382125" y="1952625"/>
            <a:ext cx="1714500" cy="1809750"/>
          </a:xfrm>
          <a:prstGeom prst="roundRect">
            <a:avLst>
              <a:gd name="adj" fmla="val 4444"/>
            </a:avLst>
          </a:prstGeom>
          <a:solidFill>
            <a:srgbClr val="FFFFFF"/>
          </a:solidFill>
          <a:ln w="9525">
            <a:solidFill>
              <a:srgbClr val="D8E8F4"/>
            </a:solidFill>
            <a:prstDash val="solid"/>
          </a:ln>
        </p:spPr>
      </p:sp>
      <p:sp>
        <p:nvSpPr>
          <p:cNvPr id="20" name="Oval 19">
            <a:extLst>
              <a:ext uri="{FF2B5EF4-FFF2-40B4-BE49-F238E27FC236}">
                <a16:creationId xmlns:a16="http://schemas.microsoft.com/office/drawing/2014/main" id="{A341D018-F9D8-4AB4-8ED0-1844865B0227}"/>
              </a:ext>
            </a:extLst>
          </p:cNvPr>
          <p:cNvSpPr>
            <a:spLocks noGrp="1"/>
          </p:cNvSpPr>
          <p:nvPr/>
        </p:nvSpPr>
        <p:spPr>
          <a:xfrm>
            <a:off x="9896475" y="2238375"/>
            <a:ext cx="685800" cy="685800"/>
          </a:xfrm>
          <a:prstGeom prst="ellipse">
            <a:avLst/>
          </a:prstGeom>
          <a:solidFill>
            <a:srgbClr val="EAF6FF"/>
          </a:solidFill>
          <a:ln w="0">
            <a:solidFill>
              <a:srgbClr val="000000">
                <a:alpha val="0"/>
              </a:srgbClr>
            </a:solidFill>
            <a:prstDash val="solid"/>
          </a:ln>
        </p:spPr>
      </p:sp>
      <p:sp>
        <p:nvSpPr>
          <p:cNvPr id="21" name="Rectangle 20">
            <a:extLst>
              <a:ext uri="{FF2B5EF4-FFF2-40B4-BE49-F238E27FC236}">
                <a16:creationId xmlns:a16="http://schemas.microsoft.com/office/drawing/2014/main" id="{9AE09ED6-75BE-4704-B1A2-3D09210F4AF0}"/>
              </a:ext>
            </a:extLst>
          </p:cNvPr>
          <p:cNvSpPr>
            <a:spLocks noGrp="1"/>
          </p:cNvSpPr>
          <p:nvPr/>
        </p:nvSpPr>
        <p:spPr>
          <a:xfrm>
            <a:off x="9553575" y="3143250"/>
            <a:ext cx="1371600" cy="514350"/>
          </a:xfrm>
          <a:prstGeom prst="rect">
            <a:avLst/>
          </a:prstGeom>
          <a:solidFill>
            <a:srgbClr val="000000">
              <a:alpha val="0"/>
            </a:srgbClr>
          </a:solidFill>
          <a:ln w="0">
            <a:solidFill>
              <a:srgbClr val="000000">
                <a:alpha val="0"/>
              </a:srgbClr>
            </a:solidFill>
            <a:prstDash val="solid"/>
          </a:ln>
        </p:spPr>
        <p:txBody>
          <a:bodyPr/>
          <a:lstStyle/>
          <a:p>
            <a:pPr algn="ctr">
              <a:defRPr sz="1425" b="1">
                <a:solidFill>
                  <a:srgbClr val="0B2559"/>
                </a:solidFill>
                <a:latin typeface="Aptos"/>
                <a:ea typeface="Aptos"/>
                <a:cs typeface="Aptos"/>
              </a:defRPr>
            </a:pPr>
            <a:r>
              <a:rPr sz="1425" b="1">
                <a:solidFill>
                  <a:srgbClr val="0B2559"/>
                </a:solidFill>
                <a:latin typeface="Aptos"/>
                <a:ea typeface="Aptos"/>
                <a:cs typeface="Aptos"/>
              </a:rPr>
              <a:t>Doctor Advice</a:t>
            </a:r>
          </a:p>
        </p:txBody>
      </p:sp>
      <p:pic>
        <p:nvPicPr>
          <p:cNvPr id="49" name="Graphic 48"/>
          <p:cNvPicPr>
            <a:picLocks noChangeAspect="1"/>
          </p:cNvPicPr>
          <p:nvPr/>
        </p:nvPicPr>
        <p:blipFill>
          <a:blip>
            <a:extLst>
              <a:ext uri="{96DAC541-7B7A-43D3-8B79-37D633B846F1}">
                <asvg:svgBlip xmlns:asvg="http://schemas.microsoft.com/office/drawing/2016/SVG/main" r:embed="rId3"/>
              </a:ext>
            </a:extLst>
          </a:blip>
          <a:stretch/>
        </p:blipFill>
        <p:spPr>
          <a:xfrm>
            <a:off x="1495425" y="2409825"/>
            <a:ext cx="342900" cy="342900"/>
          </a:xfrm>
          <a:prstGeom prst="rect">
            <a:avLst/>
          </a:prstGeom>
        </p:spPr>
      </p:pic>
      <p:pic>
        <p:nvPicPr>
          <p:cNvPr id="50" name="Graphic 49"/>
          <p:cNvPicPr>
            <a:picLocks noChangeAspect="1"/>
          </p:cNvPicPr>
          <p:nvPr/>
        </p:nvPicPr>
        <p:blipFill>
          <a:blip>
            <a:extLst>
              <a:ext uri="{96DAC541-7B7A-43D3-8B79-37D633B846F1}">
                <asvg:svgBlip xmlns:asvg="http://schemas.microsoft.com/office/drawing/2016/SVG/main" r:embed="rId4"/>
              </a:ext>
            </a:extLst>
          </a:blip>
          <a:stretch/>
        </p:blipFill>
        <p:spPr>
          <a:xfrm>
            <a:off x="3638550" y="2409825"/>
            <a:ext cx="342900" cy="342900"/>
          </a:xfrm>
          <a:prstGeom prst="rect">
            <a:avLst/>
          </a:prstGeom>
        </p:spPr>
      </p:pic>
      <p:pic>
        <p:nvPicPr>
          <p:cNvPr id="51" name="Graphic 50"/>
          <p:cNvPicPr>
            <a:picLocks noChangeAspect="1"/>
          </p:cNvPicPr>
          <p:nvPr/>
        </p:nvPicPr>
        <p:blipFill>
          <a:blip>
            <a:extLst>
              <a:ext uri="{96DAC541-7B7A-43D3-8B79-37D633B846F1}">
                <asvg:svgBlip xmlns:asvg="http://schemas.microsoft.com/office/drawing/2016/SVG/main" r:embed="rId5"/>
              </a:ext>
            </a:extLst>
          </a:blip>
          <a:stretch/>
        </p:blipFill>
        <p:spPr>
          <a:xfrm>
            <a:off x="5781675" y="2409825"/>
            <a:ext cx="342900" cy="342900"/>
          </a:xfrm>
          <a:prstGeom prst="rect">
            <a:avLst/>
          </a:prstGeom>
        </p:spPr>
      </p:pic>
      <p:pic>
        <p:nvPicPr>
          <p:cNvPr id="52" name="Graphic 51"/>
          <p:cNvPicPr>
            <a:picLocks noChangeAspect="1"/>
          </p:cNvPicPr>
          <p:nvPr/>
        </p:nvPicPr>
        <p:blipFill>
          <a:blip>
            <a:extLst>
              <a:ext uri="{96DAC541-7B7A-43D3-8B79-37D633B846F1}">
                <asvg:svgBlip xmlns:asvg="http://schemas.microsoft.com/office/drawing/2016/SVG/main" r:embed="rId6"/>
              </a:ext>
            </a:extLst>
          </a:blip>
          <a:stretch/>
        </p:blipFill>
        <p:spPr>
          <a:xfrm>
            <a:off x="7924800" y="2409825"/>
            <a:ext cx="342900" cy="342900"/>
          </a:xfrm>
          <a:prstGeom prst="rect">
            <a:avLst/>
          </a:prstGeom>
        </p:spPr>
      </p:pic>
      <p:pic>
        <p:nvPicPr>
          <p:cNvPr id="53" name="Graphic 52"/>
          <p:cNvPicPr>
            <a:picLocks noChangeAspect="1"/>
          </p:cNvPicPr>
          <p:nvPr/>
        </p:nvPicPr>
        <p:blipFill>
          <a:blip>
            <a:extLst>
              <a:ext uri="{96DAC541-7B7A-43D3-8B79-37D633B846F1}">
                <asvg:svgBlip xmlns:asvg="http://schemas.microsoft.com/office/drawing/2016/SVG/main" r:embed="rId7"/>
              </a:ext>
            </a:extLst>
          </a:blip>
          <a:stretch/>
        </p:blipFill>
        <p:spPr>
          <a:xfrm>
            <a:off x="10067925" y="2409825"/>
            <a:ext cx="342900" cy="342900"/>
          </a:xfrm>
          <a:prstGeom prst="rect">
            <a:avLst/>
          </a:prstGeom>
        </p:spPr>
      </p:pic>
      <p:sp>
        <p:nvSpPr>
          <p:cNvPr id="27" name="Rectangle 26">
            <a:extLst>
              <a:ext uri="{FF2B5EF4-FFF2-40B4-BE49-F238E27FC236}">
                <a16:creationId xmlns:a16="http://schemas.microsoft.com/office/drawing/2014/main" id="{226955ED-CB57-48CC-AF86-378AE22D0969}"/>
              </a:ext>
            </a:extLst>
          </p:cNvPr>
          <p:cNvSpPr>
            <a:spLocks noGrp="1"/>
          </p:cNvSpPr>
          <p:nvPr/>
        </p:nvSpPr>
        <p:spPr>
          <a:xfrm>
            <a:off x="1143000" y="4762500"/>
            <a:ext cx="9906000" cy="342900"/>
          </a:xfrm>
          <a:prstGeom prst="rect">
            <a:avLst/>
          </a:prstGeom>
          <a:solidFill>
            <a:srgbClr val="000000">
              <a:alpha val="0"/>
            </a:srgbClr>
          </a:solidFill>
          <a:ln w="0">
            <a:solidFill>
              <a:srgbClr val="000000">
                <a:alpha val="0"/>
              </a:srgbClr>
            </a:solidFill>
            <a:prstDash val="solid"/>
          </a:ln>
        </p:spPr>
        <p:txBody>
          <a:bodyPr/>
          <a:lstStyle/>
          <a:p>
            <a:pPr algn="ctr">
              <a:defRPr sz="1725" b="1">
                <a:solidFill>
                  <a:srgbClr val="0B6EFD"/>
                </a:solidFill>
                <a:latin typeface="Aptos"/>
                <a:ea typeface="Aptos"/>
                <a:cs typeface="Aptos"/>
              </a:defRPr>
            </a:pPr>
            <a:r>
              <a:rPr sz="1725" b="1">
                <a:solidFill>
                  <a:srgbClr val="0B6EFD"/>
                </a:solidFill>
                <a:latin typeface="Aptos"/>
                <a:ea typeface="Aptos"/>
                <a:cs typeface="Aptos"/>
              </a:rPr>
              <a:t>Each module supports a clear clinical workflow: observe, predict, analyze, and recommend.</a:t>
            </a:r>
          </a:p>
        </p:txBody>
      </p:sp>
    </p:spTree>
    <p:extLst>
      <p:ext uri="{BB962C8B-B14F-4D97-AF65-F5344CB8AC3E}">
        <p14:creationId xmlns:p14="http://schemas.microsoft.com/office/powerpoint/2010/main" val="308859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8090377-E5D4-4A4F-88F0-FD04A405E43A}"/>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162A357E-1504-4D13-B47B-65A6988B008D}"/>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AD3F8A16-C4D2-4DF8-84E7-74C8699D4C69}"/>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16</a:t>
            </a:r>
          </a:p>
        </p:txBody>
      </p:sp>
      <p:sp>
        <p:nvSpPr>
          <p:cNvPr id="5" name="Rectangle 4">
            <a:extLst>
              <a:ext uri="{FF2B5EF4-FFF2-40B4-BE49-F238E27FC236}">
                <a16:creationId xmlns:a16="http://schemas.microsoft.com/office/drawing/2014/main" id="{40EB77D0-3E83-49A4-B69A-9D7743D50215}"/>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Dashboard Screenshot</a:t>
            </a:r>
          </a:p>
        </p:txBody>
      </p:sp>
      <p:sp>
        <p:nvSpPr>
          <p:cNvPr id="6" name="Straight Connector 5">
            <a:extLst>
              <a:ext uri="{FF2B5EF4-FFF2-40B4-BE49-F238E27FC236}">
                <a16:creationId xmlns:a16="http://schemas.microsoft.com/office/drawing/2014/main" id="{5644F9C6-0E4F-4BE8-B303-EB8D1DCC30C4}"/>
              </a:ext>
            </a:extLst>
          </p:cNvPr>
          <p:cNvSpPr>
            <a:spLocks noGrp="1"/>
          </p:cNvSpPr>
          <p:nvPr/>
        </p:nvSpPr>
        <p:spPr>
          <a:xfrm flipV="1">
            <a:off x="552449" y="971551"/>
            <a:ext cx="3518105" cy="19050"/>
          </a:xfrm>
          <a:prstGeom prst="line">
            <a:avLst/>
          </a:prstGeom>
          <a:solidFill>
            <a:srgbClr val="000000">
              <a:alpha val="0"/>
            </a:srgbClr>
          </a:solidFill>
          <a:ln w="28575">
            <a:solidFill>
              <a:srgbClr val="2CB7D5"/>
            </a:solidFill>
            <a:prstDash val="solid"/>
          </a:ln>
        </p:spPr>
      </p:sp>
      <p:sp>
        <p:nvSpPr>
          <p:cNvPr id="12" name="Rectangle 11">
            <a:extLst>
              <a:ext uri="{FF2B5EF4-FFF2-40B4-BE49-F238E27FC236}">
                <a16:creationId xmlns:a16="http://schemas.microsoft.com/office/drawing/2014/main" id="{22A818F0-9529-419B-90B0-6223D83A2B59}"/>
              </a:ext>
            </a:extLst>
          </p:cNvPr>
          <p:cNvSpPr>
            <a:spLocks noGrp="1"/>
          </p:cNvSpPr>
          <p:nvPr/>
        </p:nvSpPr>
        <p:spPr>
          <a:xfrm>
            <a:off x="1409700" y="2533650"/>
            <a:ext cx="952500" cy="342900"/>
          </a:xfrm>
          <a:prstGeom prst="rect">
            <a:avLst/>
          </a:prstGeom>
          <a:solidFill>
            <a:srgbClr val="000000">
              <a:alpha val="0"/>
            </a:srgbClr>
          </a:solidFill>
          <a:ln w="0">
            <a:solidFill>
              <a:srgbClr val="000000">
                <a:alpha val="0"/>
              </a:srgbClr>
            </a:solidFill>
            <a:prstDash val="solid"/>
          </a:ln>
        </p:spPr>
        <p:txBody>
          <a:bodyPr/>
          <a:lstStyle/>
          <a:p>
            <a:pPr algn="l">
              <a:defRPr sz="2550" b="1">
                <a:solidFill>
                  <a:srgbClr val="0B6EFD"/>
                </a:solidFill>
                <a:latin typeface="Aptos"/>
                <a:ea typeface="Aptos"/>
                <a:cs typeface="Aptos"/>
              </a:defRPr>
            </a:pPr>
            <a:endParaRPr sz="2550" b="1" dirty="0">
              <a:solidFill>
                <a:srgbClr val="0B6EFD"/>
              </a:solidFill>
              <a:latin typeface="Aptos"/>
              <a:ea typeface="Aptos"/>
              <a:cs typeface="Aptos"/>
            </a:endParaRPr>
          </a:p>
        </p:txBody>
      </p:sp>
      <p:pic>
        <p:nvPicPr>
          <p:cNvPr id="32" name="Picture 31">
            <a:extLst>
              <a:ext uri="{FF2B5EF4-FFF2-40B4-BE49-F238E27FC236}">
                <a16:creationId xmlns:a16="http://schemas.microsoft.com/office/drawing/2014/main" id="{B0E1FAB7-885E-4F0F-E6CD-5AB41152A20E}"/>
              </a:ext>
            </a:extLst>
          </p:cNvPr>
          <p:cNvPicPr>
            <a:picLocks noChangeAspect="1"/>
          </p:cNvPicPr>
          <p:nvPr/>
        </p:nvPicPr>
        <p:blipFill>
          <a:blip r:embed="rId3">
            <a:extLst>
              <a:ext uri="{28A0092B-C50C-407E-A947-70E740481C1C}">
                <a14:useLocalDpi xmlns:a14="http://schemas.microsoft.com/office/drawing/2010/main" val="0"/>
              </a:ext>
            </a:extLst>
          </a:blip>
          <a:srcRect t="5049"/>
          <a:stretch>
            <a:fillRect/>
          </a:stretch>
        </p:blipFill>
        <p:spPr>
          <a:xfrm>
            <a:off x="1499419" y="1377053"/>
            <a:ext cx="9193161" cy="4637293"/>
          </a:xfrm>
          <a:prstGeom prst="rect">
            <a:avLst/>
          </a:prstGeom>
        </p:spPr>
      </p:pic>
    </p:spTree>
    <p:extLst>
      <p:ext uri="{BB962C8B-B14F-4D97-AF65-F5344CB8AC3E}">
        <p14:creationId xmlns:p14="http://schemas.microsoft.com/office/powerpoint/2010/main" val="241122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FF3BEBEE-3160-499E-8097-B90A220DE4EB}"/>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87B6C7D8-48DA-48C7-A174-DB92BBFD0AEB}"/>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64A4E5C3-BFA9-42A1-8323-1506F61F458E}"/>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17</a:t>
            </a:r>
          </a:p>
        </p:txBody>
      </p:sp>
      <p:sp>
        <p:nvSpPr>
          <p:cNvPr id="5" name="Rectangle 4">
            <a:extLst>
              <a:ext uri="{FF2B5EF4-FFF2-40B4-BE49-F238E27FC236}">
                <a16:creationId xmlns:a16="http://schemas.microsoft.com/office/drawing/2014/main" id="{4FD2A2B4-5EA7-43D2-B062-DD3459F72085}"/>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Prediction Page Screenshot</a:t>
            </a:r>
          </a:p>
        </p:txBody>
      </p:sp>
      <p:sp>
        <p:nvSpPr>
          <p:cNvPr id="6" name="Straight Connector 5">
            <a:extLst>
              <a:ext uri="{FF2B5EF4-FFF2-40B4-BE49-F238E27FC236}">
                <a16:creationId xmlns:a16="http://schemas.microsoft.com/office/drawing/2014/main" id="{D5B58A8C-1634-43B1-9644-AB64C7F9B4AF}"/>
              </a:ext>
            </a:extLst>
          </p:cNvPr>
          <p:cNvSpPr>
            <a:spLocks noGrp="1"/>
          </p:cNvSpPr>
          <p:nvPr/>
        </p:nvSpPr>
        <p:spPr>
          <a:xfrm flipV="1">
            <a:off x="552450" y="981075"/>
            <a:ext cx="4229100" cy="9525"/>
          </a:xfrm>
          <a:prstGeom prst="line">
            <a:avLst/>
          </a:prstGeom>
          <a:solidFill>
            <a:srgbClr val="000000">
              <a:alpha val="0"/>
            </a:srgbClr>
          </a:solidFill>
          <a:ln w="28575">
            <a:solidFill>
              <a:srgbClr val="2CB7D5"/>
            </a:solidFill>
            <a:prstDash val="solid"/>
          </a:ln>
        </p:spPr>
      </p:sp>
      <p:pic>
        <p:nvPicPr>
          <p:cNvPr id="34" name="Picture 33">
            <a:extLst>
              <a:ext uri="{FF2B5EF4-FFF2-40B4-BE49-F238E27FC236}">
                <a16:creationId xmlns:a16="http://schemas.microsoft.com/office/drawing/2014/main" id="{5B89A30D-6A0E-137E-9188-1F9E2C1AEE73}"/>
              </a:ext>
            </a:extLst>
          </p:cNvPr>
          <p:cNvPicPr>
            <a:picLocks noChangeAspect="1"/>
          </p:cNvPicPr>
          <p:nvPr/>
        </p:nvPicPr>
        <p:blipFill>
          <a:blip r:embed="rId3"/>
          <a:srcRect t="4686"/>
          <a:stretch>
            <a:fillRect/>
          </a:stretch>
        </p:blipFill>
        <p:spPr>
          <a:xfrm>
            <a:off x="1696065" y="1559028"/>
            <a:ext cx="8799870" cy="4455856"/>
          </a:xfrm>
          <a:prstGeom prst="rect">
            <a:avLst/>
          </a:prstGeom>
        </p:spPr>
      </p:pic>
    </p:spTree>
    <p:extLst>
      <p:ext uri="{BB962C8B-B14F-4D97-AF65-F5344CB8AC3E}">
        <p14:creationId xmlns:p14="http://schemas.microsoft.com/office/powerpoint/2010/main" val="142530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B30D99C-34DE-4BE7-8D80-5208ACA6E835}"/>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CEA6A728-F54B-4752-A5E2-9D4710963379}"/>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03DC0EFB-1208-4BFC-BEAA-657188D6D7BF}"/>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18</a:t>
            </a:r>
          </a:p>
        </p:txBody>
      </p:sp>
      <p:sp>
        <p:nvSpPr>
          <p:cNvPr id="5" name="Rectangle 4">
            <a:extLst>
              <a:ext uri="{FF2B5EF4-FFF2-40B4-BE49-F238E27FC236}">
                <a16:creationId xmlns:a16="http://schemas.microsoft.com/office/drawing/2014/main" id="{E01F843B-5918-4CB2-AC2B-6FBAAFE7A8B4}"/>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Sample Prediction Result</a:t>
            </a:r>
          </a:p>
        </p:txBody>
      </p:sp>
      <p:sp>
        <p:nvSpPr>
          <p:cNvPr id="6" name="Straight Connector 5">
            <a:extLst>
              <a:ext uri="{FF2B5EF4-FFF2-40B4-BE49-F238E27FC236}">
                <a16:creationId xmlns:a16="http://schemas.microsoft.com/office/drawing/2014/main" id="{6E2C6097-BE14-46AB-84AD-00E8B5880B0B}"/>
              </a:ext>
            </a:extLst>
          </p:cNvPr>
          <p:cNvSpPr>
            <a:spLocks noGrp="1"/>
          </p:cNvSpPr>
          <p:nvPr/>
        </p:nvSpPr>
        <p:spPr>
          <a:xfrm flipV="1">
            <a:off x="552449" y="981075"/>
            <a:ext cx="3960557" cy="9525"/>
          </a:xfrm>
          <a:prstGeom prst="line">
            <a:avLst/>
          </a:prstGeom>
          <a:solidFill>
            <a:srgbClr val="000000">
              <a:alpha val="0"/>
            </a:srgbClr>
          </a:solidFill>
          <a:ln w="28575">
            <a:solidFill>
              <a:srgbClr val="2CB7D5"/>
            </a:solidFill>
            <a:prstDash val="solid"/>
          </a:ln>
        </p:spPr>
      </p:sp>
      <p:pic>
        <p:nvPicPr>
          <p:cNvPr id="25" name="Picture 24">
            <a:extLst>
              <a:ext uri="{FF2B5EF4-FFF2-40B4-BE49-F238E27FC236}">
                <a16:creationId xmlns:a16="http://schemas.microsoft.com/office/drawing/2014/main" id="{AB7E23D2-4E78-A2C7-5586-039D206D738A}"/>
              </a:ext>
            </a:extLst>
          </p:cNvPr>
          <p:cNvPicPr>
            <a:picLocks noChangeAspect="1"/>
          </p:cNvPicPr>
          <p:nvPr/>
        </p:nvPicPr>
        <p:blipFill>
          <a:blip r:embed="rId3">
            <a:extLst>
              <a:ext uri="{28A0092B-C50C-407E-A947-70E740481C1C}">
                <a14:useLocalDpi xmlns:a14="http://schemas.microsoft.com/office/drawing/2010/main" val="0"/>
              </a:ext>
            </a:extLst>
          </a:blip>
          <a:srcRect t="4652"/>
          <a:stretch>
            <a:fillRect/>
          </a:stretch>
        </p:blipFill>
        <p:spPr>
          <a:xfrm>
            <a:off x="1548580" y="1437968"/>
            <a:ext cx="9094839" cy="4606873"/>
          </a:xfrm>
          <a:prstGeom prst="rect">
            <a:avLst/>
          </a:prstGeom>
        </p:spPr>
      </p:pic>
    </p:spTree>
    <p:extLst>
      <p:ext uri="{BB962C8B-B14F-4D97-AF65-F5344CB8AC3E}">
        <p14:creationId xmlns:p14="http://schemas.microsoft.com/office/powerpoint/2010/main" val="498600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071AC6-F1BE-411D-B6BC-1321A2B2A688}"/>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CECAAE23-FCB3-4148-97CA-92403A5B8841}"/>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4A3AC782-FBE7-49A5-A5A3-8088AAD9F529}"/>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19</a:t>
            </a:r>
          </a:p>
        </p:txBody>
      </p:sp>
      <p:sp>
        <p:nvSpPr>
          <p:cNvPr id="5" name="Rectangle 4">
            <a:extLst>
              <a:ext uri="{FF2B5EF4-FFF2-40B4-BE49-F238E27FC236}">
                <a16:creationId xmlns:a16="http://schemas.microsoft.com/office/drawing/2014/main" id="{8C70D143-C97F-4EEB-81D2-65A442AB5EEE}"/>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Results and Discussion</a:t>
            </a:r>
          </a:p>
        </p:txBody>
      </p:sp>
      <p:sp>
        <p:nvSpPr>
          <p:cNvPr id="6" name="Straight Connector 5">
            <a:extLst>
              <a:ext uri="{FF2B5EF4-FFF2-40B4-BE49-F238E27FC236}">
                <a16:creationId xmlns:a16="http://schemas.microsoft.com/office/drawing/2014/main" id="{21910646-464D-44D2-A585-0E51CCBECFE0}"/>
              </a:ext>
            </a:extLst>
          </p:cNvPr>
          <p:cNvSpPr>
            <a:spLocks noGrp="1"/>
          </p:cNvSpPr>
          <p:nvPr/>
        </p:nvSpPr>
        <p:spPr>
          <a:xfrm>
            <a:off x="552449" y="990601"/>
            <a:ext cx="3616427" cy="0"/>
          </a:xfrm>
          <a:prstGeom prst="line">
            <a:avLst/>
          </a:prstGeom>
          <a:solidFill>
            <a:srgbClr val="000000">
              <a:alpha val="0"/>
            </a:srgbClr>
          </a:solidFill>
          <a:ln w="28575">
            <a:solidFill>
              <a:srgbClr val="2CB7D5"/>
            </a:solidFill>
            <a:prstDash val="solid"/>
          </a:ln>
        </p:spPr>
      </p:sp>
      <p:graphicFrame>
        <p:nvGraphicFramePr>
          <p:cNvPr id="23" name="Chart"/>
          <p:cNvGraphicFramePr/>
          <p:nvPr/>
        </p:nvGraphicFramePr>
        <p:xfrm>
          <a:off x="904875" y="1428750"/>
          <a:ext cx="55245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8" name="Oval 7">
            <a:extLst>
              <a:ext uri="{FF2B5EF4-FFF2-40B4-BE49-F238E27FC236}">
                <a16:creationId xmlns:a16="http://schemas.microsoft.com/office/drawing/2014/main" id="{8E026B7F-2E1A-4562-97E2-CDA6D7546B57}"/>
              </a:ext>
            </a:extLst>
          </p:cNvPr>
          <p:cNvSpPr>
            <a:spLocks noGrp="1"/>
          </p:cNvSpPr>
          <p:nvPr/>
        </p:nvSpPr>
        <p:spPr>
          <a:xfrm>
            <a:off x="7096125" y="1743075"/>
            <a:ext cx="133350" cy="133350"/>
          </a:xfrm>
          <a:prstGeom prst="ellipse">
            <a:avLst/>
          </a:prstGeom>
          <a:solidFill>
            <a:srgbClr val="0B6EFD"/>
          </a:solidFill>
          <a:ln w="0">
            <a:solidFill>
              <a:srgbClr val="000000">
                <a:alpha val="0"/>
              </a:srgbClr>
            </a:solidFill>
            <a:prstDash val="solid"/>
          </a:ln>
        </p:spPr>
      </p:sp>
      <p:sp>
        <p:nvSpPr>
          <p:cNvPr id="9" name="Rectangle 8">
            <a:extLst>
              <a:ext uri="{FF2B5EF4-FFF2-40B4-BE49-F238E27FC236}">
                <a16:creationId xmlns:a16="http://schemas.microsoft.com/office/drawing/2014/main" id="{88C93B97-8895-4FF0-A356-FCAA96E9FAF5}"/>
              </a:ext>
            </a:extLst>
          </p:cNvPr>
          <p:cNvSpPr>
            <a:spLocks noGrp="1"/>
          </p:cNvSpPr>
          <p:nvPr/>
        </p:nvSpPr>
        <p:spPr>
          <a:xfrm>
            <a:off x="7362825" y="1666875"/>
            <a:ext cx="3733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Accurate risk prediction</a:t>
            </a:r>
          </a:p>
        </p:txBody>
      </p:sp>
      <p:sp>
        <p:nvSpPr>
          <p:cNvPr id="10" name="Oval 9">
            <a:extLst>
              <a:ext uri="{FF2B5EF4-FFF2-40B4-BE49-F238E27FC236}">
                <a16:creationId xmlns:a16="http://schemas.microsoft.com/office/drawing/2014/main" id="{C10077F2-F7EC-46FA-B64C-4A940212D8B6}"/>
              </a:ext>
            </a:extLst>
          </p:cNvPr>
          <p:cNvSpPr>
            <a:spLocks noGrp="1"/>
          </p:cNvSpPr>
          <p:nvPr/>
        </p:nvSpPr>
        <p:spPr>
          <a:xfrm>
            <a:off x="7096125" y="2295525"/>
            <a:ext cx="133350" cy="133350"/>
          </a:xfrm>
          <a:prstGeom prst="ellipse">
            <a:avLst/>
          </a:prstGeom>
          <a:solidFill>
            <a:srgbClr val="0B6EFD"/>
          </a:solidFill>
          <a:ln w="0">
            <a:solidFill>
              <a:srgbClr val="000000">
                <a:alpha val="0"/>
              </a:srgbClr>
            </a:solidFill>
            <a:prstDash val="solid"/>
          </a:ln>
        </p:spPr>
      </p:sp>
      <p:sp>
        <p:nvSpPr>
          <p:cNvPr id="11" name="Rectangle 10">
            <a:extLst>
              <a:ext uri="{FF2B5EF4-FFF2-40B4-BE49-F238E27FC236}">
                <a16:creationId xmlns:a16="http://schemas.microsoft.com/office/drawing/2014/main" id="{42BB1EC7-C354-4A92-8FA7-AA2151027E58}"/>
              </a:ext>
            </a:extLst>
          </p:cNvPr>
          <p:cNvSpPr>
            <a:spLocks noGrp="1"/>
          </p:cNvSpPr>
          <p:nvPr/>
        </p:nvSpPr>
        <p:spPr>
          <a:xfrm>
            <a:off x="7362825" y="2219325"/>
            <a:ext cx="3733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Improved clinical decision support</a:t>
            </a:r>
          </a:p>
        </p:txBody>
      </p:sp>
      <p:sp>
        <p:nvSpPr>
          <p:cNvPr id="12" name="Oval 11">
            <a:extLst>
              <a:ext uri="{FF2B5EF4-FFF2-40B4-BE49-F238E27FC236}">
                <a16:creationId xmlns:a16="http://schemas.microsoft.com/office/drawing/2014/main" id="{FEC29686-066A-44E8-AF87-4AE34CB3C9C7}"/>
              </a:ext>
            </a:extLst>
          </p:cNvPr>
          <p:cNvSpPr>
            <a:spLocks noGrp="1"/>
          </p:cNvSpPr>
          <p:nvPr/>
        </p:nvSpPr>
        <p:spPr>
          <a:xfrm>
            <a:off x="7096125" y="2847975"/>
            <a:ext cx="133350" cy="133350"/>
          </a:xfrm>
          <a:prstGeom prst="ellipse">
            <a:avLst/>
          </a:prstGeom>
          <a:solidFill>
            <a:srgbClr val="0B6EFD"/>
          </a:solidFill>
          <a:ln w="0">
            <a:solidFill>
              <a:srgbClr val="000000">
                <a:alpha val="0"/>
              </a:srgbClr>
            </a:solidFill>
            <a:prstDash val="solid"/>
          </a:ln>
        </p:spPr>
      </p:sp>
      <p:sp>
        <p:nvSpPr>
          <p:cNvPr id="13" name="Rectangle 12">
            <a:extLst>
              <a:ext uri="{FF2B5EF4-FFF2-40B4-BE49-F238E27FC236}">
                <a16:creationId xmlns:a16="http://schemas.microsoft.com/office/drawing/2014/main" id="{4A2C7FE9-C8B2-4BEE-9F6D-2F9AB579A85B}"/>
              </a:ext>
            </a:extLst>
          </p:cNvPr>
          <p:cNvSpPr>
            <a:spLocks noGrp="1"/>
          </p:cNvSpPr>
          <p:nvPr/>
        </p:nvSpPr>
        <p:spPr>
          <a:xfrm>
            <a:off x="7362825" y="2771775"/>
            <a:ext cx="3733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Better patient monitoring</a:t>
            </a:r>
          </a:p>
        </p:txBody>
      </p:sp>
      <p:sp>
        <p:nvSpPr>
          <p:cNvPr id="14" name="Oval 13">
            <a:extLst>
              <a:ext uri="{FF2B5EF4-FFF2-40B4-BE49-F238E27FC236}">
                <a16:creationId xmlns:a16="http://schemas.microsoft.com/office/drawing/2014/main" id="{524CEC25-D096-4857-8A14-F7EDFEE7380A}"/>
              </a:ext>
            </a:extLst>
          </p:cNvPr>
          <p:cNvSpPr>
            <a:spLocks noGrp="1"/>
          </p:cNvSpPr>
          <p:nvPr/>
        </p:nvSpPr>
        <p:spPr>
          <a:xfrm>
            <a:off x="7096125" y="3400425"/>
            <a:ext cx="133350" cy="133350"/>
          </a:xfrm>
          <a:prstGeom prst="ellipse">
            <a:avLst/>
          </a:prstGeom>
          <a:solidFill>
            <a:srgbClr val="0B6EFD"/>
          </a:solidFill>
          <a:ln w="0">
            <a:solidFill>
              <a:srgbClr val="000000">
                <a:alpha val="0"/>
              </a:srgbClr>
            </a:solidFill>
            <a:prstDash val="solid"/>
          </a:ln>
        </p:spPr>
      </p:sp>
      <p:sp>
        <p:nvSpPr>
          <p:cNvPr id="15" name="Rectangle 14">
            <a:extLst>
              <a:ext uri="{FF2B5EF4-FFF2-40B4-BE49-F238E27FC236}">
                <a16:creationId xmlns:a16="http://schemas.microsoft.com/office/drawing/2014/main" id="{E41FB590-0DCD-4A76-B59E-14EC9F1E1948}"/>
              </a:ext>
            </a:extLst>
          </p:cNvPr>
          <p:cNvSpPr>
            <a:spLocks noGrp="1"/>
          </p:cNvSpPr>
          <p:nvPr/>
        </p:nvSpPr>
        <p:spPr>
          <a:xfrm>
            <a:off x="7362825" y="3324225"/>
            <a:ext cx="3733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Reduced readmission risk through early action</a:t>
            </a:r>
          </a:p>
        </p:txBody>
      </p:sp>
      <p:sp>
        <p:nvSpPr>
          <p:cNvPr id="16" name="Rectangle 15">
            <a:extLst>
              <a:ext uri="{FF2B5EF4-FFF2-40B4-BE49-F238E27FC236}">
                <a16:creationId xmlns:a16="http://schemas.microsoft.com/office/drawing/2014/main" id="{CE216188-598E-4FC8-ABA5-3733CBD325F3}"/>
              </a:ext>
            </a:extLst>
          </p:cNvPr>
          <p:cNvSpPr>
            <a:spLocks noGrp="1"/>
          </p:cNvSpPr>
          <p:nvPr/>
        </p:nvSpPr>
        <p:spPr>
          <a:xfrm>
            <a:off x="1143000" y="5048250"/>
            <a:ext cx="9906000" cy="400050"/>
          </a:xfrm>
          <a:prstGeom prst="rect">
            <a:avLst/>
          </a:prstGeom>
          <a:solidFill>
            <a:srgbClr val="000000">
              <a:alpha val="0"/>
            </a:srgbClr>
          </a:solidFill>
          <a:ln w="0">
            <a:solidFill>
              <a:srgbClr val="000000">
                <a:alpha val="0"/>
              </a:srgbClr>
            </a:solidFill>
            <a:prstDash val="solid"/>
          </a:ln>
        </p:spPr>
        <p:txBody>
          <a:bodyPr/>
          <a:lstStyle/>
          <a:p>
            <a:pPr algn="ctr">
              <a:defRPr sz="1575" b="1">
                <a:solidFill>
                  <a:srgbClr val="0B2559"/>
                </a:solidFill>
                <a:latin typeface="Aptos"/>
                <a:ea typeface="Aptos"/>
                <a:cs typeface="Aptos"/>
              </a:defRPr>
            </a:pPr>
            <a:r>
              <a:rPr sz="1575" b="1">
                <a:solidFill>
                  <a:srgbClr val="0B2559"/>
                </a:solidFill>
                <a:latin typeface="Aptos"/>
                <a:ea typeface="Aptos"/>
                <a:cs typeface="Aptos"/>
              </a:rPr>
              <a:t>Discussion: the system is strongest as a preventive screening assistant, not as a replacement for clinical judgement.</a:t>
            </a:r>
          </a:p>
        </p:txBody>
      </p:sp>
    </p:spTree>
    <p:extLst>
      <p:ext uri="{BB962C8B-B14F-4D97-AF65-F5344CB8AC3E}">
        <p14:creationId xmlns:p14="http://schemas.microsoft.com/office/powerpoint/2010/main" val="1077258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9316323-32ED-4AB1-B2DC-DFDEE7BF6BC3}"/>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9DAFB594-54FB-4B13-B19C-3DF44382A81D}"/>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572C6F27-3F14-4D03-A942-FE986CC73B29}"/>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20</a:t>
            </a:r>
          </a:p>
        </p:txBody>
      </p:sp>
      <p:sp>
        <p:nvSpPr>
          <p:cNvPr id="5" name="Rectangle 4">
            <a:extLst>
              <a:ext uri="{FF2B5EF4-FFF2-40B4-BE49-F238E27FC236}">
                <a16:creationId xmlns:a16="http://schemas.microsoft.com/office/drawing/2014/main" id="{65B3E68D-BB6E-4A9A-AC0E-70F9CCB31366}"/>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Advantages</a:t>
            </a:r>
          </a:p>
        </p:txBody>
      </p:sp>
      <p:sp>
        <p:nvSpPr>
          <p:cNvPr id="6" name="Straight Connector 5">
            <a:extLst>
              <a:ext uri="{FF2B5EF4-FFF2-40B4-BE49-F238E27FC236}">
                <a16:creationId xmlns:a16="http://schemas.microsoft.com/office/drawing/2014/main" id="{2D4DAACA-16DB-43E8-ABAB-7EEF1FEBD42C}"/>
              </a:ext>
            </a:extLst>
          </p:cNvPr>
          <p:cNvSpPr>
            <a:spLocks noGrp="1"/>
          </p:cNvSpPr>
          <p:nvPr/>
        </p:nvSpPr>
        <p:spPr>
          <a:xfrm flipV="1">
            <a:off x="552450" y="971551"/>
            <a:ext cx="1944944" cy="19050"/>
          </a:xfrm>
          <a:prstGeom prst="line">
            <a:avLst/>
          </a:prstGeom>
          <a:solidFill>
            <a:srgbClr val="000000">
              <a:alpha val="0"/>
            </a:srgbClr>
          </a:solidFill>
          <a:ln w="28575">
            <a:solidFill>
              <a:srgbClr val="2CB7D5"/>
            </a:solidFill>
            <a:prstDash val="solid"/>
          </a:ln>
        </p:spPr>
      </p:sp>
      <p:sp>
        <p:nvSpPr>
          <p:cNvPr id="7" name="Oval 6">
            <a:extLst>
              <a:ext uri="{FF2B5EF4-FFF2-40B4-BE49-F238E27FC236}">
                <a16:creationId xmlns:a16="http://schemas.microsoft.com/office/drawing/2014/main" id="{8E5846AB-19A3-4430-A33A-C1D35C5A951B}"/>
              </a:ext>
            </a:extLst>
          </p:cNvPr>
          <p:cNvSpPr>
            <a:spLocks noGrp="1"/>
          </p:cNvSpPr>
          <p:nvPr/>
        </p:nvSpPr>
        <p:spPr>
          <a:xfrm>
            <a:off x="1285875" y="1809750"/>
            <a:ext cx="1047750" cy="1047750"/>
          </a:xfrm>
          <a:prstGeom prst="ellipse">
            <a:avLst/>
          </a:prstGeom>
          <a:solidFill>
            <a:srgbClr val="EAF6FF"/>
          </a:solidFill>
          <a:ln w="0">
            <a:solidFill>
              <a:srgbClr val="000000">
                <a:alpha val="0"/>
              </a:srgbClr>
            </a:solidFill>
            <a:prstDash val="solid"/>
          </a:ln>
        </p:spPr>
      </p:sp>
      <p:sp>
        <p:nvSpPr>
          <p:cNvPr id="8" name="Rectangle 7">
            <a:extLst>
              <a:ext uri="{FF2B5EF4-FFF2-40B4-BE49-F238E27FC236}">
                <a16:creationId xmlns:a16="http://schemas.microsoft.com/office/drawing/2014/main" id="{D7BA9201-2C7C-4040-B0E5-C72989C52CF5}"/>
              </a:ext>
            </a:extLst>
          </p:cNvPr>
          <p:cNvSpPr>
            <a:spLocks noGrp="1"/>
          </p:cNvSpPr>
          <p:nvPr/>
        </p:nvSpPr>
        <p:spPr>
          <a:xfrm>
            <a:off x="952500" y="3143250"/>
            <a:ext cx="1714500" cy="4953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Early Detection</a:t>
            </a:r>
          </a:p>
        </p:txBody>
      </p:sp>
      <p:sp>
        <p:nvSpPr>
          <p:cNvPr id="9" name="Oval 8">
            <a:extLst>
              <a:ext uri="{FF2B5EF4-FFF2-40B4-BE49-F238E27FC236}">
                <a16:creationId xmlns:a16="http://schemas.microsoft.com/office/drawing/2014/main" id="{D4CF9E27-77DD-49D9-80D3-B53AEFE8DAB3}"/>
              </a:ext>
            </a:extLst>
          </p:cNvPr>
          <p:cNvSpPr>
            <a:spLocks noGrp="1"/>
          </p:cNvSpPr>
          <p:nvPr/>
        </p:nvSpPr>
        <p:spPr>
          <a:xfrm>
            <a:off x="3381375" y="1809750"/>
            <a:ext cx="1047750" cy="1047750"/>
          </a:xfrm>
          <a:prstGeom prst="ellipse">
            <a:avLst/>
          </a:prstGeom>
          <a:solidFill>
            <a:srgbClr val="EAF6FF"/>
          </a:solidFill>
          <a:ln w="0">
            <a:solidFill>
              <a:srgbClr val="000000">
                <a:alpha val="0"/>
              </a:srgbClr>
            </a:solidFill>
            <a:prstDash val="solid"/>
          </a:ln>
        </p:spPr>
      </p:sp>
      <p:sp>
        <p:nvSpPr>
          <p:cNvPr id="10" name="Rectangle 9">
            <a:extLst>
              <a:ext uri="{FF2B5EF4-FFF2-40B4-BE49-F238E27FC236}">
                <a16:creationId xmlns:a16="http://schemas.microsoft.com/office/drawing/2014/main" id="{43A4C84F-8ADF-480F-B9AA-6AD549A72ECB}"/>
              </a:ext>
            </a:extLst>
          </p:cNvPr>
          <p:cNvSpPr>
            <a:spLocks noGrp="1"/>
          </p:cNvSpPr>
          <p:nvPr/>
        </p:nvSpPr>
        <p:spPr>
          <a:xfrm>
            <a:off x="3048000" y="3143250"/>
            <a:ext cx="1714500" cy="4953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Fast Prediction</a:t>
            </a:r>
          </a:p>
        </p:txBody>
      </p:sp>
      <p:sp>
        <p:nvSpPr>
          <p:cNvPr id="11" name="Oval 10">
            <a:extLst>
              <a:ext uri="{FF2B5EF4-FFF2-40B4-BE49-F238E27FC236}">
                <a16:creationId xmlns:a16="http://schemas.microsoft.com/office/drawing/2014/main" id="{E3E36D6C-ACA2-4100-B526-814CCB819954}"/>
              </a:ext>
            </a:extLst>
          </p:cNvPr>
          <p:cNvSpPr>
            <a:spLocks noGrp="1"/>
          </p:cNvSpPr>
          <p:nvPr/>
        </p:nvSpPr>
        <p:spPr>
          <a:xfrm>
            <a:off x="5476875" y="1809750"/>
            <a:ext cx="1047750" cy="1047750"/>
          </a:xfrm>
          <a:prstGeom prst="ellipse">
            <a:avLst/>
          </a:prstGeom>
          <a:solidFill>
            <a:srgbClr val="EAF6FF"/>
          </a:solidFill>
          <a:ln w="0">
            <a:solidFill>
              <a:srgbClr val="000000">
                <a:alpha val="0"/>
              </a:srgbClr>
            </a:solidFill>
            <a:prstDash val="solid"/>
          </a:ln>
        </p:spPr>
      </p:sp>
      <p:sp>
        <p:nvSpPr>
          <p:cNvPr id="12" name="Rectangle 11">
            <a:extLst>
              <a:ext uri="{FF2B5EF4-FFF2-40B4-BE49-F238E27FC236}">
                <a16:creationId xmlns:a16="http://schemas.microsoft.com/office/drawing/2014/main" id="{6531DCE1-2E3F-45C8-AB63-77E95DE169F4}"/>
              </a:ext>
            </a:extLst>
          </p:cNvPr>
          <p:cNvSpPr>
            <a:spLocks noGrp="1"/>
          </p:cNvSpPr>
          <p:nvPr/>
        </p:nvSpPr>
        <p:spPr>
          <a:xfrm>
            <a:off x="5143500" y="3143250"/>
            <a:ext cx="1714500" cy="4953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Data-Driven Decisions</a:t>
            </a:r>
          </a:p>
        </p:txBody>
      </p:sp>
      <p:sp>
        <p:nvSpPr>
          <p:cNvPr id="13" name="Oval 12">
            <a:extLst>
              <a:ext uri="{FF2B5EF4-FFF2-40B4-BE49-F238E27FC236}">
                <a16:creationId xmlns:a16="http://schemas.microsoft.com/office/drawing/2014/main" id="{3F31A3D8-5784-4B8E-98C6-EEF8294FF7AA}"/>
              </a:ext>
            </a:extLst>
          </p:cNvPr>
          <p:cNvSpPr>
            <a:spLocks noGrp="1"/>
          </p:cNvSpPr>
          <p:nvPr/>
        </p:nvSpPr>
        <p:spPr>
          <a:xfrm>
            <a:off x="7572375" y="1809750"/>
            <a:ext cx="1047750" cy="1047750"/>
          </a:xfrm>
          <a:prstGeom prst="ellipse">
            <a:avLst/>
          </a:prstGeom>
          <a:solidFill>
            <a:srgbClr val="EAF6FF"/>
          </a:solidFill>
          <a:ln w="0">
            <a:solidFill>
              <a:srgbClr val="000000">
                <a:alpha val="0"/>
              </a:srgbClr>
            </a:solidFill>
            <a:prstDash val="solid"/>
          </a:ln>
        </p:spPr>
      </p:sp>
      <p:sp>
        <p:nvSpPr>
          <p:cNvPr id="14" name="Rectangle 13">
            <a:extLst>
              <a:ext uri="{FF2B5EF4-FFF2-40B4-BE49-F238E27FC236}">
                <a16:creationId xmlns:a16="http://schemas.microsoft.com/office/drawing/2014/main" id="{97C4F521-A4A7-45F8-8385-558CB58D2DD0}"/>
              </a:ext>
            </a:extLst>
          </p:cNvPr>
          <p:cNvSpPr>
            <a:spLocks noGrp="1"/>
          </p:cNvSpPr>
          <p:nvPr/>
        </p:nvSpPr>
        <p:spPr>
          <a:xfrm>
            <a:off x="7239000" y="3143250"/>
            <a:ext cx="1714500" cy="4953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Improved Healthcare</a:t>
            </a:r>
          </a:p>
        </p:txBody>
      </p:sp>
      <p:sp>
        <p:nvSpPr>
          <p:cNvPr id="15" name="Oval 14">
            <a:extLst>
              <a:ext uri="{FF2B5EF4-FFF2-40B4-BE49-F238E27FC236}">
                <a16:creationId xmlns:a16="http://schemas.microsoft.com/office/drawing/2014/main" id="{F81A151E-D3DB-420B-B8AE-582791F0B47C}"/>
              </a:ext>
            </a:extLst>
          </p:cNvPr>
          <p:cNvSpPr>
            <a:spLocks noGrp="1"/>
          </p:cNvSpPr>
          <p:nvPr/>
        </p:nvSpPr>
        <p:spPr>
          <a:xfrm>
            <a:off x="9667875" y="1809750"/>
            <a:ext cx="1047750" cy="1047750"/>
          </a:xfrm>
          <a:prstGeom prst="ellipse">
            <a:avLst/>
          </a:prstGeom>
          <a:solidFill>
            <a:srgbClr val="EAF6FF"/>
          </a:solidFill>
          <a:ln w="0">
            <a:solidFill>
              <a:srgbClr val="000000">
                <a:alpha val="0"/>
              </a:srgbClr>
            </a:solidFill>
            <a:prstDash val="solid"/>
          </a:ln>
        </p:spPr>
      </p:sp>
      <p:sp>
        <p:nvSpPr>
          <p:cNvPr id="16" name="Rectangle 15">
            <a:extLst>
              <a:ext uri="{FF2B5EF4-FFF2-40B4-BE49-F238E27FC236}">
                <a16:creationId xmlns:a16="http://schemas.microsoft.com/office/drawing/2014/main" id="{34CD9CF3-52C5-4B57-907C-B20579C86E8C}"/>
              </a:ext>
            </a:extLst>
          </p:cNvPr>
          <p:cNvSpPr>
            <a:spLocks noGrp="1"/>
          </p:cNvSpPr>
          <p:nvPr/>
        </p:nvSpPr>
        <p:spPr>
          <a:xfrm>
            <a:off x="9334500" y="3143250"/>
            <a:ext cx="1714500" cy="495300"/>
          </a:xfrm>
          <a:prstGeom prst="rect">
            <a:avLst/>
          </a:prstGeom>
          <a:solidFill>
            <a:srgbClr val="000000">
              <a:alpha val="0"/>
            </a:srgbClr>
          </a:solidFill>
          <a:ln w="0">
            <a:solidFill>
              <a:srgbClr val="000000">
                <a:alpha val="0"/>
              </a:srgbClr>
            </a:solidFill>
            <a:prstDash val="solid"/>
          </a:ln>
        </p:spPr>
        <p:txBody>
          <a:bodyPr/>
          <a:lstStyle/>
          <a:p>
            <a:pPr algn="ctr">
              <a:defRPr sz="1650" b="1">
                <a:solidFill>
                  <a:srgbClr val="0B2559"/>
                </a:solidFill>
                <a:latin typeface="Aptos"/>
                <a:ea typeface="Aptos"/>
                <a:cs typeface="Aptos"/>
              </a:defRPr>
            </a:pPr>
            <a:r>
              <a:rPr sz="1650" b="1">
                <a:solidFill>
                  <a:srgbClr val="0B2559"/>
                </a:solidFill>
                <a:latin typeface="Aptos"/>
                <a:ea typeface="Aptos"/>
                <a:cs typeface="Aptos"/>
              </a:rPr>
              <a:t>Scalable Solution</a:t>
            </a:r>
          </a:p>
        </p:txBody>
      </p:sp>
      <p:pic>
        <p:nvPicPr>
          <p:cNvPr id="38" name="Graphic 37"/>
          <p:cNvPicPr>
            <a:picLocks noChangeAspect="1"/>
          </p:cNvPicPr>
          <p:nvPr/>
        </p:nvPicPr>
        <p:blipFill>
          <a:blip>
            <a:extLst>
              <a:ext uri="{96DAC541-7B7A-43D3-8B79-37D633B846F1}">
                <asvg:svgBlip xmlns:asvg="http://schemas.microsoft.com/office/drawing/2016/SVG/main" r:embed="rId3"/>
              </a:ext>
            </a:extLst>
          </a:blip>
          <a:stretch/>
        </p:blipFill>
        <p:spPr>
          <a:xfrm>
            <a:off x="1590675" y="2114550"/>
            <a:ext cx="438150" cy="438150"/>
          </a:xfrm>
          <a:prstGeom prst="rect">
            <a:avLst/>
          </a:prstGeom>
        </p:spPr>
      </p:pic>
      <p:pic>
        <p:nvPicPr>
          <p:cNvPr id="39" name="Graphic 38"/>
          <p:cNvPicPr>
            <a:picLocks noChangeAspect="1"/>
          </p:cNvPicPr>
          <p:nvPr/>
        </p:nvPicPr>
        <p:blipFill>
          <a:blip>
            <a:extLst>
              <a:ext uri="{96DAC541-7B7A-43D3-8B79-37D633B846F1}">
                <asvg:svgBlip xmlns:asvg="http://schemas.microsoft.com/office/drawing/2016/SVG/main" r:embed="rId4"/>
              </a:ext>
            </a:extLst>
          </a:blip>
          <a:stretch/>
        </p:blipFill>
        <p:spPr>
          <a:xfrm>
            <a:off x="3686175" y="2114550"/>
            <a:ext cx="438150" cy="438150"/>
          </a:xfrm>
          <a:prstGeom prst="rect">
            <a:avLst/>
          </a:prstGeom>
        </p:spPr>
      </p:pic>
      <p:pic>
        <p:nvPicPr>
          <p:cNvPr id="40" name="Graphic 39"/>
          <p:cNvPicPr>
            <a:picLocks noChangeAspect="1"/>
          </p:cNvPicPr>
          <p:nvPr/>
        </p:nvPicPr>
        <p:blipFill>
          <a:blip>
            <a:extLst>
              <a:ext uri="{96DAC541-7B7A-43D3-8B79-37D633B846F1}">
                <asvg:svgBlip xmlns:asvg="http://schemas.microsoft.com/office/drawing/2016/SVG/main" r:embed="rId5"/>
              </a:ext>
            </a:extLst>
          </a:blip>
          <a:stretch/>
        </p:blipFill>
        <p:spPr>
          <a:xfrm>
            <a:off x="5781675" y="2114550"/>
            <a:ext cx="438150" cy="438150"/>
          </a:xfrm>
          <a:prstGeom prst="rect">
            <a:avLst/>
          </a:prstGeom>
        </p:spPr>
      </p:pic>
      <p:pic>
        <p:nvPicPr>
          <p:cNvPr id="41" name="Graphic 40"/>
          <p:cNvPicPr>
            <a:picLocks noChangeAspect="1"/>
          </p:cNvPicPr>
          <p:nvPr/>
        </p:nvPicPr>
        <p:blipFill>
          <a:blip>
            <a:extLst>
              <a:ext uri="{96DAC541-7B7A-43D3-8B79-37D633B846F1}">
                <asvg:svgBlip xmlns:asvg="http://schemas.microsoft.com/office/drawing/2016/SVG/main" r:embed="rId6"/>
              </a:ext>
            </a:extLst>
          </a:blip>
          <a:stretch/>
        </p:blipFill>
        <p:spPr>
          <a:xfrm>
            <a:off x="7877175" y="2114550"/>
            <a:ext cx="438150" cy="438150"/>
          </a:xfrm>
          <a:prstGeom prst="rect">
            <a:avLst/>
          </a:prstGeom>
        </p:spPr>
      </p:pic>
      <p:pic>
        <p:nvPicPr>
          <p:cNvPr id="42" name="Graphic 41"/>
          <p:cNvPicPr>
            <a:picLocks noChangeAspect="1"/>
          </p:cNvPicPr>
          <p:nvPr/>
        </p:nvPicPr>
        <p:blipFill>
          <a:blip>
            <a:extLst>
              <a:ext uri="{96DAC541-7B7A-43D3-8B79-37D633B846F1}">
                <asvg:svgBlip xmlns:asvg="http://schemas.microsoft.com/office/drawing/2016/SVG/main" r:embed="rId7"/>
              </a:ext>
            </a:extLst>
          </a:blip>
          <a:stretch/>
        </p:blipFill>
        <p:spPr>
          <a:xfrm>
            <a:off x="9972675" y="2114550"/>
            <a:ext cx="438150" cy="438150"/>
          </a:xfrm>
          <a:prstGeom prst="rect">
            <a:avLst/>
          </a:prstGeom>
        </p:spPr>
      </p:pic>
    </p:spTree>
    <p:extLst>
      <p:ext uri="{BB962C8B-B14F-4D97-AF65-F5344CB8AC3E}">
        <p14:creationId xmlns:p14="http://schemas.microsoft.com/office/powerpoint/2010/main" val="210194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08FEDB4-9614-4B29-956F-DDD561EBAA5F}"/>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AA628402-F4E2-4901-8A9B-201E9CF26EEE}"/>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CE7E781B-D1BE-4CCC-84F9-0C5BEF3629EF}"/>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21</a:t>
            </a:r>
          </a:p>
        </p:txBody>
      </p:sp>
      <p:sp>
        <p:nvSpPr>
          <p:cNvPr id="5" name="Rectangle 4">
            <a:extLst>
              <a:ext uri="{FF2B5EF4-FFF2-40B4-BE49-F238E27FC236}">
                <a16:creationId xmlns:a16="http://schemas.microsoft.com/office/drawing/2014/main" id="{27E37085-32A6-4AF0-9A19-B2F21FBF9138}"/>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Limitations</a:t>
            </a:r>
          </a:p>
        </p:txBody>
      </p:sp>
      <p:sp>
        <p:nvSpPr>
          <p:cNvPr id="6" name="Straight Connector 5">
            <a:extLst>
              <a:ext uri="{FF2B5EF4-FFF2-40B4-BE49-F238E27FC236}">
                <a16:creationId xmlns:a16="http://schemas.microsoft.com/office/drawing/2014/main" id="{78E432EE-6BB6-48A2-89C0-1378D44D8DE8}"/>
              </a:ext>
            </a:extLst>
          </p:cNvPr>
          <p:cNvSpPr>
            <a:spLocks noGrp="1"/>
          </p:cNvSpPr>
          <p:nvPr/>
        </p:nvSpPr>
        <p:spPr>
          <a:xfrm>
            <a:off x="552450" y="990601"/>
            <a:ext cx="1866285" cy="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F968324F-FCB4-4BF9-B21F-2119902A8230}"/>
              </a:ext>
            </a:extLst>
          </p:cNvPr>
          <p:cNvSpPr>
            <a:spLocks noGrp="1"/>
          </p:cNvSpPr>
          <p:nvPr/>
        </p:nvSpPr>
        <p:spPr>
          <a:xfrm>
            <a:off x="1238250" y="1714500"/>
            <a:ext cx="2857500" cy="2000250"/>
          </a:xfrm>
          <a:prstGeom prst="roundRect">
            <a:avLst>
              <a:gd name="adj" fmla="val 3810"/>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5844731F-7D4C-404C-A73E-55BEC6B96F79}"/>
              </a:ext>
            </a:extLst>
          </p:cNvPr>
          <p:cNvSpPr>
            <a:spLocks noGrp="1"/>
          </p:cNvSpPr>
          <p:nvPr/>
        </p:nvSpPr>
        <p:spPr>
          <a:xfrm>
            <a:off x="1238250" y="1714500"/>
            <a:ext cx="66675" cy="2000250"/>
          </a:xfrm>
          <a:prstGeom prst="rect">
            <a:avLst/>
          </a:prstGeom>
          <a:solidFill>
            <a:srgbClr val="EF4444"/>
          </a:solidFill>
          <a:ln w="0">
            <a:solidFill>
              <a:srgbClr val="000000">
                <a:alpha val="0"/>
              </a:srgbClr>
            </a:solidFill>
            <a:prstDash val="solid"/>
          </a:ln>
        </p:spPr>
      </p:sp>
      <p:sp>
        <p:nvSpPr>
          <p:cNvPr id="9" name="Rectangle 8">
            <a:extLst>
              <a:ext uri="{FF2B5EF4-FFF2-40B4-BE49-F238E27FC236}">
                <a16:creationId xmlns:a16="http://schemas.microsoft.com/office/drawing/2014/main" id="{7650C2D9-83B3-4A77-B6B3-7007DFE30B68}"/>
              </a:ext>
            </a:extLst>
          </p:cNvPr>
          <p:cNvSpPr>
            <a:spLocks noGrp="1"/>
          </p:cNvSpPr>
          <p:nvPr/>
        </p:nvSpPr>
        <p:spPr>
          <a:xfrm>
            <a:off x="1447800" y="1885950"/>
            <a:ext cx="24765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Data Quality</a:t>
            </a:r>
          </a:p>
        </p:txBody>
      </p:sp>
      <p:sp>
        <p:nvSpPr>
          <p:cNvPr id="10" name="Rectangle 9">
            <a:extLst>
              <a:ext uri="{FF2B5EF4-FFF2-40B4-BE49-F238E27FC236}">
                <a16:creationId xmlns:a16="http://schemas.microsoft.com/office/drawing/2014/main" id="{1E23F066-0B35-46D7-8EFF-5E9C3BF5EAC7}"/>
              </a:ext>
            </a:extLst>
          </p:cNvPr>
          <p:cNvSpPr>
            <a:spLocks noGrp="1"/>
          </p:cNvSpPr>
          <p:nvPr/>
        </p:nvSpPr>
        <p:spPr>
          <a:xfrm>
            <a:off x="1447800" y="2247900"/>
            <a:ext cx="2476500" cy="13716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Prediction depends on accurate and complete patient input data.</a:t>
            </a:r>
          </a:p>
        </p:txBody>
      </p:sp>
      <p:sp>
        <p:nvSpPr>
          <p:cNvPr id="11" name="Rectangle: Rounded Corners 10">
            <a:extLst>
              <a:ext uri="{FF2B5EF4-FFF2-40B4-BE49-F238E27FC236}">
                <a16:creationId xmlns:a16="http://schemas.microsoft.com/office/drawing/2014/main" id="{3ECAFF4B-1A60-4CF5-AF06-DFB7CFA142B4}"/>
              </a:ext>
            </a:extLst>
          </p:cNvPr>
          <p:cNvSpPr>
            <a:spLocks noGrp="1"/>
          </p:cNvSpPr>
          <p:nvPr/>
        </p:nvSpPr>
        <p:spPr>
          <a:xfrm>
            <a:off x="4667250" y="1714500"/>
            <a:ext cx="2857500" cy="2000250"/>
          </a:xfrm>
          <a:prstGeom prst="roundRect">
            <a:avLst>
              <a:gd name="adj" fmla="val 3810"/>
            </a:avLst>
          </a:prstGeom>
          <a:solidFill>
            <a:srgbClr val="FFFFFF"/>
          </a:solidFill>
          <a:ln w="9525">
            <a:solidFill>
              <a:srgbClr val="D8E8F4"/>
            </a:solidFill>
            <a:prstDash val="solid"/>
          </a:ln>
        </p:spPr>
      </p:sp>
      <p:sp>
        <p:nvSpPr>
          <p:cNvPr id="12" name="Rectangle 11">
            <a:extLst>
              <a:ext uri="{FF2B5EF4-FFF2-40B4-BE49-F238E27FC236}">
                <a16:creationId xmlns:a16="http://schemas.microsoft.com/office/drawing/2014/main" id="{039AE9A0-BA7B-497D-B9FE-26430C9BD48F}"/>
              </a:ext>
            </a:extLst>
          </p:cNvPr>
          <p:cNvSpPr>
            <a:spLocks noGrp="1"/>
          </p:cNvSpPr>
          <p:nvPr/>
        </p:nvSpPr>
        <p:spPr>
          <a:xfrm>
            <a:off x="4667250" y="1714500"/>
            <a:ext cx="66675" cy="2000250"/>
          </a:xfrm>
          <a:prstGeom prst="rect">
            <a:avLst/>
          </a:prstGeom>
          <a:solidFill>
            <a:srgbClr val="F59E0B"/>
          </a:solidFill>
          <a:ln w="0">
            <a:solidFill>
              <a:srgbClr val="000000">
                <a:alpha val="0"/>
              </a:srgbClr>
            </a:solidFill>
            <a:prstDash val="solid"/>
          </a:ln>
        </p:spPr>
      </p:sp>
      <p:sp>
        <p:nvSpPr>
          <p:cNvPr id="13" name="Rectangle 12">
            <a:extLst>
              <a:ext uri="{FF2B5EF4-FFF2-40B4-BE49-F238E27FC236}">
                <a16:creationId xmlns:a16="http://schemas.microsoft.com/office/drawing/2014/main" id="{C206F972-63EE-4C16-88E2-F038CCD7CFD0}"/>
              </a:ext>
            </a:extLst>
          </p:cNvPr>
          <p:cNvSpPr>
            <a:spLocks noGrp="1"/>
          </p:cNvSpPr>
          <p:nvPr/>
        </p:nvSpPr>
        <p:spPr>
          <a:xfrm>
            <a:off x="4876800" y="1885950"/>
            <a:ext cx="24765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Model Updates</a:t>
            </a:r>
          </a:p>
        </p:txBody>
      </p:sp>
      <p:sp>
        <p:nvSpPr>
          <p:cNvPr id="14" name="Rectangle 13">
            <a:extLst>
              <a:ext uri="{FF2B5EF4-FFF2-40B4-BE49-F238E27FC236}">
                <a16:creationId xmlns:a16="http://schemas.microsoft.com/office/drawing/2014/main" id="{66A5A6FB-4508-4C7B-9C82-72878B6EEE0F}"/>
              </a:ext>
            </a:extLst>
          </p:cNvPr>
          <p:cNvSpPr>
            <a:spLocks noGrp="1"/>
          </p:cNvSpPr>
          <p:nvPr/>
        </p:nvSpPr>
        <p:spPr>
          <a:xfrm>
            <a:off x="4876800" y="2247900"/>
            <a:ext cx="2476500" cy="13716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The model should be retrained as new hospital data becomes available.</a:t>
            </a:r>
          </a:p>
        </p:txBody>
      </p:sp>
      <p:sp>
        <p:nvSpPr>
          <p:cNvPr id="15" name="Rectangle: Rounded Corners 14">
            <a:extLst>
              <a:ext uri="{FF2B5EF4-FFF2-40B4-BE49-F238E27FC236}">
                <a16:creationId xmlns:a16="http://schemas.microsoft.com/office/drawing/2014/main" id="{0534AA15-61BB-4592-A1B5-04A201ACFBB3}"/>
              </a:ext>
            </a:extLst>
          </p:cNvPr>
          <p:cNvSpPr>
            <a:spLocks noGrp="1"/>
          </p:cNvSpPr>
          <p:nvPr/>
        </p:nvSpPr>
        <p:spPr>
          <a:xfrm>
            <a:off x="8096250" y="1714500"/>
            <a:ext cx="2857500" cy="2000250"/>
          </a:xfrm>
          <a:prstGeom prst="roundRect">
            <a:avLst>
              <a:gd name="adj" fmla="val 3810"/>
            </a:avLst>
          </a:prstGeom>
          <a:solidFill>
            <a:srgbClr val="FFFFFF"/>
          </a:solidFill>
          <a:ln w="9525">
            <a:solidFill>
              <a:srgbClr val="D8E8F4"/>
            </a:solidFill>
            <a:prstDash val="solid"/>
          </a:ln>
        </p:spPr>
      </p:sp>
      <p:sp>
        <p:nvSpPr>
          <p:cNvPr id="16" name="Rectangle 15">
            <a:extLst>
              <a:ext uri="{FF2B5EF4-FFF2-40B4-BE49-F238E27FC236}">
                <a16:creationId xmlns:a16="http://schemas.microsoft.com/office/drawing/2014/main" id="{3400B719-051F-4C5F-9D5C-99606C0485DE}"/>
              </a:ext>
            </a:extLst>
          </p:cNvPr>
          <p:cNvSpPr>
            <a:spLocks noGrp="1"/>
          </p:cNvSpPr>
          <p:nvPr/>
        </p:nvSpPr>
        <p:spPr>
          <a:xfrm>
            <a:off x="8096250" y="1714500"/>
            <a:ext cx="66675" cy="2000250"/>
          </a:xfrm>
          <a:prstGeom prst="rect">
            <a:avLst/>
          </a:prstGeom>
          <a:solidFill>
            <a:srgbClr val="0B2559"/>
          </a:solidFill>
          <a:ln w="0">
            <a:solidFill>
              <a:srgbClr val="000000">
                <a:alpha val="0"/>
              </a:srgbClr>
            </a:solidFill>
            <a:prstDash val="solid"/>
          </a:ln>
        </p:spPr>
      </p:sp>
      <p:sp>
        <p:nvSpPr>
          <p:cNvPr id="17" name="Rectangle 16">
            <a:extLst>
              <a:ext uri="{FF2B5EF4-FFF2-40B4-BE49-F238E27FC236}">
                <a16:creationId xmlns:a16="http://schemas.microsoft.com/office/drawing/2014/main" id="{DF1EF9CC-4B20-4CD2-BA74-32D18747374A}"/>
              </a:ext>
            </a:extLst>
          </p:cNvPr>
          <p:cNvSpPr>
            <a:spLocks noGrp="1"/>
          </p:cNvSpPr>
          <p:nvPr/>
        </p:nvSpPr>
        <p:spPr>
          <a:xfrm>
            <a:off x="8305800" y="1885950"/>
            <a:ext cx="2476500" cy="266700"/>
          </a:xfrm>
          <a:prstGeom prst="rect">
            <a:avLst/>
          </a:prstGeom>
          <a:solidFill>
            <a:srgbClr val="000000">
              <a:alpha val="0"/>
            </a:srgbClr>
          </a:solidFill>
          <a:ln w="0">
            <a:solidFill>
              <a:srgbClr val="000000">
                <a:alpha val="0"/>
              </a:srgbClr>
            </a:solidFill>
            <a:prstDash val="solid"/>
          </a:ln>
        </p:spPr>
        <p:txBody>
          <a:bodyPr/>
          <a:lstStyle/>
          <a:p>
            <a:pPr algn="l">
              <a:defRPr sz="1650" b="1">
                <a:solidFill>
                  <a:srgbClr val="0B2559"/>
                </a:solidFill>
                <a:latin typeface="Aptos"/>
                <a:ea typeface="Aptos"/>
                <a:cs typeface="Aptos"/>
              </a:defRPr>
            </a:pPr>
            <a:r>
              <a:rPr sz="1650" b="1">
                <a:solidFill>
                  <a:srgbClr val="0B2559"/>
                </a:solidFill>
                <a:latin typeface="Aptos"/>
                <a:ea typeface="Aptos"/>
                <a:cs typeface="Aptos"/>
              </a:rPr>
              <a:t>Feature Scope</a:t>
            </a:r>
          </a:p>
        </p:txBody>
      </p:sp>
      <p:sp>
        <p:nvSpPr>
          <p:cNvPr id="18" name="Rectangle 17">
            <a:extLst>
              <a:ext uri="{FF2B5EF4-FFF2-40B4-BE49-F238E27FC236}">
                <a16:creationId xmlns:a16="http://schemas.microsoft.com/office/drawing/2014/main" id="{3E414538-037E-4273-ABB2-421F69F38916}"/>
              </a:ext>
            </a:extLst>
          </p:cNvPr>
          <p:cNvSpPr>
            <a:spLocks noGrp="1"/>
          </p:cNvSpPr>
          <p:nvPr/>
        </p:nvSpPr>
        <p:spPr>
          <a:xfrm>
            <a:off x="8305800" y="2247900"/>
            <a:ext cx="2476500" cy="1371600"/>
          </a:xfrm>
          <a:prstGeom prst="rect">
            <a:avLst/>
          </a:prstGeom>
          <a:solidFill>
            <a:srgbClr val="000000">
              <a:alpha val="0"/>
            </a:srgbClr>
          </a:solidFill>
          <a:ln w="0">
            <a:solidFill>
              <a:srgbClr val="000000">
                <a:alpha val="0"/>
              </a:srgbClr>
            </a:solidFill>
            <a:prstDash val="solid"/>
          </a:ln>
        </p:spPr>
        <p:txBody>
          <a:bodyPr/>
          <a:lstStyle/>
          <a:p>
            <a:pPr algn="l">
              <a:defRPr sz="1275" b="0">
                <a:solidFill>
                  <a:srgbClr val="5B6B7A"/>
                </a:solidFill>
                <a:latin typeface="Aptos"/>
                <a:ea typeface="Aptos"/>
                <a:cs typeface="Aptos"/>
              </a:defRPr>
            </a:pPr>
            <a:r>
              <a:rPr sz="1275" b="0">
                <a:solidFill>
                  <a:srgbClr val="5B6B7A"/>
                </a:solidFill>
                <a:latin typeface="Aptos"/>
                <a:ea typeface="Aptos"/>
                <a:cs typeface="Aptos"/>
              </a:rPr>
              <a:t>Predictions are limited to available structured features.</a:t>
            </a:r>
          </a:p>
        </p:txBody>
      </p:sp>
      <p:sp>
        <p:nvSpPr>
          <p:cNvPr id="19" name="Rectangle 18">
            <a:extLst>
              <a:ext uri="{FF2B5EF4-FFF2-40B4-BE49-F238E27FC236}">
                <a16:creationId xmlns:a16="http://schemas.microsoft.com/office/drawing/2014/main" id="{20D4112E-F361-4885-8770-307DED58581F}"/>
              </a:ext>
            </a:extLst>
          </p:cNvPr>
          <p:cNvSpPr>
            <a:spLocks noGrp="1"/>
          </p:cNvSpPr>
          <p:nvPr/>
        </p:nvSpPr>
        <p:spPr>
          <a:xfrm>
            <a:off x="1524000" y="4762500"/>
            <a:ext cx="9144000" cy="3810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0B6EFD"/>
                </a:solidFill>
                <a:latin typeface="Aptos"/>
                <a:ea typeface="Aptos"/>
                <a:cs typeface="Aptos"/>
              </a:defRPr>
            </a:pPr>
            <a:r>
              <a:rPr sz="1800" b="1">
                <a:solidFill>
                  <a:srgbClr val="0B6EFD"/>
                </a:solidFill>
                <a:latin typeface="Aptos"/>
                <a:ea typeface="Aptos"/>
                <a:cs typeface="Aptos"/>
              </a:rPr>
              <a:t>Acknowledging limitations makes the project academically stronger and clinically responsible.</a:t>
            </a:r>
          </a:p>
        </p:txBody>
      </p:sp>
    </p:spTree>
    <p:extLst>
      <p:ext uri="{BB962C8B-B14F-4D97-AF65-F5344CB8AC3E}">
        <p14:creationId xmlns:p14="http://schemas.microsoft.com/office/powerpoint/2010/main" val="916066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C3EFDB10-B03B-432B-92DE-245BD8CA336B}"/>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4EC13BB5-29CE-4AD0-BE09-3B35D6F7D25D}"/>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08CE9774-7DD8-4218-8376-743B7C246689}"/>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22</a:t>
            </a:r>
          </a:p>
        </p:txBody>
      </p:sp>
      <p:sp>
        <p:nvSpPr>
          <p:cNvPr id="5" name="Rectangle 4">
            <a:extLst>
              <a:ext uri="{FF2B5EF4-FFF2-40B4-BE49-F238E27FC236}">
                <a16:creationId xmlns:a16="http://schemas.microsoft.com/office/drawing/2014/main" id="{72C5FBD2-2E8D-4FCC-B440-5FF1242B9C69}"/>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Future Scope</a:t>
            </a:r>
          </a:p>
        </p:txBody>
      </p:sp>
      <p:sp>
        <p:nvSpPr>
          <p:cNvPr id="6" name="Straight Connector 5">
            <a:extLst>
              <a:ext uri="{FF2B5EF4-FFF2-40B4-BE49-F238E27FC236}">
                <a16:creationId xmlns:a16="http://schemas.microsoft.com/office/drawing/2014/main" id="{5FB58FD9-B8C4-49B2-AD1B-1DE6207A994A}"/>
              </a:ext>
            </a:extLst>
          </p:cNvPr>
          <p:cNvSpPr>
            <a:spLocks noGrp="1"/>
          </p:cNvSpPr>
          <p:nvPr/>
        </p:nvSpPr>
        <p:spPr>
          <a:xfrm>
            <a:off x="552450" y="990601"/>
            <a:ext cx="2158365" cy="0"/>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8A993715-88CC-4CAD-870E-77763AF4E29B}"/>
              </a:ext>
            </a:extLst>
          </p:cNvPr>
          <p:cNvSpPr>
            <a:spLocks noGrp="1"/>
          </p:cNvSpPr>
          <p:nvPr/>
        </p:nvSpPr>
        <p:spPr>
          <a:xfrm>
            <a:off x="809625" y="1952625"/>
            <a:ext cx="1901190" cy="904875"/>
          </a:xfrm>
          <a:prstGeom prst="roundRect">
            <a:avLst>
              <a:gd name="adj" fmla="val 8421"/>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D4D8C279-5C3C-4990-B0D3-3445C4B2C27D}"/>
              </a:ext>
            </a:extLst>
          </p:cNvPr>
          <p:cNvSpPr>
            <a:spLocks noGrp="1"/>
          </p:cNvSpPr>
          <p:nvPr/>
        </p:nvSpPr>
        <p:spPr>
          <a:xfrm>
            <a:off x="923925" y="2214563"/>
            <a:ext cx="16725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IoT Devices</a:t>
            </a:r>
          </a:p>
        </p:txBody>
      </p:sp>
      <p:sp>
        <p:nvSpPr>
          <p:cNvPr id="9" name="Rectangle 8">
            <a:extLst>
              <a:ext uri="{FF2B5EF4-FFF2-40B4-BE49-F238E27FC236}">
                <a16:creationId xmlns:a16="http://schemas.microsoft.com/office/drawing/2014/main" id="{CAB13010-C319-4485-BDD9-709BF93944EE}"/>
              </a:ext>
            </a:extLst>
          </p:cNvPr>
          <p:cNvSpPr>
            <a:spLocks noGrp="1"/>
          </p:cNvSpPr>
          <p:nvPr/>
        </p:nvSpPr>
        <p:spPr>
          <a:xfrm>
            <a:off x="809625" y="1952625"/>
            <a:ext cx="1901190" cy="66675"/>
          </a:xfrm>
          <a:prstGeom prst="rect">
            <a:avLst/>
          </a:prstGeom>
          <a:solidFill>
            <a:srgbClr val="10B981"/>
          </a:solidFill>
          <a:ln w="0">
            <a:solidFill>
              <a:srgbClr val="000000">
                <a:alpha val="0"/>
              </a:srgbClr>
            </a:solidFill>
            <a:prstDash val="solid"/>
          </a:ln>
        </p:spPr>
      </p:sp>
      <p:sp>
        <p:nvSpPr>
          <p:cNvPr id="10" name="Rectangle 9">
            <a:extLst>
              <a:ext uri="{FF2B5EF4-FFF2-40B4-BE49-F238E27FC236}">
                <a16:creationId xmlns:a16="http://schemas.microsoft.com/office/drawing/2014/main" id="{85315B5A-6260-4EC2-B64D-0DEEE58F1E3D}"/>
              </a:ext>
            </a:extLst>
          </p:cNvPr>
          <p:cNvSpPr>
            <a:spLocks noGrp="1"/>
          </p:cNvSpPr>
          <p:nvPr/>
        </p:nvSpPr>
        <p:spPr>
          <a:xfrm>
            <a:off x="2758440" y="2262188"/>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1" name="Rectangle: Rounded Corners 10">
            <a:extLst>
              <a:ext uri="{FF2B5EF4-FFF2-40B4-BE49-F238E27FC236}">
                <a16:creationId xmlns:a16="http://schemas.microsoft.com/office/drawing/2014/main" id="{DBFA868F-635F-4D0C-AF8F-0A5E3DEC3F9C}"/>
              </a:ext>
            </a:extLst>
          </p:cNvPr>
          <p:cNvSpPr>
            <a:spLocks noGrp="1"/>
          </p:cNvSpPr>
          <p:nvPr/>
        </p:nvSpPr>
        <p:spPr>
          <a:xfrm>
            <a:off x="2977515" y="1952625"/>
            <a:ext cx="1901190" cy="904875"/>
          </a:xfrm>
          <a:prstGeom prst="roundRect">
            <a:avLst>
              <a:gd name="adj" fmla="val 8421"/>
            </a:avLst>
          </a:prstGeom>
          <a:solidFill>
            <a:srgbClr val="FFFFFF"/>
          </a:solidFill>
          <a:ln w="9525">
            <a:solidFill>
              <a:srgbClr val="D8E8F4"/>
            </a:solidFill>
            <a:prstDash val="solid"/>
          </a:ln>
        </p:spPr>
      </p:sp>
      <p:sp>
        <p:nvSpPr>
          <p:cNvPr id="12" name="Rectangle 11">
            <a:extLst>
              <a:ext uri="{FF2B5EF4-FFF2-40B4-BE49-F238E27FC236}">
                <a16:creationId xmlns:a16="http://schemas.microsoft.com/office/drawing/2014/main" id="{BDB5F69A-9D95-4EF6-99B9-4EEDC943D3C6}"/>
              </a:ext>
            </a:extLst>
          </p:cNvPr>
          <p:cNvSpPr>
            <a:spLocks noGrp="1"/>
          </p:cNvSpPr>
          <p:nvPr/>
        </p:nvSpPr>
        <p:spPr>
          <a:xfrm>
            <a:off x="3091815" y="2214563"/>
            <a:ext cx="16725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Real-Time Monitoring</a:t>
            </a:r>
          </a:p>
        </p:txBody>
      </p:sp>
      <p:sp>
        <p:nvSpPr>
          <p:cNvPr id="13" name="Rectangle 12">
            <a:extLst>
              <a:ext uri="{FF2B5EF4-FFF2-40B4-BE49-F238E27FC236}">
                <a16:creationId xmlns:a16="http://schemas.microsoft.com/office/drawing/2014/main" id="{2B5A27A6-405E-4A2E-AB2C-3B54DA2C1FF8}"/>
              </a:ext>
            </a:extLst>
          </p:cNvPr>
          <p:cNvSpPr>
            <a:spLocks noGrp="1"/>
          </p:cNvSpPr>
          <p:nvPr/>
        </p:nvSpPr>
        <p:spPr>
          <a:xfrm>
            <a:off x="2977515" y="1952625"/>
            <a:ext cx="1901190" cy="66675"/>
          </a:xfrm>
          <a:prstGeom prst="rect">
            <a:avLst/>
          </a:prstGeom>
          <a:solidFill>
            <a:srgbClr val="10B981"/>
          </a:solidFill>
          <a:ln w="0">
            <a:solidFill>
              <a:srgbClr val="000000">
                <a:alpha val="0"/>
              </a:srgbClr>
            </a:solidFill>
            <a:prstDash val="solid"/>
          </a:ln>
        </p:spPr>
      </p:sp>
      <p:sp>
        <p:nvSpPr>
          <p:cNvPr id="14" name="Rectangle 13">
            <a:extLst>
              <a:ext uri="{FF2B5EF4-FFF2-40B4-BE49-F238E27FC236}">
                <a16:creationId xmlns:a16="http://schemas.microsoft.com/office/drawing/2014/main" id="{E2E705E9-AF17-4686-A8D0-F89731A0900A}"/>
              </a:ext>
            </a:extLst>
          </p:cNvPr>
          <p:cNvSpPr>
            <a:spLocks noGrp="1"/>
          </p:cNvSpPr>
          <p:nvPr/>
        </p:nvSpPr>
        <p:spPr>
          <a:xfrm>
            <a:off x="4926330" y="2262188"/>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5" name="Rectangle: Rounded Corners 14">
            <a:extLst>
              <a:ext uri="{FF2B5EF4-FFF2-40B4-BE49-F238E27FC236}">
                <a16:creationId xmlns:a16="http://schemas.microsoft.com/office/drawing/2014/main" id="{7CAF7226-8172-44B8-963F-D70E1AC58A97}"/>
              </a:ext>
            </a:extLst>
          </p:cNvPr>
          <p:cNvSpPr>
            <a:spLocks noGrp="1"/>
          </p:cNvSpPr>
          <p:nvPr/>
        </p:nvSpPr>
        <p:spPr>
          <a:xfrm>
            <a:off x="5145405" y="1952625"/>
            <a:ext cx="1901190" cy="904875"/>
          </a:xfrm>
          <a:prstGeom prst="roundRect">
            <a:avLst>
              <a:gd name="adj" fmla="val 8421"/>
            </a:avLst>
          </a:prstGeom>
          <a:solidFill>
            <a:srgbClr val="FFFFFF"/>
          </a:solidFill>
          <a:ln w="9525">
            <a:solidFill>
              <a:srgbClr val="D8E8F4"/>
            </a:solidFill>
            <a:prstDash val="solid"/>
          </a:ln>
        </p:spPr>
      </p:sp>
      <p:sp>
        <p:nvSpPr>
          <p:cNvPr id="16" name="Rectangle 15">
            <a:extLst>
              <a:ext uri="{FF2B5EF4-FFF2-40B4-BE49-F238E27FC236}">
                <a16:creationId xmlns:a16="http://schemas.microsoft.com/office/drawing/2014/main" id="{EB9A3422-1C72-42A5-9255-1FF20C7EC98A}"/>
              </a:ext>
            </a:extLst>
          </p:cNvPr>
          <p:cNvSpPr>
            <a:spLocks noGrp="1"/>
          </p:cNvSpPr>
          <p:nvPr/>
        </p:nvSpPr>
        <p:spPr>
          <a:xfrm>
            <a:off x="5259705" y="2214563"/>
            <a:ext cx="16725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Mobile App</a:t>
            </a:r>
          </a:p>
        </p:txBody>
      </p:sp>
      <p:sp>
        <p:nvSpPr>
          <p:cNvPr id="17" name="Rectangle 16">
            <a:extLst>
              <a:ext uri="{FF2B5EF4-FFF2-40B4-BE49-F238E27FC236}">
                <a16:creationId xmlns:a16="http://schemas.microsoft.com/office/drawing/2014/main" id="{4C3AAA06-168B-45F4-A3CF-7EADBA853752}"/>
              </a:ext>
            </a:extLst>
          </p:cNvPr>
          <p:cNvSpPr>
            <a:spLocks noGrp="1"/>
          </p:cNvSpPr>
          <p:nvPr/>
        </p:nvSpPr>
        <p:spPr>
          <a:xfrm>
            <a:off x="5145405" y="1952625"/>
            <a:ext cx="1901190" cy="66675"/>
          </a:xfrm>
          <a:prstGeom prst="rect">
            <a:avLst/>
          </a:prstGeom>
          <a:solidFill>
            <a:srgbClr val="10B981"/>
          </a:solidFill>
          <a:ln w="0">
            <a:solidFill>
              <a:srgbClr val="000000">
                <a:alpha val="0"/>
              </a:srgbClr>
            </a:solidFill>
            <a:prstDash val="solid"/>
          </a:ln>
        </p:spPr>
      </p:sp>
      <p:sp>
        <p:nvSpPr>
          <p:cNvPr id="18" name="Rectangle 17">
            <a:extLst>
              <a:ext uri="{FF2B5EF4-FFF2-40B4-BE49-F238E27FC236}">
                <a16:creationId xmlns:a16="http://schemas.microsoft.com/office/drawing/2014/main" id="{EE0B0B4E-4243-42B2-B91F-2B5F074E9BFC}"/>
              </a:ext>
            </a:extLst>
          </p:cNvPr>
          <p:cNvSpPr>
            <a:spLocks noGrp="1"/>
          </p:cNvSpPr>
          <p:nvPr/>
        </p:nvSpPr>
        <p:spPr>
          <a:xfrm>
            <a:off x="7094220" y="2262188"/>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19" name="Rectangle: Rounded Corners 18">
            <a:extLst>
              <a:ext uri="{FF2B5EF4-FFF2-40B4-BE49-F238E27FC236}">
                <a16:creationId xmlns:a16="http://schemas.microsoft.com/office/drawing/2014/main" id="{6245ECCA-7809-4DC1-A648-DEF13F2AF8A2}"/>
              </a:ext>
            </a:extLst>
          </p:cNvPr>
          <p:cNvSpPr>
            <a:spLocks noGrp="1"/>
          </p:cNvSpPr>
          <p:nvPr/>
        </p:nvSpPr>
        <p:spPr>
          <a:xfrm>
            <a:off x="7313295" y="1952625"/>
            <a:ext cx="1901190" cy="904875"/>
          </a:xfrm>
          <a:prstGeom prst="roundRect">
            <a:avLst>
              <a:gd name="adj" fmla="val 8421"/>
            </a:avLst>
          </a:prstGeom>
          <a:solidFill>
            <a:srgbClr val="FFFFFF"/>
          </a:solidFill>
          <a:ln w="9525">
            <a:solidFill>
              <a:srgbClr val="D8E8F4"/>
            </a:solidFill>
            <a:prstDash val="solid"/>
          </a:ln>
        </p:spPr>
      </p:sp>
      <p:sp>
        <p:nvSpPr>
          <p:cNvPr id="20" name="Rectangle 19">
            <a:extLst>
              <a:ext uri="{FF2B5EF4-FFF2-40B4-BE49-F238E27FC236}">
                <a16:creationId xmlns:a16="http://schemas.microsoft.com/office/drawing/2014/main" id="{84D5FC0C-956C-402C-B6BA-0D09BE759AF6}"/>
              </a:ext>
            </a:extLst>
          </p:cNvPr>
          <p:cNvSpPr>
            <a:spLocks noGrp="1"/>
          </p:cNvSpPr>
          <p:nvPr/>
        </p:nvSpPr>
        <p:spPr>
          <a:xfrm>
            <a:off x="7427595" y="2214563"/>
            <a:ext cx="16725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AI Recommendations</a:t>
            </a:r>
          </a:p>
        </p:txBody>
      </p:sp>
      <p:sp>
        <p:nvSpPr>
          <p:cNvPr id="21" name="Rectangle 20">
            <a:extLst>
              <a:ext uri="{FF2B5EF4-FFF2-40B4-BE49-F238E27FC236}">
                <a16:creationId xmlns:a16="http://schemas.microsoft.com/office/drawing/2014/main" id="{19964F9D-CBB7-45B4-9D48-1E54FC7D9C9E}"/>
              </a:ext>
            </a:extLst>
          </p:cNvPr>
          <p:cNvSpPr>
            <a:spLocks noGrp="1"/>
          </p:cNvSpPr>
          <p:nvPr/>
        </p:nvSpPr>
        <p:spPr>
          <a:xfrm>
            <a:off x="7313295" y="1952625"/>
            <a:ext cx="1901190" cy="66675"/>
          </a:xfrm>
          <a:prstGeom prst="rect">
            <a:avLst/>
          </a:prstGeom>
          <a:solidFill>
            <a:srgbClr val="10B981"/>
          </a:solidFill>
          <a:ln w="0">
            <a:solidFill>
              <a:srgbClr val="000000">
                <a:alpha val="0"/>
              </a:srgbClr>
            </a:solidFill>
            <a:prstDash val="solid"/>
          </a:ln>
        </p:spPr>
      </p:sp>
      <p:sp>
        <p:nvSpPr>
          <p:cNvPr id="22" name="Rectangle 21">
            <a:extLst>
              <a:ext uri="{FF2B5EF4-FFF2-40B4-BE49-F238E27FC236}">
                <a16:creationId xmlns:a16="http://schemas.microsoft.com/office/drawing/2014/main" id="{44035147-B54A-46F7-A214-4F39633EFE4A}"/>
              </a:ext>
            </a:extLst>
          </p:cNvPr>
          <p:cNvSpPr>
            <a:spLocks noGrp="1"/>
          </p:cNvSpPr>
          <p:nvPr/>
        </p:nvSpPr>
        <p:spPr>
          <a:xfrm>
            <a:off x="9262110" y="2262188"/>
            <a:ext cx="171450" cy="228600"/>
          </a:xfrm>
          <a:prstGeom prst="rect">
            <a:avLst/>
          </a:prstGeom>
          <a:solidFill>
            <a:srgbClr val="000000">
              <a:alpha val="0"/>
            </a:srgbClr>
          </a:solidFill>
          <a:ln w="0">
            <a:solidFill>
              <a:srgbClr val="000000">
                <a:alpha val="0"/>
              </a:srgbClr>
            </a:solidFill>
            <a:prstDash val="solid"/>
          </a:ln>
        </p:spPr>
        <p:txBody>
          <a:bodyPr/>
          <a:lstStyle/>
          <a:p>
            <a:pPr algn="ctr">
              <a:defRPr sz="1800" b="1">
                <a:solidFill>
                  <a:srgbClr val="2CB7D5"/>
                </a:solidFill>
                <a:latin typeface="Aptos"/>
                <a:ea typeface="Aptos"/>
                <a:cs typeface="Aptos"/>
              </a:defRPr>
            </a:pPr>
            <a:r>
              <a:rPr sz="1800" b="1">
                <a:solidFill>
                  <a:srgbClr val="2CB7D5"/>
                </a:solidFill>
                <a:latin typeface="Aptos"/>
                <a:ea typeface="Aptos"/>
                <a:cs typeface="Aptos"/>
              </a:rPr>
              <a:t>&gt;</a:t>
            </a:r>
          </a:p>
        </p:txBody>
      </p:sp>
      <p:sp>
        <p:nvSpPr>
          <p:cNvPr id="23" name="Rectangle: Rounded Corners 22">
            <a:extLst>
              <a:ext uri="{FF2B5EF4-FFF2-40B4-BE49-F238E27FC236}">
                <a16:creationId xmlns:a16="http://schemas.microsoft.com/office/drawing/2014/main" id="{7B9AB5E8-BE63-4656-AFE9-E35D96801B0C}"/>
              </a:ext>
            </a:extLst>
          </p:cNvPr>
          <p:cNvSpPr>
            <a:spLocks noGrp="1"/>
          </p:cNvSpPr>
          <p:nvPr/>
        </p:nvSpPr>
        <p:spPr>
          <a:xfrm>
            <a:off x="9481185" y="1952625"/>
            <a:ext cx="1901190" cy="904875"/>
          </a:xfrm>
          <a:prstGeom prst="roundRect">
            <a:avLst>
              <a:gd name="adj" fmla="val 8421"/>
            </a:avLst>
          </a:prstGeom>
          <a:solidFill>
            <a:srgbClr val="FFFFFF"/>
          </a:solidFill>
          <a:ln w="9525">
            <a:solidFill>
              <a:srgbClr val="D8E8F4"/>
            </a:solidFill>
            <a:prstDash val="solid"/>
          </a:ln>
        </p:spPr>
      </p:sp>
      <p:sp>
        <p:nvSpPr>
          <p:cNvPr id="24" name="Rectangle 23">
            <a:extLst>
              <a:ext uri="{FF2B5EF4-FFF2-40B4-BE49-F238E27FC236}">
                <a16:creationId xmlns:a16="http://schemas.microsoft.com/office/drawing/2014/main" id="{84238FD0-D008-453B-8CAE-9A468A916790}"/>
              </a:ext>
            </a:extLst>
          </p:cNvPr>
          <p:cNvSpPr>
            <a:spLocks noGrp="1"/>
          </p:cNvSpPr>
          <p:nvPr/>
        </p:nvSpPr>
        <p:spPr>
          <a:xfrm>
            <a:off x="9595485" y="2214563"/>
            <a:ext cx="1672590" cy="381000"/>
          </a:xfrm>
          <a:prstGeom prst="rect">
            <a:avLst/>
          </a:prstGeom>
          <a:solidFill>
            <a:srgbClr val="000000">
              <a:alpha val="0"/>
            </a:srgbClr>
          </a:solidFill>
          <a:ln w="0">
            <a:solidFill>
              <a:srgbClr val="000000">
                <a:alpha val="0"/>
              </a:srgbClr>
            </a:solidFill>
            <a:prstDash val="solid"/>
          </a:ln>
        </p:spPr>
        <p:txBody>
          <a:bodyPr/>
          <a:lstStyle/>
          <a:p>
            <a:pPr algn="ctr">
              <a:defRPr sz="1275" b="1">
                <a:solidFill>
                  <a:srgbClr val="0B2559"/>
                </a:solidFill>
                <a:latin typeface="Aptos"/>
                <a:ea typeface="Aptos"/>
                <a:cs typeface="Aptos"/>
              </a:defRPr>
            </a:pPr>
            <a:r>
              <a:rPr sz="1275" b="1">
                <a:solidFill>
                  <a:srgbClr val="0B2559"/>
                </a:solidFill>
                <a:latin typeface="Aptos"/>
                <a:ea typeface="Aptos"/>
                <a:cs typeface="Aptos"/>
              </a:rPr>
              <a:t>Hospital Integration</a:t>
            </a:r>
          </a:p>
        </p:txBody>
      </p:sp>
      <p:sp>
        <p:nvSpPr>
          <p:cNvPr id="25" name="Rectangle 24">
            <a:extLst>
              <a:ext uri="{FF2B5EF4-FFF2-40B4-BE49-F238E27FC236}">
                <a16:creationId xmlns:a16="http://schemas.microsoft.com/office/drawing/2014/main" id="{6EFF0C75-94B5-4AB9-AD38-51A1B9F9F3F3}"/>
              </a:ext>
            </a:extLst>
          </p:cNvPr>
          <p:cNvSpPr>
            <a:spLocks noGrp="1"/>
          </p:cNvSpPr>
          <p:nvPr/>
        </p:nvSpPr>
        <p:spPr>
          <a:xfrm>
            <a:off x="9481185" y="1952625"/>
            <a:ext cx="1901190" cy="66675"/>
          </a:xfrm>
          <a:prstGeom prst="rect">
            <a:avLst/>
          </a:prstGeom>
          <a:solidFill>
            <a:srgbClr val="10B981"/>
          </a:solidFill>
          <a:ln w="0">
            <a:solidFill>
              <a:srgbClr val="000000">
                <a:alpha val="0"/>
              </a:srgbClr>
            </a:solidFill>
            <a:prstDash val="solid"/>
          </a:ln>
        </p:spPr>
      </p:sp>
      <p:sp>
        <p:nvSpPr>
          <p:cNvPr id="26" name="Oval 25">
            <a:extLst>
              <a:ext uri="{FF2B5EF4-FFF2-40B4-BE49-F238E27FC236}">
                <a16:creationId xmlns:a16="http://schemas.microsoft.com/office/drawing/2014/main" id="{DE7CC266-8BD2-4060-874D-F786194B41C5}"/>
              </a:ext>
            </a:extLst>
          </p:cNvPr>
          <p:cNvSpPr>
            <a:spLocks noGrp="1"/>
          </p:cNvSpPr>
          <p:nvPr/>
        </p:nvSpPr>
        <p:spPr>
          <a:xfrm>
            <a:off x="1809750" y="3552825"/>
            <a:ext cx="133350" cy="133350"/>
          </a:xfrm>
          <a:prstGeom prst="ellipse">
            <a:avLst/>
          </a:prstGeom>
          <a:solidFill>
            <a:srgbClr val="10B981"/>
          </a:solidFill>
          <a:ln w="0">
            <a:solidFill>
              <a:srgbClr val="000000">
                <a:alpha val="0"/>
              </a:srgbClr>
            </a:solidFill>
            <a:prstDash val="solid"/>
          </a:ln>
        </p:spPr>
      </p:sp>
      <p:sp>
        <p:nvSpPr>
          <p:cNvPr id="27" name="Rectangle 26">
            <a:extLst>
              <a:ext uri="{FF2B5EF4-FFF2-40B4-BE49-F238E27FC236}">
                <a16:creationId xmlns:a16="http://schemas.microsoft.com/office/drawing/2014/main" id="{8084505F-1897-4BF6-B200-64DE7CDE0FDC}"/>
              </a:ext>
            </a:extLst>
          </p:cNvPr>
          <p:cNvSpPr>
            <a:spLocks noGrp="1"/>
          </p:cNvSpPr>
          <p:nvPr/>
        </p:nvSpPr>
        <p:spPr>
          <a:xfrm>
            <a:off x="2076450" y="3476625"/>
            <a:ext cx="7924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Wearable sensors for vitals</a:t>
            </a:r>
          </a:p>
        </p:txBody>
      </p:sp>
      <p:sp>
        <p:nvSpPr>
          <p:cNvPr id="28" name="Oval 27">
            <a:extLst>
              <a:ext uri="{FF2B5EF4-FFF2-40B4-BE49-F238E27FC236}">
                <a16:creationId xmlns:a16="http://schemas.microsoft.com/office/drawing/2014/main" id="{EF3F5FBB-92C8-4049-877F-361992100FBF}"/>
              </a:ext>
            </a:extLst>
          </p:cNvPr>
          <p:cNvSpPr>
            <a:spLocks noGrp="1"/>
          </p:cNvSpPr>
          <p:nvPr/>
        </p:nvSpPr>
        <p:spPr>
          <a:xfrm>
            <a:off x="1809750" y="3971925"/>
            <a:ext cx="133350" cy="133350"/>
          </a:xfrm>
          <a:prstGeom prst="ellipse">
            <a:avLst/>
          </a:prstGeom>
          <a:solidFill>
            <a:srgbClr val="10B981"/>
          </a:solidFill>
          <a:ln w="0">
            <a:solidFill>
              <a:srgbClr val="000000">
                <a:alpha val="0"/>
              </a:srgbClr>
            </a:solidFill>
            <a:prstDash val="solid"/>
          </a:ln>
        </p:spPr>
      </p:sp>
      <p:sp>
        <p:nvSpPr>
          <p:cNvPr id="29" name="Rectangle 28">
            <a:extLst>
              <a:ext uri="{FF2B5EF4-FFF2-40B4-BE49-F238E27FC236}">
                <a16:creationId xmlns:a16="http://schemas.microsoft.com/office/drawing/2014/main" id="{D1C4CB67-7516-4A28-9182-9030992DAED2}"/>
              </a:ext>
            </a:extLst>
          </p:cNvPr>
          <p:cNvSpPr>
            <a:spLocks noGrp="1"/>
          </p:cNvSpPr>
          <p:nvPr/>
        </p:nvSpPr>
        <p:spPr>
          <a:xfrm>
            <a:off x="2076450" y="3895725"/>
            <a:ext cx="7924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Continuous alerts for high-risk cases</a:t>
            </a:r>
          </a:p>
        </p:txBody>
      </p:sp>
      <p:sp>
        <p:nvSpPr>
          <p:cNvPr id="30" name="Oval 29">
            <a:extLst>
              <a:ext uri="{FF2B5EF4-FFF2-40B4-BE49-F238E27FC236}">
                <a16:creationId xmlns:a16="http://schemas.microsoft.com/office/drawing/2014/main" id="{7A3642B9-7530-4282-BCE8-75F0B75B6660}"/>
              </a:ext>
            </a:extLst>
          </p:cNvPr>
          <p:cNvSpPr>
            <a:spLocks noGrp="1"/>
          </p:cNvSpPr>
          <p:nvPr/>
        </p:nvSpPr>
        <p:spPr>
          <a:xfrm>
            <a:off x="1809750" y="4391025"/>
            <a:ext cx="133350" cy="133350"/>
          </a:xfrm>
          <a:prstGeom prst="ellipse">
            <a:avLst/>
          </a:prstGeom>
          <a:solidFill>
            <a:srgbClr val="10B981"/>
          </a:solidFill>
          <a:ln w="0">
            <a:solidFill>
              <a:srgbClr val="000000">
                <a:alpha val="0"/>
              </a:srgbClr>
            </a:solidFill>
            <a:prstDash val="solid"/>
          </a:ln>
        </p:spPr>
      </p:sp>
      <p:sp>
        <p:nvSpPr>
          <p:cNvPr id="31" name="Rectangle 30">
            <a:extLst>
              <a:ext uri="{FF2B5EF4-FFF2-40B4-BE49-F238E27FC236}">
                <a16:creationId xmlns:a16="http://schemas.microsoft.com/office/drawing/2014/main" id="{7DA06D4B-CD70-408E-9517-ACA96AB26950}"/>
              </a:ext>
            </a:extLst>
          </p:cNvPr>
          <p:cNvSpPr>
            <a:spLocks noGrp="1"/>
          </p:cNvSpPr>
          <p:nvPr/>
        </p:nvSpPr>
        <p:spPr>
          <a:xfrm>
            <a:off x="2076450" y="4314825"/>
            <a:ext cx="7924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Mobile access for doctors and patients</a:t>
            </a:r>
          </a:p>
        </p:txBody>
      </p:sp>
      <p:sp>
        <p:nvSpPr>
          <p:cNvPr id="32" name="Oval 31">
            <a:extLst>
              <a:ext uri="{FF2B5EF4-FFF2-40B4-BE49-F238E27FC236}">
                <a16:creationId xmlns:a16="http://schemas.microsoft.com/office/drawing/2014/main" id="{02AF1A08-7FCC-489F-8C84-DBED2D72CF4D}"/>
              </a:ext>
            </a:extLst>
          </p:cNvPr>
          <p:cNvSpPr>
            <a:spLocks noGrp="1"/>
          </p:cNvSpPr>
          <p:nvPr/>
        </p:nvSpPr>
        <p:spPr>
          <a:xfrm>
            <a:off x="1809750" y="4810125"/>
            <a:ext cx="133350" cy="133350"/>
          </a:xfrm>
          <a:prstGeom prst="ellipse">
            <a:avLst/>
          </a:prstGeom>
          <a:solidFill>
            <a:srgbClr val="10B981"/>
          </a:solidFill>
          <a:ln w="0">
            <a:solidFill>
              <a:srgbClr val="000000">
                <a:alpha val="0"/>
              </a:srgbClr>
            </a:solidFill>
            <a:prstDash val="solid"/>
          </a:ln>
        </p:spPr>
      </p:sp>
      <p:sp>
        <p:nvSpPr>
          <p:cNvPr id="33" name="Rectangle 32">
            <a:extLst>
              <a:ext uri="{FF2B5EF4-FFF2-40B4-BE49-F238E27FC236}">
                <a16:creationId xmlns:a16="http://schemas.microsoft.com/office/drawing/2014/main" id="{B2FBC2DD-6BE7-4042-BFC2-0D451BBCC500}"/>
              </a:ext>
            </a:extLst>
          </p:cNvPr>
          <p:cNvSpPr>
            <a:spLocks noGrp="1"/>
          </p:cNvSpPr>
          <p:nvPr/>
        </p:nvSpPr>
        <p:spPr>
          <a:xfrm>
            <a:off x="2076450" y="4733925"/>
            <a:ext cx="7924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Personalized recommendations</a:t>
            </a:r>
          </a:p>
        </p:txBody>
      </p:sp>
      <p:sp>
        <p:nvSpPr>
          <p:cNvPr id="34" name="Oval 33">
            <a:extLst>
              <a:ext uri="{FF2B5EF4-FFF2-40B4-BE49-F238E27FC236}">
                <a16:creationId xmlns:a16="http://schemas.microsoft.com/office/drawing/2014/main" id="{EAE43936-96E4-4B12-A452-A8F8527B6F99}"/>
              </a:ext>
            </a:extLst>
          </p:cNvPr>
          <p:cNvSpPr>
            <a:spLocks noGrp="1"/>
          </p:cNvSpPr>
          <p:nvPr/>
        </p:nvSpPr>
        <p:spPr>
          <a:xfrm>
            <a:off x="1809750" y="5229225"/>
            <a:ext cx="133350" cy="133350"/>
          </a:xfrm>
          <a:prstGeom prst="ellipse">
            <a:avLst/>
          </a:prstGeom>
          <a:solidFill>
            <a:srgbClr val="10B981"/>
          </a:solidFill>
          <a:ln w="0">
            <a:solidFill>
              <a:srgbClr val="000000">
                <a:alpha val="0"/>
              </a:srgbClr>
            </a:solidFill>
            <a:prstDash val="solid"/>
          </a:ln>
        </p:spPr>
      </p:sp>
      <p:sp>
        <p:nvSpPr>
          <p:cNvPr id="35" name="Rectangle 34">
            <a:extLst>
              <a:ext uri="{FF2B5EF4-FFF2-40B4-BE49-F238E27FC236}">
                <a16:creationId xmlns:a16="http://schemas.microsoft.com/office/drawing/2014/main" id="{7886203B-D4FD-4ED7-84B0-1898D82397D7}"/>
              </a:ext>
            </a:extLst>
          </p:cNvPr>
          <p:cNvSpPr>
            <a:spLocks noGrp="1"/>
          </p:cNvSpPr>
          <p:nvPr/>
        </p:nvSpPr>
        <p:spPr>
          <a:xfrm>
            <a:off x="2076450" y="5153025"/>
            <a:ext cx="7924800" cy="381000"/>
          </a:xfrm>
          <a:prstGeom prst="rect">
            <a:avLst/>
          </a:prstGeom>
          <a:solidFill>
            <a:srgbClr val="000000">
              <a:alpha val="0"/>
            </a:srgbClr>
          </a:solidFill>
          <a:ln w="0">
            <a:solidFill>
              <a:srgbClr val="000000">
                <a:alpha val="0"/>
              </a:srgbClr>
            </a:solidFill>
            <a:prstDash val="solid"/>
          </a:ln>
        </p:spPr>
        <p:txBody>
          <a:bodyPr/>
          <a:lstStyle/>
          <a:p>
            <a:pPr algn="l">
              <a:defRPr sz="1650" b="0">
                <a:solidFill>
                  <a:srgbClr val="102033"/>
                </a:solidFill>
                <a:latin typeface="Aptos"/>
                <a:ea typeface="Aptos"/>
                <a:cs typeface="Aptos"/>
              </a:defRPr>
            </a:pPr>
            <a:r>
              <a:rPr sz="1650" b="0">
                <a:solidFill>
                  <a:srgbClr val="102033"/>
                </a:solidFill>
                <a:latin typeface="Aptos"/>
                <a:ea typeface="Aptos"/>
                <a:cs typeface="Aptos"/>
              </a:rPr>
              <a:t>Integration with hospital management systems</a:t>
            </a:r>
          </a:p>
        </p:txBody>
      </p:sp>
    </p:spTree>
    <p:extLst>
      <p:ext uri="{BB962C8B-B14F-4D97-AF65-F5344CB8AC3E}">
        <p14:creationId xmlns:p14="http://schemas.microsoft.com/office/powerpoint/2010/main" val="753310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C93D57B-3B39-49A9-85AC-857F8ADF2946}"/>
              </a:ext>
            </a:extLst>
          </p:cNvPr>
          <p:cNvSpPr>
            <a:spLocks noGrp="1"/>
          </p:cNvSpPr>
          <p:nvPr/>
        </p:nvSpPr>
        <p:spPr>
          <a:xfrm>
            <a:off x="0" y="0"/>
            <a:ext cx="12192000" cy="114300"/>
          </a:xfrm>
          <a:prstGeom prst="rect">
            <a:avLst/>
          </a:prstGeom>
          <a:solidFill>
            <a:srgbClr val="0B6EFD"/>
          </a:solidFill>
          <a:ln w="0">
            <a:solidFill>
              <a:srgbClr val="000000">
                <a:alpha val="0"/>
              </a:srgbClr>
            </a:solidFill>
            <a:prstDash val="solid"/>
          </a:ln>
        </p:spPr>
      </p:sp>
      <p:sp>
        <p:nvSpPr>
          <p:cNvPr id="2" name="Rectangle 1">
            <a:extLst>
              <a:ext uri="{FF2B5EF4-FFF2-40B4-BE49-F238E27FC236}">
                <a16:creationId xmlns:a16="http://schemas.microsoft.com/office/drawing/2014/main" id="{D9C004D4-44D2-4E24-9979-51B51343A39F}"/>
              </a:ext>
            </a:extLst>
          </p:cNvPr>
          <p:cNvSpPr>
            <a:spLocks noGrp="1"/>
          </p:cNvSpPr>
          <p:nvPr/>
        </p:nvSpPr>
        <p:spPr>
          <a:xfrm>
            <a:off x="0" y="6496050"/>
            <a:ext cx="12192000" cy="361950"/>
          </a:xfrm>
          <a:prstGeom prst="rect">
            <a:avLst/>
          </a:prstGeom>
          <a:solidFill>
            <a:srgbClr val="0B2559"/>
          </a:solidFill>
          <a:ln w="0">
            <a:solidFill>
              <a:srgbClr val="000000">
                <a:alpha val="0"/>
              </a:srgbClr>
            </a:solidFill>
            <a:prstDash val="solid"/>
          </a:ln>
        </p:spPr>
      </p:sp>
      <p:sp>
        <p:nvSpPr>
          <p:cNvPr id="4" name="Rectangle 3">
            <a:extLst>
              <a:ext uri="{FF2B5EF4-FFF2-40B4-BE49-F238E27FC236}">
                <a16:creationId xmlns:a16="http://schemas.microsoft.com/office/drawing/2014/main" id="{7C1961CC-B04A-4A51-9533-500A0C522CBE}"/>
              </a:ext>
            </a:extLst>
          </p:cNvPr>
          <p:cNvSpPr>
            <a:spLocks noGrp="1"/>
          </p:cNvSpPr>
          <p:nvPr/>
        </p:nvSpPr>
        <p:spPr>
          <a:xfrm>
            <a:off x="11277600" y="6562725"/>
            <a:ext cx="457200" cy="190500"/>
          </a:xfrm>
          <a:prstGeom prst="rect">
            <a:avLst/>
          </a:prstGeom>
          <a:solidFill>
            <a:srgbClr val="000000">
              <a:alpha val="0"/>
            </a:srgbClr>
          </a:solidFill>
          <a:ln w="0">
            <a:solidFill>
              <a:srgbClr val="000000">
                <a:alpha val="0"/>
              </a:srgbClr>
            </a:solidFill>
            <a:prstDash val="solid"/>
          </a:ln>
        </p:spPr>
        <p:txBody>
          <a:bodyPr/>
          <a:lstStyle/>
          <a:p>
            <a:pPr algn="r">
              <a:defRPr sz="900" b="1">
                <a:solidFill>
                  <a:srgbClr val="FFFFFF"/>
                </a:solidFill>
                <a:latin typeface="Aptos"/>
                <a:ea typeface="Aptos"/>
                <a:cs typeface="Aptos"/>
              </a:defRPr>
            </a:pPr>
            <a:r>
              <a:rPr sz="900" b="1">
                <a:solidFill>
                  <a:srgbClr val="FFFFFF"/>
                </a:solidFill>
                <a:latin typeface="Aptos"/>
                <a:ea typeface="Aptos"/>
                <a:cs typeface="Aptos"/>
              </a:rPr>
              <a:t>23</a:t>
            </a:r>
          </a:p>
        </p:txBody>
      </p:sp>
      <p:sp>
        <p:nvSpPr>
          <p:cNvPr id="5" name="Rectangle 4">
            <a:extLst>
              <a:ext uri="{FF2B5EF4-FFF2-40B4-BE49-F238E27FC236}">
                <a16:creationId xmlns:a16="http://schemas.microsoft.com/office/drawing/2014/main" id="{52E21407-9A9A-4EFB-B616-E95B0588D61C}"/>
              </a:ext>
            </a:extLst>
          </p:cNvPr>
          <p:cNvSpPr>
            <a:spLocks noGrp="1"/>
          </p:cNvSpPr>
          <p:nvPr/>
        </p:nvSpPr>
        <p:spPr>
          <a:xfrm>
            <a:off x="552450" y="400050"/>
            <a:ext cx="8572500" cy="495300"/>
          </a:xfrm>
          <a:prstGeom prst="rect">
            <a:avLst/>
          </a:prstGeom>
          <a:solidFill>
            <a:srgbClr val="000000">
              <a:alpha val="0"/>
            </a:srgbClr>
          </a:solidFill>
          <a:ln w="0">
            <a:solidFill>
              <a:srgbClr val="000000">
                <a:alpha val="0"/>
              </a:srgbClr>
            </a:solidFill>
            <a:prstDash val="solid"/>
          </a:ln>
        </p:spPr>
        <p:txBody>
          <a:bodyPr/>
          <a:lstStyle/>
          <a:p>
            <a:pPr algn="l">
              <a:defRPr sz="2700" b="1">
                <a:solidFill>
                  <a:srgbClr val="0B2559"/>
                </a:solidFill>
                <a:latin typeface="Aptos Display"/>
                <a:ea typeface="Aptos Display"/>
                <a:cs typeface="Aptos Display"/>
              </a:defRPr>
            </a:pPr>
            <a:r>
              <a:rPr sz="2700" b="1">
                <a:solidFill>
                  <a:srgbClr val="0B2559"/>
                </a:solidFill>
                <a:latin typeface="Aptos Display"/>
                <a:ea typeface="Aptos Display"/>
                <a:cs typeface="Aptos Display"/>
              </a:rPr>
              <a:t>Conclusion</a:t>
            </a:r>
          </a:p>
        </p:txBody>
      </p:sp>
      <p:sp>
        <p:nvSpPr>
          <p:cNvPr id="6" name="Straight Connector 5">
            <a:extLst>
              <a:ext uri="{FF2B5EF4-FFF2-40B4-BE49-F238E27FC236}">
                <a16:creationId xmlns:a16="http://schemas.microsoft.com/office/drawing/2014/main" id="{526864BE-425F-4853-BFA1-E073A321AE1E}"/>
              </a:ext>
            </a:extLst>
          </p:cNvPr>
          <p:cNvSpPr>
            <a:spLocks noGrp="1"/>
          </p:cNvSpPr>
          <p:nvPr/>
        </p:nvSpPr>
        <p:spPr>
          <a:xfrm flipV="1">
            <a:off x="552450" y="981075"/>
            <a:ext cx="1876118" cy="9525"/>
          </a:xfrm>
          <a:prstGeom prst="line">
            <a:avLst/>
          </a:prstGeom>
          <a:solidFill>
            <a:srgbClr val="000000">
              <a:alpha val="0"/>
            </a:srgbClr>
          </a:solidFill>
          <a:ln w="28575">
            <a:solidFill>
              <a:srgbClr val="2CB7D5"/>
            </a:solidFill>
            <a:prstDash val="solid"/>
          </a:ln>
        </p:spPr>
      </p:sp>
      <p:sp>
        <p:nvSpPr>
          <p:cNvPr id="7" name="Rectangle: Rounded Corners 6">
            <a:extLst>
              <a:ext uri="{FF2B5EF4-FFF2-40B4-BE49-F238E27FC236}">
                <a16:creationId xmlns:a16="http://schemas.microsoft.com/office/drawing/2014/main" id="{DE70D853-BEFD-4167-8E86-766E90CA3CE1}"/>
              </a:ext>
            </a:extLst>
          </p:cNvPr>
          <p:cNvSpPr>
            <a:spLocks noGrp="1"/>
          </p:cNvSpPr>
          <p:nvPr/>
        </p:nvSpPr>
        <p:spPr>
          <a:xfrm>
            <a:off x="1143000" y="1762125"/>
            <a:ext cx="9906000" cy="2476500"/>
          </a:xfrm>
          <a:prstGeom prst="roundRect">
            <a:avLst>
              <a:gd name="adj" fmla="val 3077"/>
            </a:avLst>
          </a:prstGeom>
          <a:solidFill>
            <a:srgbClr val="FFFFFF"/>
          </a:solidFill>
          <a:ln w="9525">
            <a:solidFill>
              <a:srgbClr val="D8E8F4"/>
            </a:solidFill>
            <a:prstDash val="solid"/>
          </a:ln>
        </p:spPr>
      </p:sp>
      <p:sp>
        <p:nvSpPr>
          <p:cNvPr id="8" name="Rectangle 7">
            <a:extLst>
              <a:ext uri="{FF2B5EF4-FFF2-40B4-BE49-F238E27FC236}">
                <a16:creationId xmlns:a16="http://schemas.microsoft.com/office/drawing/2014/main" id="{B5290589-5109-41C0-9037-B8AC408AFAC1}"/>
              </a:ext>
            </a:extLst>
          </p:cNvPr>
          <p:cNvSpPr>
            <a:spLocks noGrp="1"/>
          </p:cNvSpPr>
          <p:nvPr/>
        </p:nvSpPr>
        <p:spPr>
          <a:xfrm>
            <a:off x="1571625" y="2143125"/>
            <a:ext cx="9048750" cy="1028700"/>
          </a:xfrm>
          <a:prstGeom prst="rect">
            <a:avLst/>
          </a:prstGeom>
          <a:solidFill>
            <a:srgbClr val="000000">
              <a:alpha val="0"/>
            </a:srgbClr>
          </a:solidFill>
          <a:ln w="0">
            <a:solidFill>
              <a:srgbClr val="000000">
                <a:alpha val="0"/>
              </a:srgbClr>
            </a:solidFill>
            <a:prstDash val="solid"/>
          </a:ln>
        </p:spPr>
        <p:txBody>
          <a:bodyPr/>
          <a:lstStyle/>
          <a:p>
            <a:pPr algn="ctr">
              <a:defRPr sz="2550" b="1">
                <a:solidFill>
                  <a:srgbClr val="0B2559"/>
                </a:solidFill>
                <a:latin typeface="Aptos"/>
                <a:ea typeface="Aptos"/>
                <a:cs typeface="Aptos"/>
              </a:defRPr>
            </a:pPr>
            <a:r>
              <a:rPr sz="2550" b="1">
                <a:solidFill>
                  <a:srgbClr val="0B2559"/>
                </a:solidFill>
                <a:latin typeface="Aptos"/>
                <a:ea typeface="Aptos"/>
                <a:cs typeface="Aptos"/>
              </a:rPr>
              <a:t>HeartGuard successfully predicts heart failure readmission risk using Machine Learning and assists healthcare professionals in preventive patient care.</a:t>
            </a:r>
          </a:p>
        </p:txBody>
      </p:sp>
      <p:sp>
        <p:nvSpPr>
          <p:cNvPr id="9" name="Rectangle 8">
            <a:extLst>
              <a:ext uri="{FF2B5EF4-FFF2-40B4-BE49-F238E27FC236}">
                <a16:creationId xmlns:a16="http://schemas.microsoft.com/office/drawing/2014/main" id="{435926B4-0FEA-475E-8AB1-64992B6B768A}"/>
              </a:ext>
            </a:extLst>
          </p:cNvPr>
          <p:cNvSpPr>
            <a:spLocks noGrp="1"/>
          </p:cNvSpPr>
          <p:nvPr/>
        </p:nvSpPr>
        <p:spPr>
          <a:xfrm>
            <a:off x="1809750" y="3619500"/>
            <a:ext cx="8572500" cy="476250"/>
          </a:xfrm>
          <a:prstGeom prst="rect">
            <a:avLst/>
          </a:prstGeom>
          <a:solidFill>
            <a:srgbClr val="000000">
              <a:alpha val="0"/>
            </a:srgbClr>
          </a:solidFill>
          <a:ln w="0">
            <a:solidFill>
              <a:srgbClr val="000000">
                <a:alpha val="0"/>
              </a:srgbClr>
            </a:solidFill>
            <a:prstDash val="solid"/>
          </a:ln>
        </p:spPr>
        <p:txBody>
          <a:bodyPr/>
          <a:lstStyle/>
          <a:p>
            <a:pPr algn="ctr">
              <a:defRPr sz="1650" b="0">
                <a:solidFill>
                  <a:srgbClr val="5B6B7A"/>
                </a:solidFill>
                <a:latin typeface="Aptos"/>
                <a:ea typeface="Aptos"/>
                <a:cs typeface="Aptos"/>
              </a:defRPr>
            </a:pPr>
            <a:r>
              <a:rPr sz="1650" b="0">
                <a:solidFill>
                  <a:srgbClr val="5B6B7A"/>
                </a:solidFill>
                <a:latin typeface="Aptos"/>
                <a:ea typeface="Aptos"/>
                <a:cs typeface="Aptos"/>
              </a:rPr>
              <a:t>The project demonstrates a complete pipeline: patient data -&gt; preprocessing -&gt; XGBoost model -&gt; prediction dashboard -&gt; preventive recommendations.</a:t>
            </a:r>
          </a:p>
        </p:txBody>
      </p:sp>
    </p:spTree>
    <p:extLst>
      <p:ext uri="{BB962C8B-B14F-4D97-AF65-F5344CB8AC3E}">
        <p14:creationId xmlns:p14="http://schemas.microsoft.com/office/powerpoint/2010/main" val="1736767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7FF"/>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44B3A38-FEF0-485D-B117-5FDED7A961D3}"/>
              </a:ext>
            </a:extLst>
          </p:cNvPr>
          <p:cNvSpPr>
            <a:spLocks noGrp="1"/>
          </p:cNvSpPr>
          <p:nvPr/>
        </p:nvSpPr>
        <p:spPr>
          <a:xfrm>
            <a:off x="-1143000" y="-1143000"/>
            <a:ext cx="3429000" cy="3429000"/>
          </a:xfrm>
          <a:prstGeom prst="ellipse">
            <a:avLst/>
          </a:prstGeom>
          <a:solidFill>
            <a:srgbClr val="DDF3FF"/>
          </a:solidFill>
          <a:ln w="0">
            <a:solidFill>
              <a:srgbClr val="000000">
                <a:alpha val="0"/>
              </a:srgbClr>
            </a:solidFill>
            <a:prstDash val="solid"/>
          </a:ln>
        </p:spPr>
      </p:sp>
      <p:sp>
        <p:nvSpPr>
          <p:cNvPr id="2" name="Oval 1">
            <a:extLst>
              <a:ext uri="{FF2B5EF4-FFF2-40B4-BE49-F238E27FC236}">
                <a16:creationId xmlns:a16="http://schemas.microsoft.com/office/drawing/2014/main" id="{A9C21B25-D368-4DBA-9F13-49E4247A1D42}"/>
              </a:ext>
            </a:extLst>
          </p:cNvPr>
          <p:cNvSpPr>
            <a:spLocks noGrp="1"/>
          </p:cNvSpPr>
          <p:nvPr/>
        </p:nvSpPr>
        <p:spPr>
          <a:xfrm>
            <a:off x="9429750" y="4286250"/>
            <a:ext cx="3429000" cy="3429000"/>
          </a:xfrm>
          <a:prstGeom prst="ellipse">
            <a:avLst/>
          </a:prstGeom>
          <a:solidFill>
            <a:srgbClr val="D7F7EF"/>
          </a:solidFill>
          <a:ln w="0">
            <a:solidFill>
              <a:srgbClr val="000000">
                <a:alpha val="0"/>
              </a:srgbClr>
            </a:solidFill>
            <a:prstDash val="solid"/>
          </a:ln>
        </p:spPr>
      </p:sp>
      <p:pic>
        <p:nvPicPr>
          <p:cNvPr id="9" name="Graphic 8"/>
          <p:cNvPicPr>
            <a:picLocks noChangeAspect="1"/>
          </p:cNvPicPr>
          <p:nvPr/>
        </p:nvPicPr>
        <p:blipFill>
          <a:blip>
            <a:extLst>
              <a:ext uri="{96DAC541-7B7A-43D3-8B79-37D633B846F1}">
                <asvg:svgBlip xmlns:asvg="http://schemas.microsoft.com/office/drawing/2016/SVG/main" r:embed="rId3"/>
              </a:ext>
            </a:extLst>
          </a:blip>
          <a:stretch/>
        </p:blipFill>
        <p:spPr>
          <a:xfrm>
            <a:off x="5314950" y="1428750"/>
            <a:ext cx="1143000" cy="1143000"/>
          </a:xfrm>
          <a:prstGeom prst="rect">
            <a:avLst/>
          </a:prstGeom>
        </p:spPr>
      </p:pic>
      <p:sp>
        <p:nvSpPr>
          <p:cNvPr id="4" name="Rectangle 3">
            <a:extLst>
              <a:ext uri="{FF2B5EF4-FFF2-40B4-BE49-F238E27FC236}">
                <a16:creationId xmlns:a16="http://schemas.microsoft.com/office/drawing/2014/main" id="{C520F84D-1A39-4755-8375-03D3AF6BF551}"/>
              </a:ext>
            </a:extLst>
          </p:cNvPr>
          <p:cNvSpPr>
            <a:spLocks noGrp="1"/>
          </p:cNvSpPr>
          <p:nvPr/>
        </p:nvSpPr>
        <p:spPr>
          <a:xfrm>
            <a:off x="3143250" y="2857500"/>
            <a:ext cx="5905500" cy="647700"/>
          </a:xfrm>
          <a:prstGeom prst="rect">
            <a:avLst/>
          </a:prstGeom>
          <a:solidFill>
            <a:srgbClr val="000000">
              <a:alpha val="0"/>
            </a:srgbClr>
          </a:solidFill>
          <a:ln w="0">
            <a:solidFill>
              <a:srgbClr val="000000">
                <a:alpha val="0"/>
              </a:srgbClr>
            </a:solidFill>
            <a:prstDash val="solid"/>
          </a:ln>
        </p:spPr>
        <p:txBody>
          <a:bodyPr/>
          <a:lstStyle/>
          <a:p>
            <a:pPr algn="ctr">
              <a:defRPr sz="4500" b="1">
                <a:solidFill>
                  <a:srgbClr val="0B2559"/>
                </a:solidFill>
                <a:latin typeface="Aptos Display"/>
                <a:ea typeface="Aptos Display"/>
                <a:cs typeface="Aptos Display"/>
              </a:defRPr>
            </a:pPr>
            <a:r>
              <a:rPr sz="4500" b="1">
                <a:solidFill>
                  <a:srgbClr val="0B2559"/>
                </a:solidFill>
                <a:latin typeface="Aptos Display"/>
                <a:ea typeface="Aptos Display"/>
                <a:cs typeface="Aptos Display"/>
              </a:rPr>
              <a:t>Thank You</a:t>
            </a:r>
          </a:p>
        </p:txBody>
      </p:sp>
      <p:sp>
        <p:nvSpPr>
          <p:cNvPr id="5" name="Rectangle 4">
            <a:extLst>
              <a:ext uri="{FF2B5EF4-FFF2-40B4-BE49-F238E27FC236}">
                <a16:creationId xmlns:a16="http://schemas.microsoft.com/office/drawing/2014/main" id="{EF606086-5618-4F06-9BCE-676148543000}"/>
              </a:ext>
            </a:extLst>
          </p:cNvPr>
          <p:cNvSpPr>
            <a:spLocks noGrp="1"/>
          </p:cNvSpPr>
          <p:nvPr/>
        </p:nvSpPr>
        <p:spPr>
          <a:xfrm>
            <a:off x="3714750" y="3657600"/>
            <a:ext cx="4762500" cy="381000"/>
          </a:xfrm>
          <a:prstGeom prst="rect">
            <a:avLst/>
          </a:prstGeom>
          <a:solidFill>
            <a:srgbClr val="000000">
              <a:alpha val="0"/>
            </a:srgbClr>
          </a:solidFill>
          <a:ln w="0">
            <a:solidFill>
              <a:srgbClr val="000000">
                <a:alpha val="0"/>
              </a:srgbClr>
            </a:solidFill>
            <a:prstDash val="solid"/>
          </a:ln>
        </p:spPr>
        <p:txBody>
          <a:bodyPr/>
          <a:lstStyle/>
          <a:p>
            <a:pPr algn="ctr">
              <a:defRPr sz="2250" b="1">
                <a:solidFill>
                  <a:srgbClr val="0B6EFD"/>
                </a:solidFill>
                <a:latin typeface="Aptos"/>
                <a:ea typeface="Aptos"/>
                <a:cs typeface="Aptos"/>
              </a:defRPr>
            </a:pPr>
            <a:r>
              <a:rPr sz="2250" b="1">
                <a:solidFill>
                  <a:srgbClr val="0B6EFD"/>
                </a:solidFill>
                <a:latin typeface="Aptos"/>
                <a:ea typeface="Aptos"/>
                <a:cs typeface="Aptos"/>
              </a:rPr>
              <a:t>Questions &amp; Answers</a:t>
            </a:r>
          </a:p>
        </p:txBody>
      </p:sp>
      <p:sp>
        <p:nvSpPr>
          <p:cNvPr id="6" name="Rectangle 5">
            <a:extLst>
              <a:ext uri="{FF2B5EF4-FFF2-40B4-BE49-F238E27FC236}">
                <a16:creationId xmlns:a16="http://schemas.microsoft.com/office/drawing/2014/main" id="{8854578D-55FD-4A79-B6BF-81CE7296EFE9}"/>
              </a:ext>
            </a:extLst>
          </p:cNvPr>
          <p:cNvSpPr>
            <a:spLocks noGrp="1"/>
          </p:cNvSpPr>
          <p:nvPr/>
        </p:nvSpPr>
        <p:spPr>
          <a:xfrm>
            <a:off x="3143250" y="5219700"/>
            <a:ext cx="5905500" cy="228600"/>
          </a:xfrm>
          <a:prstGeom prst="rect">
            <a:avLst/>
          </a:prstGeom>
          <a:solidFill>
            <a:srgbClr val="000000">
              <a:alpha val="0"/>
            </a:srgbClr>
          </a:solidFill>
          <a:ln w="0">
            <a:solidFill>
              <a:srgbClr val="000000">
                <a:alpha val="0"/>
              </a:srgbClr>
            </a:solidFill>
            <a:prstDash val="solid"/>
          </a:ln>
        </p:spPr>
        <p:txBody>
          <a:bodyPr/>
          <a:lstStyle/>
          <a:p>
            <a:pPr algn="ctr">
              <a:defRPr sz="1275" b="0">
                <a:solidFill>
                  <a:srgbClr val="5B6B7A"/>
                </a:solidFill>
                <a:latin typeface="Aptos"/>
                <a:ea typeface="Aptos"/>
                <a:cs typeface="Aptos"/>
              </a:defRPr>
            </a:pPr>
            <a:r>
              <a:rPr sz="1275" b="0">
                <a:solidFill>
                  <a:srgbClr val="5B6B7A"/>
                </a:solidFill>
                <a:latin typeface="Aptos"/>
                <a:ea typeface="Aptos"/>
                <a:cs typeface="Aptos"/>
              </a:rPr>
              <a:t>HEARTGUARD | Final Year B.E. Computer Engineering Project</a:t>
            </a:r>
          </a:p>
        </p:txBody>
      </p:sp>
    </p:spTree>
    <p:extLst>
      <p:ext uri="{BB962C8B-B14F-4D97-AF65-F5344CB8AC3E}">
        <p14:creationId xmlns:p14="http://schemas.microsoft.com/office/powerpoint/2010/main" val="8140380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1970</Words>
  <Application>Microsoft Office PowerPoint</Application>
  <DocSecurity>0</DocSecurity>
  <PresentationFormat>Widescreen</PresentationFormat>
  <Paragraphs>315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HARSH BANDAL</cp:lastModifiedBy>
  <cp:revision>1</cp:revision>
  <dcterms:created xsi:type="dcterms:W3CDTF">2026-06-24T11:05:48Z</dcterms:created>
  <dcterms:modified xsi:type="dcterms:W3CDTF">2026-06-24T12:12:24Z</dcterms:modified>
</cp:coreProperties>
</file>